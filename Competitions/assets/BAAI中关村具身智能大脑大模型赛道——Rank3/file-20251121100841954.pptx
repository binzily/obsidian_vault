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3"/>
  </p:sldMasterIdLst>
  <p:notesMasterIdLst>
    <p:notesMasterId r:id="rId5"/>
  </p:notesMasterIdLst>
  <p:sldIdLst>
    <p:sldId id="269" r:id="rId4"/>
    <p:sldId id="282" r:id="rId6"/>
    <p:sldId id="271" r:id="rId7"/>
    <p:sldId id="298" r:id="rId8"/>
    <p:sldId id="326" r:id="rId9"/>
    <p:sldId id="299" r:id="rId10"/>
    <p:sldId id="330" r:id="rId11"/>
    <p:sldId id="301" r:id="rId12"/>
    <p:sldId id="304" r:id="rId13"/>
    <p:sldId id="325" r:id="rId14"/>
    <p:sldId id="305" r:id="rId15"/>
    <p:sldId id="306" r:id="rId16"/>
    <p:sldId id="329" r:id="rId17"/>
    <p:sldId id="328" r:id="rId18"/>
    <p:sldId id="316" r:id="rId19"/>
    <p:sldId id="315" r:id="rId20"/>
    <p:sldId id="317" r:id="rId21"/>
    <p:sldId id="320" r:id="rId22"/>
    <p:sldId id="322" r:id="rId23"/>
    <p:sldId id="323" r:id="rId24"/>
    <p:sldId id="295" r:id="rId25"/>
  </p:sldIdLst>
  <p:sldSz cx="12192000" cy="6858000"/>
  <p:notesSz cx="6857365" cy="9143365"/>
  <p:custDataLst>
    <p:tags r:id="rId30"/>
  </p:custDataLst>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1pPr>
    <a:lvl2pPr marL="4572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2pPr>
    <a:lvl3pPr marL="9144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3pPr>
    <a:lvl4pPr marL="13716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4pPr>
    <a:lvl5pPr marL="18288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5pPr>
    <a:lvl6pPr marL="22860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6pPr>
    <a:lvl7pPr marL="27432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7pPr>
    <a:lvl8pPr marL="32004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8pPr>
    <a:lvl9pPr marL="3200400" indent="0" algn="l" defTabSz="914400" eaLnBrk="1" fontAlgn="auto" latinLnBrk="0" hangingPunct="1">
      <a:buNone/>
      <a:defRPr sz="1800" kern="1200">
        <a:solidFill>
          <a:schemeClr val="tx1"/>
        </a:solidFill>
        <a:latin typeface="Droid Sans" charset="0"/>
        <a:ea typeface="宋体" panose="02010600030101010101" pitchFamily="2" charset="-122"/>
        <a:cs typeface="Droid Sans"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ke" initials="y" lastIdx="1" clrIdx="0"/>
  <p:cmAuthor id="2" name="DELL" initials="D"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0000"/>
    <a:srgbClr val="0C4DA2"/>
    <a:srgbClr val="F4F9FE"/>
    <a:srgbClr val="F3F8FE"/>
    <a:srgbClr val="1352A5"/>
    <a:srgbClr val="EBF0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504C51-2975-4DB7-A513-51D8508100D4}"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 styleId="{90E733CF-E976-43CE-B089-666B17E008E8}"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 styleId="{2F69104E-36CB-4717-8124-222E447F26A9}"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9500" autoAdjust="0"/>
  </p:normalViewPr>
  <p:slideViewPr>
    <p:cSldViewPr snapToGrid="0">
      <p:cViewPr varScale="1">
        <p:scale>
          <a:sx n="187" d="100"/>
          <a:sy n="187" d="100"/>
        </p:scale>
        <p:origin x="0" y="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149.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9" name="文本框"/>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lstStyle/>
          <a:p>
            <a:pPr algn="l"/>
            <a:endParaRPr lang="zh-CN" altLang="en-US" sz="1200">
              <a:latin typeface="Calibri" panose="020F0502020204030204" charset="0"/>
              <a:ea typeface="宋体" panose="02010600030101010101" pitchFamily="2" charset="-122"/>
              <a:cs typeface="Calibri" panose="020F0502020204030204" charset="0"/>
            </a:endParaRPr>
          </a:p>
        </p:txBody>
      </p:sp>
      <p:sp>
        <p:nvSpPr>
          <p:cNvPr id="10" name="文本框"/>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lstStyle/>
          <a:p>
            <a:pPr algn="r"/>
            <a:fld id="{CAD2D6BD-DE1B-4B5F-8B41-2702339687B9}" type="datetime1">
              <a:rPr lang="zh-CN" altLang="en-US" sz="1200">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11" name="对象"/>
          <p:cNvSpPr>
            <a:spLocks noGrp="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12" name="文本框"/>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13" name="文本框"/>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lstStyle/>
          <a:p>
            <a:pPr algn="l"/>
            <a:endParaRPr lang="zh-CN" altLang="en-US" sz="1200">
              <a:latin typeface="Calibri" panose="020F0502020204030204" charset="0"/>
              <a:ea typeface="宋体" panose="02010600030101010101" pitchFamily="2" charset="-122"/>
              <a:cs typeface="Calibri" panose="020F0502020204030204" charset="0"/>
            </a:endParaRPr>
          </a:p>
        </p:txBody>
      </p:sp>
    </p:spTree>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18" name="对象"/>
          <p:cNvSpPr>
            <a:spLocks noGrp="1"/>
          </p:cNvSpPr>
          <p:nvPr>
            <p:ph type="sldImg"/>
          </p:nvPr>
        </p:nvSpPr>
        <p:spPr>
          <a:xfrm>
            <a:off x="685800" y="1143000"/>
            <a:ext cx="5486400" cy="3086100"/>
          </a:xfrm>
          <a:prstGeom prst="rect">
            <a:avLst/>
          </a:prstGeom>
          <a:noFill/>
          <a:ln w="12700" cap="flat" cmpd="sng">
            <a:noFill/>
            <a:prstDash val="solid"/>
            <a:miter/>
          </a:ln>
        </p:spPr>
      </p:sp>
      <p:sp>
        <p:nvSpPr>
          <p:cNvPr id="1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
        <p:nvSpPr>
          <p:cNvPr id="2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a:t>
            </a:r>
            <a:r>
              <a:rPr lang="en-US" altLang="zh-CN" dirty="0"/>
              <a:t>xxx</a:t>
            </a:r>
            <a:r>
              <a:rPr lang="zh-CN" altLang="en-US" dirty="0"/>
              <a:t>几个方面描述我的选题内容</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48" name="对象"/>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4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pPr marL="0" indent="0" algn="l" eaLnBrk="1" fontAlgn="auto" latinLnBrk="0" hangingPunct="1">
              <a:lnSpc>
                <a:spcPct val="100000"/>
              </a:lnSpc>
              <a:spcBef>
                <a:spcPts val="0"/>
              </a:spcBef>
              <a:spcAft>
                <a:spcPts val="0"/>
              </a:spcAft>
            </a:pPr>
            <a:endParaRPr lang="en-US" altLang="zh-CN" sz="800"/>
          </a:p>
          <a:p>
            <a:pPr marL="0" indent="0" algn="l" eaLnBrk="1" fontAlgn="auto" latinLnBrk="0" hangingPunct="1">
              <a:lnSpc>
                <a:spcPct val="100000"/>
              </a:lnSpc>
              <a:spcBef>
                <a:spcPts val="0"/>
              </a:spcBef>
              <a:spcAft>
                <a:spcPts val="0"/>
              </a:spcAft>
            </a:pPr>
            <a:endParaRPr lang="zh-CN" altLang="en-US" sz="800"/>
          </a:p>
        </p:txBody>
      </p:sp>
      <p:sp>
        <p:nvSpPr>
          <p:cNvPr id="5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宋体" panose="02010600030101010101" pitchFamily="2" charset="-122"/>
                <a:cs typeface="Lucida Sans" panose="020B0602030504020204" charset="0"/>
              </a:rPr>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18" name="对象"/>
          <p:cNvSpPr>
            <a:spLocks noGrp="1"/>
          </p:cNvSpPr>
          <p:nvPr>
            <p:ph type="sldImg"/>
          </p:nvPr>
        </p:nvSpPr>
        <p:spPr>
          <a:xfrm>
            <a:off x="685800" y="1143000"/>
            <a:ext cx="5486400" cy="3086100"/>
          </a:xfrm>
          <a:prstGeom prst="rect">
            <a:avLst/>
          </a:prstGeom>
          <a:noFill/>
          <a:ln w="12700" cap="flat" cmpd="sng">
            <a:noFill/>
            <a:prstDash val="solid"/>
            <a:miter/>
          </a:ln>
        </p:spPr>
      </p:sp>
      <p:sp>
        <p:nvSpPr>
          <p:cNvPr id="1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
        <p:nvSpPr>
          <p:cNvPr id="2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p:hf sldNu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21" name="五边形"/>
          <p:cNvSpPr/>
          <p:nvPr/>
        </p:nvSpPr>
        <p:spPr>
          <a:xfrm flipH="1">
            <a:off x="6772813" y="0"/>
            <a:ext cx="5419187" cy="6858000"/>
          </a:xfrm>
          <a:prstGeom prst="homePlate">
            <a:avLst>
              <a:gd name="adj" fmla="val 48747"/>
            </a:avLst>
          </a:prstGeom>
          <a:blipFill rotWithShape="1">
            <a:blip r:embed="rId2"/>
            <a:stretch>
              <a:fillRect l="-34367" r="-34367"/>
            </a:stretch>
          </a:blipFill>
          <a:ln w="12700" cap="flat" cmpd="sng">
            <a:noFill/>
            <a:prstDash val="solid"/>
            <a:round/>
          </a:ln>
        </p:spPr>
      </p:sp>
      <p:sp>
        <p:nvSpPr>
          <p:cNvPr id="22" name="文本框"/>
          <p:cNvSpPr>
            <a:spLocks noGrp="1"/>
          </p:cNvSpPr>
          <p:nvPr>
            <p:ph type="title"/>
          </p:nvPr>
        </p:nvSpPr>
        <p:spPr>
          <a:xfrm>
            <a:off x="675697" y="2657929"/>
            <a:ext cx="5419184" cy="895350"/>
          </a:xfrm>
          <a:prstGeom prst="rect">
            <a:avLst/>
          </a:prstGeom>
          <a:noFill/>
          <a:ln w="12700" cap="flat" cmpd="sng">
            <a:noFill/>
            <a:prstDash val="solid"/>
            <a:miter/>
          </a:ln>
        </p:spPr>
        <p:txBody>
          <a:bodyPr vert="horz" wrap="square" lIns="91440" tIns="45720" rIns="91440" bIns="45720" anchor="b" anchorCtr="0"/>
          <a:lstStyle/>
          <a:p>
            <a:pPr algn="l"/>
            <a:r>
              <a:rPr lang="en-US" altLang="zh-CN" sz="2400" b="1">
                <a:solidFill>
                  <a:schemeClr val="tx1"/>
                </a:solidFill>
              </a:rPr>
              <a:t>Click to edit Master title style</a:t>
            </a:r>
            <a:endParaRPr lang="zh-CN" altLang="en-US" sz="2400" b="1">
              <a:solidFill>
                <a:schemeClr val="tx1"/>
              </a:solidFill>
            </a:endParaRPr>
          </a:p>
        </p:txBody>
      </p:sp>
      <p:sp>
        <p:nvSpPr>
          <p:cNvPr id="23" name="文本框"/>
          <p:cNvSpPr>
            <a:spLocks noGrp="1"/>
          </p:cNvSpPr>
          <p:nvPr>
            <p:ph type="body" idx="1"/>
          </p:nvPr>
        </p:nvSpPr>
        <p:spPr>
          <a:xfrm>
            <a:off x="676814" y="3553279"/>
            <a:ext cx="5419185" cy="1015623"/>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buNone/>
            </a:pPr>
            <a:r>
              <a:rPr lang="en-US" altLang="zh-CN" sz="1100">
                <a:solidFill>
                  <a:schemeClr val="tx1"/>
                </a:solidFill>
              </a:rPr>
              <a:t>Edit Master text styles</a:t>
            </a:r>
            <a:endParaRPr lang="zh-CN" altLang="en-US" sz="1100">
              <a:solidFill>
                <a:schemeClr val="tx1"/>
              </a:solidFill>
            </a:endParaRPr>
          </a:p>
        </p:txBody>
      </p:sp>
      <p:sp>
        <p:nvSpPr>
          <p:cNvPr id="24" name="五边形"/>
          <p:cNvSpPr/>
          <p:nvPr/>
        </p:nvSpPr>
        <p:spPr>
          <a:xfrm flipH="1">
            <a:off x="6772813" y="0"/>
            <a:ext cx="5419187" cy="6858000"/>
          </a:xfrm>
          <a:prstGeom prst="homePlate">
            <a:avLst>
              <a:gd name="adj" fmla="val 48747"/>
            </a:avLst>
          </a:prstGeom>
          <a:gradFill rotWithShape="1">
            <a:gsLst>
              <a:gs pos="100000">
                <a:srgbClr val="05156E">
                  <a:alpha val="100000"/>
                </a:srgbClr>
              </a:gs>
              <a:gs pos="55000">
                <a:srgbClr val="3E54B7">
                  <a:alpha val="86666"/>
                </a:srgbClr>
              </a:gs>
              <a:gs pos="0">
                <a:srgbClr val="A670CA">
                  <a:alpha val="0"/>
                </a:srgbClr>
              </a:gs>
            </a:gsLst>
            <a:path path="circle">
              <a:fillToRect l="50000" t="50000" r="50000" b="50000"/>
            </a:path>
            <a:tileRect/>
          </a:gradFill>
          <a:ln w="12700" cap="flat" cmpd="sng">
            <a:noFill/>
            <a:prstDash val="solid"/>
            <a:round/>
          </a:ln>
        </p:spPr>
      </p:sp>
    </p:spTree>
  </p:cSld>
  <p:clrMapOvr>
    <a:masterClrMapping/>
  </p:clrMapOvr>
  <p:hf sldNum="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33" name="文本框"/>
          <p:cNvSpPr>
            <a:spLocks noGrp="1"/>
          </p:cNvSpPr>
          <p:nvPr>
            <p:ph type="dt" idx="10"/>
          </p:nvPr>
        </p:nvSpPr>
        <p:spPr>
          <a:xfrm>
            <a:off x="5401732" y="6240463"/>
            <a:ext cx="1388536" cy="206380"/>
          </a:xfrm>
          <a:prstGeom prst="rect">
            <a:avLst/>
          </a:prstGeom>
          <a:noFill/>
          <a:ln w="12700" cap="flat" cmpd="sng">
            <a:noFill/>
            <a:prstDash val="solid"/>
            <a:miter/>
          </a:ln>
        </p:spPr>
        <p:txBody>
          <a:bodyPr vert="horz" wrap="square" lIns="91440" tIns="45720" rIns="91440" bIns="45720" anchor="t" anchorCtr="0"/>
          <a:lstStyle/>
          <a:p>
            <a:pPr algn="ctr"/>
            <a:fld id="{CAD2D6BD-DE1B-4B5F-8B41-2702339687B9}" type="datetime1">
              <a:rPr lang="zh-CN" altLang="en-US" sz="100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34" name="文本框"/>
          <p:cNvSpPr>
            <a:spLocks noGrp="1"/>
          </p:cNvSpPr>
          <p:nvPr>
            <p:ph type="ftr"/>
          </p:nvPr>
        </p:nvSpPr>
        <p:spPr>
          <a:xfrm>
            <a:off x="669924" y="6240463"/>
            <a:ext cx="4140201" cy="206380"/>
          </a:xfrm>
          <a:prstGeom prst="rect">
            <a:avLst/>
          </a:prstGeom>
          <a:noFill/>
          <a:ln w="12700" cap="flat" cmpd="sng">
            <a:noFill/>
            <a:prstDash val="solid"/>
            <a:miter/>
          </a:ln>
        </p:spPr>
        <p:txBody>
          <a:bodyPr vert="horz" wrap="square" lIns="91440" tIns="45720" rIns="91440" bIns="45720" anchor="t" anchorCtr="0"/>
          <a:lstStyle/>
          <a:p>
            <a:pPr algn="l"/>
            <a:r>
              <a:rPr lang="en-US" altLang="zh-CN" sz="1000">
                <a:solidFill>
                  <a:srgbClr val="808080"/>
                </a:solidFill>
                <a:latin typeface="Arial" panose="020B0604020202020204" pitchFamily="34" charset="0"/>
                <a:ea typeface="微软雅黑" panose="020B0503020204020204" charset="-122"/>
                <a:cs typeface="Arial" panose="020B0604020202020204" pitchFamily="34" charset="0"/>
              </a:rPr>
              <a:t>www.islide.cc</a:t>
            </a:r>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35" name="文本框"/>
          <p:cNvSpPr>
            <a:spLocks noGrp="1"/>
          </p:cNvSpPr>
          <p:nvPr>
            <p:ph type="sldNum"/>
          </p:nvPr>
        </p:nvSpPr>
        <p:spPr>
          <a:xfrm>
            <a:off x="8610599" y="6240463"/>
            <a:ext cx="2909887" cy="206380"/>
          </a:xfrm>
          <a:prstGeom prst="rect">
            <a:avLst/>
          </a:prstGeom>
          <a:noFill/>
          <a:ln w="12700" cap="flat" cmpd="sng">
            <a:noFill/>
            <a:prstDash val="solid"/>
            <a:miter/>
          </a:ln>
        </p:spPr>
        <p:txBody>
          <a:bodyPr vert="horz" wrap="square" lIns="91440" tIns="45720" rIns="91440" bIns="45720" anchor="t" anchorCtr="0"/>
          <a:lstStyle/>
          <a:p>
            <a:pPr algn="r"/>
            <a:fld id="{CAD2D6BD-DE1B-4B5F-8B41-2702339687B9}" type="slidenum">
              <a:rPr lang="en-US" altLang="zh-CN" sz="1000" b="0" i="0" u="none" strike="noStrike" kern="1200" cap="none" spc="0" baseline="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hf sldNum="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p:cSld name="自定义版式">
    <p:spTree>
      <p:nvGrpSpPr>
        <p:cNvPr id="1" name=""/>
        <p:cNvGrpSpPr/>
        <p:nvPr/>
      </p:nvGrpSpPr>
      <p:grpSpPr>
        <a:xfrm>
          <a:off x="0" y="0"/>
          <a:ext cx="0" cy="0"/>
          <a:chOff x="0" y="0"/>
          <a:chExt cx="0" cy="0"/>
        </a:xfrm>
      </p:grpSpPr>
    </p:spTree>
  </p:cSld>
  <p:clrMapOvr>
    <a:masterClrMapping/>
  </p:clrMapOvr>
  <p:hf sldNum="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p:cSld name="自定义版式">
    <p:spTree>
      <p:nvGrpSpPr>
        <p:cNvPr id="1" name=""/>
        <p:cNvGrpSpPr/>
        <p:nvPr/>
      </p:nvGrpSpPr>
      <p:grpSpPr>
        <a:xfrm>
          <a:off x="0" y="0"/>
          <a:ext cx="0" cy="0"/>
          <a:chOff x="0" y="0"/>
          <a:chExt cx="0" cy="0"/>
        </a:xfrm>
      </p:grpSpPr>
      <p:sp>
        <p:nvSpPr>
          <p:cNvPr id="21" name="五边形"/>
          <p:cNvSpPr/>
          <p:nvPr/>
        </p:nvSpPr>
        <p:spPr>
          <a:xfrm flipH="1">
            <a:off x="6772813" y="0"/>
            <a:ext cx="5419187" cy="6858000"/>
          </a:xfrm>
          <a:prstGeom prst="homePlate">
            <a:avLst>
              <a:gd name="adj" fmla="val 48747"/>
            </a:avLst>
          </a:prstGeom>
          <a:blipFill rotWithShape="1">
            <a:blip r:embed="rId2"/>
            <a:stretch>
              <a:fillRect l="-34367" r="-34367"/>
            </a:stretch>
          </a:blipFill>
          <a:ln w="12700" cap="flat" cmpd="sng">
            <a:noFill/>
            <a:prstDash val="solid"/>
            <a:round/>
          </a:ln>
        </p:spPr>
      </p:sp>
      <p:sp>
        <p:nvSpPr>
          <p:cNvPr id="22" name="文本框"/>
          <p:cNvSpPr>
            <a:spLocks noGrp="1"/>
          </p:cNvSpPr>
          <p:nvPr>
            <p:ph type="title"/>
          </p:nvPr>
        </p:nvSpPr>
        <p:spPr>
          <a:xfrm>
            <a:off x="675697" y="2657929"/>
            <a:ext cx="5419184" cy="895350"/>
          </a:xfrm>
          <a:prstGeom prst="rect">
            <a:avLst/>
          </a:prstGeom>
          <a:noFill/>
          <a:ln w="12700" cap="flat" cmpd="sng">
            <a:noFill/>
            <a:prstDash val="solid"/>
            <a:miter/>
          </a:ln>
        </p:spPr>
        <p:txBody>
          <a:bodyPr vert="horz" wrap="square" lIns="91440" tIns="45720" rIns="91440" bIns="45720" anchor="b" anchorCtr="0"/>
          <a:lstStyle/>
          <a:p>
            <a:pPr algn="l"/>
            <a:r>
              <a:rPr lang="en-US" altLang="zh-CN" sz="2400" b="1">
                <a:solidFill>
                  <a:schemeClr val="tx1"/>
                </a:solidFill>
              </a:rPr>
              <a:t>Click to edit Master title style</a:t>
            </a:r>
            <a:endParaRPr lang="zh-CN" altLang="en-US" sz="2400" b="1">
              <a:solidFill>
                <a:schemeClr val="tx1"/>
              </a:solidFill>
            </a:endParaRPr>
          </a:p>
        </p:txBody>
      </p:sp>
      <p:sp>
        <p:nvSpPr>
          <p:cNvPr id="23" name="文本框"/>
          <p:cNvSpPr>
            <a:spLocks noGrp="1"/>
          </p:cNvSpPr>
          <p:nvPr>
            <p:ph type="body" idx="1"/>
          </p:nvPr>
        </p:nvSpPr>
        <p:spPr>
          <a:xfrm>
            <a:off x="676814" y="3553279"/>
            <a:ext cx="5419185" cy="1015623"/>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buNone/>
            </a:pPr>
            <a:r>
              <a:rPr lang="en-US" altLang="zh-CN" sz="1100">
                <a:solidFill>
                  <a:schemeClr val="tx1"/>
                </a:solidFill>
              </a:rPr>
              <a:t>Edit Master text styles</a:t>
            </a:r>
            <a:endParaRPr lang="zh-CN" altLang="en-US" sz="1100">
              <a:solidFill>
                <a:schemeClr val="tx1"/>
              </a:solidFill>
            </a:endParaRPr>
          </a:p>
        </p:txBody>
      </p:sp>
      <p:sp>
        <p:nvSpPr>
          <p:cNvPr id="24" name="五边形"/>
          <p:cNvSpPr/>
          <p:nvPr/>
        </p:nvSpPr>
        <p:spPr>
          <a:xfrm flipH="1">
            <a:off x="6772813" y="0"/>
            <a:ext cx="5419187" cy="6858000"/>
          </a:xfrm>
          <a:prstGeom prst="homePlate">
            <a:avLst>
              <a:gd name="adj" fmla="val 48747"/>
            </a:avLst>
          </a:prstGeom>
          <a:gradFill rotWithShape="1">
            <a:gsLst>
              <a:gs pos="100000">
                <a:srgbClr val="05156E">
                  <a:alpha val="100000"/>
                </a:srgbClr>
              </a:gs>
              <a:gs pos="55000">
                <a:srgbClr val="3E54B7">
                  <a:alpha val="86666"/>
                </a:srgbClr>
              </a:gs>
              <a:gs pos="0">
                <a:srgbClr val="A670CA">
                  <a:alpha val="0"/>
                </a:srgbClr>
              </a:gs>
            </a:gsLst>
            <a:path path="circle">
              <a:fillToRect l="50000" t="50000" r="50000" b="50000"/>
            </a:path>
            <a:tileRect/>
          </a:gradFill>
          <a:ln w="12700" cap="flat" cmpd="sng">
            <a:noFill/>
            <a:prstDash val="solid"/>
            <a:round/>
          </a:ln>
        </p:spPr>
      </p:sp>
    </p:spTree>
  </p:cSld>
  <p:clrMapOvr>
    <a:masterClrMapping/>
  </p:clrMapOvr>
  <p:hf sldNum="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showMasterSp="0">
  <p:cSld name="自定义版式">
    <p:spTree>
      <p:nvGrpSpPr>
        <p:cNvPr id="1" name=""/>
        <p:cNvGrpSpPr/>
        <p:nvPr/>
      </p:nvGrpSpPr>
      <p:grpSpPr>
        <a:xfrm>
          <a:off x="0" y="0"/>
          <a:ext cx="0" cy="0"/>
          <a:chOff x="0" y="0"/>
          <a:chExt cx="0" cy="0"/>
        </a:xfrm>
      </p:grpSpPr>
      <p:sp>
        <p:nvSpPr>
          <p:cNvPr id="33" name="文本框"/>
          <p:cNvSpPr>
            <a:spLocks noGrp="1"/>
          </p:cNvSpPr>
          <p:nvPr>
            <p:ph type="dt" idx="10"/>
          </p:nvPr>
        </p:nvSpPr>
        <p:spPr>
          <a:xfrm>
            <a:off x="5401732" y="6240463"/>
            <a:ext cx="1388536" cy="206380"/>
          </a:xfrm>
          <a:prstGeom prst="rect">
            <a:avLst/>
          </a:prstGeom>
          <a:noFill/>
          <a:ln w="12700" cap="flat" cmpd="sng">
            <a:noFill/>
            <a:prstDash val="solid"/>
            <a:miter/>
          </a:ln>
        </p:spPr>
        <p:txBody>
          <a:bodyPr vert="horz" wrap="square" lIns="91440" tIns="45720" rIns="91440" bIns="45720" anchor="t" anchorCtr="0"/>
          <a:lstStyle/>
          <a:p>
            <a:pPr algn="ctr"/>
            <a:fld id="{CAD2D6BD-DE1B-4B5F-8B41-2702339687B9}" type="datetime1">
              <a:rPr lang="zh-CN" altLang="en-US" sz="100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34" name="文本框"/>
          <p:cNvSpPr>
            <a:spLocks noGrp="1"/>
          </p:cNvSpPr>
          <p:nvPr>
            <p:ph type="ftr"/>
          </p:nvPr>
        </p:nvSpPr>
        <p:spPr>
          <a:xfrm>
            <a:off x="669924" y="6240463"/>
            <a:ext cx="4140201" cy="206380"/>
          </a:xfrm>
          <a:prstGeom prst="rect">
            <a:avLst/>
          </a:prstGeom>
          <a:noFill/>
          <a:ln w="12700" cap="flat" cmpd="sng">
            <a:noFill/>
            <a:prstDash val="solid"/>
            <a:miter/>
          </a:ln>
        </p:spPr>
        <p:txBody>
          <a:bodyPr vert="horz" wrap="square" lIns="91440" tIns="45720" rIns="91440" bIns="45720" anchor="t" anchorCtr="0"/>
          <a:lstStyle/>
          <a:p>
            <a:pPr algn="l"/>
            <a:r>
              <a:rPr lang="en-US" altLang="zh-CN" sz="1000">
                <a:solidFill>
                  <a:srgbClr val="808080"/>
                </a:solidFill>
                <a:latin typeface="Arial" panose="020B0604020202020204" pitchFamily="34" charset="0"/>
                <a:ea typeface="微软雅黑" panose="020B0503020204020204" charset="-122"/>
                <a:cs typeface="Arial" panose="020B0604020202020204" pitchFamily="34" charset="0"/>
              </a:rPr>
              <a:t>www.islide.cc</a:t>
            </a:r>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35" name="文本框"/>
          <p:cNvSpPr>
            <a:spLocks noGrp="1"/>
          </p:cNvSpPr>
          <p:nvPr>
            <p:ph type="sldNum"/>
          </p:nvPr>
        </p:nvSpPr>
        <p:spPr>
          <a:xfrm>
            <a:off x="8610599" y="6240463"/>
            <a:ext cx="2909887" cy="206380"/>
          </a:xfrm>
          <a:prstGeom prst="rect">
            <a:avLst/>
          </a:prstGeom>
          <a:noFill/>
          <a:ln w="12700" cap="flat" cmpd="sng">
            <a:noFill/>
            <a:prstDash val="solid"/>
            <a:miter/>
          </a:ln>
        </p:spPr>
        <p:txBody>
          <a:bodyPr vert="horz" wrap="square" lIns="91440" tIns="45720" rIns="91440" bIns="45720" anchor="t" anchorCtr="0"/>
          <a:lstStyle/>
          <a:p>
            <a:pPr algn="r"/>
            <a:fld id="{CAD2D6BD-DE1B-4B5F-8B41-2702339687B9}" type="slidenum">
              <a:rPr lang="en-US" altLang="zh-CN" sz="1000" b="0" i="0" u="none" strike="noStrike" kern="1200" cap="none" spc="0" baseline="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hf sldNum="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669924" y="1"/>
            <a:ext cx="10850563" cy="1028698"/>
          </a:xfrm>
          <a:prstGeom prst="rect">
            <a:avLst/>
          </a:prstGeom>
          <a:noFill/>
          <a:ln w="12700" cap="flat" cmpd="sng">
            <a:noFill/>
            <a:prstDash val="solid"/>
            <a:miter/>
          </a:ln>
        </p:spPr>
        <p:txBody>
          <a:bodyPr vert="horz" wrap="square" lIns="91440" tIns="45720" rIns="91440" bIns="45720" anchor="b" anchorCtr="0"/>
          <a:lstStyle/>
          <a:p>
            <a:r>
              <a:rPr lang="en-US" altLang="zh-CN"/>
              <a:t>Click to edit Master title style</a:t>
            </a:r>
            <a:endParaRPr lang="zh-CN" altLang="en-US"/>
          </a:p>
        </p:txBody>
      </p:sp>
      <p:sp>
        <p:nvSpPr>
          <p:cNvPr id="3" name="文本框"/>
          <p:cNvSpPr>
            <a:spLocks noGrp="1"/>
          </p:cNvSpPr>
          <p:nvPr>
            <p:ph type="body" idx="1"/>
          </p:nvPr>
        </p:nvSpPr>
        <p:spPr>
          <a:xfrm>
            <a:off x="669924" y="1123950"/>
            <a:ext cx="10850563" cy="5019675"/>
          </a:xfrm>
          <a:prstGeom prst="rect">
            <a:avLst/>
          </a:prstGeom>
          <a:noFill/>
          <a:ln w="12700" cap="flat" cmpd="sng">
            <a:noFill/>
            <a:prstDash val="solid"/>
            <a:miter/>
          </a:ln>
        </p:spPr>
        <p:txBody>
          <a:bodyPr vert="horz" wrap="square" lIns="91440" tIns="45720" rIns="91440" bIns="45720" anchor="t" anchorCtr="0"/>
          <a:lstStyle/>
          <a:p>
            <a:r>
              <a:rPr lang="en-US" altLang="zh-CN"/>
              <a:t>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文本框"/>
          <p:cNvSpPr>
            <a:spLocks noGrp="1"/>
          </p:cNvSpPr>
          <p:nvPr>
            <p:ph type="dt" idx="2"/>
          </p:nvPr>
        </p:nvSpPr>
        <p:spPr>
          <a:xfrm>
            <a:off x="5401732" y="6240463"/>
            <a:ext cx="1388536" cy="206380"/>
          </a:xfrm>
          <a:prstGeom prst="rect">
            <a:avLst/>
          </a:prstGeom>
          <a:noFill/>
          <a:ln w="12700" cap="flat" cmpd="sng">
            <a:noFill/>
            <a:prstDash val="solid"/>
            <a:miter/>
          </a:ln>
        </p:spPr>
        <p:txBody>
          <a:bodyPr vert="horz" wrap="square" lIns="91440" tIns="45720" rIns="91440" bIns="45720" anchor="ctr" anchorCtr="0"/>
          <a:lstStyle/>
          <a:p>
            <a:pPr algn="ctr"/>
            <a:fld id="{CAD2D6BD-DE1B-4B5F-8B41-2702339687B9}" type="datetime1">
              <a:rPr lang="zh-CN" altLang="en-US" sz="100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6" name="文本框"/>
          <p:cNvSpPr>
            <a:spLocks noGrp="1"/>
          </p:cNvSpPr>
          <p:nvPr>
            <p:ph type="ftr" idx="3"/>
          </p:nvPr>
        </p:nvSpPr>
        <p:spPr>
          <a:xfrm>
            <a:off x="669924" y="6240463"/>
            <a:ext cx="4140201" cy="206380"/>
          </a:xfrm>
          <a:prstGeom prst="rect">
            <a:avLst/>
          </a:prstGeom>
          <a:noFill/>
          <a:ln w="12700" cap="flat" cmpd="sng">
            <a:noFill/>
            <a:prstDash val="solid"/>
            <a:miter/>
          </a:ln>
        </p:spPr>
        <p:txBody>
          <a:bodyPr vert="horz" wrap="square" lIns="91440" tIns="45720" rIns="91440" bIns="45720" anchor="ctr" anchorCtr="0"/>
          <a:lstStyle/>
          <a:p>
            <a:pPr algn="l"/>
            <a:r>
              <a:rPr lang="en-US" altLang="zh-CN" sz="1000">
                <a:solidFill>
                  <a:srgbClr val="808080"/>
                </a:solidFill>
                <a:latin typeface="Arial" panose="020B0604020202020204" pitchFamily="34" charset="0"/>
                <a:ea typeface="微软雅黑" panose="020B0503020204020204" charset="-122"/>
                <a:cs typeface="Arial" panose="020B0604020202020204" pitchFamily="34" charset="0"/>
              </a:rPr>
              <a:t>www.islide.cc</a:t>
            </a:r>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7" name="文本框"/>
          <p:cNvSpPr>
            <a:spLocks noGrp="1"/>
          </p:cNvSpPr>
          <p:nvPr>
            <p:ph type="sldNum" idx="4"/>
          </p:nvPr>
        </p:nvSpPr>
        <p:spPr>
          <a:xfrm>
            <a:off x="8610599" y="6240463"/>
            <a:ext cx="2909887" cy="206380"/>
          </a:xfrm>
          <a:prstGeom prst="rect">
            <a:avLst/>
          </a:prstGeom>
          <a:noFill/>
          <a:ln w="12700" cap="flat" cmpd="sng">
            <a:noFill/>
            <a:prstDash val="solid"/>
            <a:miter/>
          </a:ln>
        </p:spPr>
        <p:txBody>
          <a:bodyPr vert="horz" wrap="square" lIns="91440" tIns="45720" rIns="91440" bIns="45720" anchor="ctr" anchorCtr="0"/>
          <a:lstStyle/>
          <a:p>
            <a:pPr algn="r"/>
            <a:fld id="{CAD2D6BD-DE1B-4B5F-8B41-2702339687B9}" type="slidenum">
              <a:rPr lang="en-US" altLang="zh-CN" sz="1000" b="0" i="0" u="none" strike="noStrike" kern="1200" cap="none" spc="0" baseline="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eaLnBrk="1" fontAlgn="auto" latinLnBrk="0" hangingPunct="1">
        <a:lnSpc>
          <a:spcPct val="90000"/>
        </a:lnSpc>
        <a:spcBef>
          <a:spcPts val="0"/>
        </a:spcBef>
        <a:buNone/>
        <a:defRPr sz="2800" b="1" kern="1200">
          <a:solidFill>
            <a:schemeClr val="tx1"/>
          </a:solidFill>
          <a:latin typeface="Arial" panose="020B0604020202020204" pitchFamily="34" charset="0"/>
          <a:ea typeface="微软雅黑" panose="020B0503020204020204" charset="-122"/>
          <a:cs typeface="Arial" panose="020B0604020202020204" pitchFamily="34" charset="0"/>
        </a:defRPr>
      </a:lvl1pPr>
    </p:titleStyle>
    <p:bodyStyle>
      <a:lvl1pPr marL="228600" indent="-228600" algn="l" defTabSz="914400" eaLnBrk="1" fontAlgn="auto"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微软雅黑" panose="020B0503020204020204" charset="-122"/>
          <a:cs typeface="Arial" panose="020B0604020202020204" pitchFamily="34" charset="0"/>
        </a:defRPr>
      </a:lvl1pPr>
      <a:lvl2pPr marL="685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2pPr>
      <a:lvl3pPr marL="1143000" indent="-228600" algn="l" defTabSz="914400" eaLnBrk="1" fontAlgn="auto"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微软雅黑" panose="020B0503020204020204" charset="-122"/>
          <a:cs typeface="Arial" panose="020B0604020202020204" pitchFamily="34" charset="0"/>
        </a:defRPr>
      </a:lvl3pPr>
      <a:lvl4pPr marL="1600200" indent="-228600" algn="l" defTabSz="914400" eaLnBrk="1" fontAlgn="auto"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微软雅黑" panose="020B0503020204020204" charset="-122"/>
          <a:cs typeface="Arial" panose="020B0604020202020204" pitchFamily="34" charset="0"/>
        </a:defRPr>
      </a:lvl4pPr>
      <a:lvl5pPr marL="2057400" indent="-228600" algn="l" defTabSz="914400" eaLnBrk="1" fontAlgn="auto"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微软雅黑" panose="020B0503020204020204" charset="-122"/>
          <a:cs typeface="Arial" panose="020B0604020202020204" pitchFamily="34" charset="0"/>
        </a:defRPr>
      </a:lvl5pPr>
      <a:lvl6pPr marL="25146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6pPr>
      <a:lvl7pPr marL="2971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7pPr>
      <a:lvl8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8pPr>
      <a:lvl9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9pPr>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文本框"/>
          <p:cNvSpPr>
            <a:spLocks noGrp="1"/>
          </p:cNvSpPr>
          <p:nvPr>
            <p:ph type="title"/>
          </p:nvPr>
        </p:nvSpPr>
        <p:spPr>
          <a:xfrm>
            <a:off x="669924" y="1"/>
            <a:ext cx="10850563" cy="1028698"/>
          </a:xfrm>
          <a:prstGeom prst="rect">
            <a:avLst/>
          </a:prstGeom>
          <a:noFill/>
          <a:ln w="12700" cap="flat" cmpd="sng">
            <a:noFill/>
            <a:prstDash val="solid"/>
            <a:miter/>
          </a:ln>
        </p:spPr>
        <p:txBody>
          <a:bodyPr vert="horz" wrap="square" lIns="91440" tIns="45720" rIns="91440" bIns="45720" anchor="b" anchorCtr="0"/>
          <a:lstStyle/>
          <a:p>
            <a:r>
              <a:rPr lang="en-US" altLang="zh-CN"/>
              <a:t>Click to edit Master title style</a:t>
            </a:r>
            <a:endParaRPr lang="zh-CN" altLang="en-US"/>
          </a:p>
        </p:txBody>
      </p:sp>
      <p:sp>
        <p:nvSpPr>
          <p:cNvPr id="3" name="文本框"/>
          <p:cNvSpPr>
            <a:spLocks noGrp="1"/>
          </p:cNvSpPr>
          <p:nvPr>
            <p:ph type="body" idx="1"/>
          </p:nvPr>
        </p:nvSpPr>
        <p:spPr>
          <a:xfrm>
            <a:off x="669924" y="1123950"/>
            <a:ext cx="10850563" cy="5019675"/>
          </a:xfrm>
          <a:prstGeom prst="rect">
            <a:avLst/>
          </a:prstGeom>
          <a:noFill/>
          <a:ln w="12700" cap="flat" cmpd="sng">
            <a:noFill/>
            <a:prstDash val="solid"/>
            <a:miter/>
          </a:ln>
        </p:spPr>
        <p:txBody>
          <a:bodyPr vert="horz" wrap="square" lIns="91440" tIns="45720" rIns="91440" bIns="45720" anchor="t" anchorCtr="0"/>
          <a:lstStyle/>
          <a:p>
            <a:r>
              <a:rPr lang="en-US" altLang="zh-CN"/>
              <a:t>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文本框"/>
          <p:cNvSpPr>
            <a:spLocks noGrp="1"/>
          </p:cNvSpPr>
          <p:nvPr>
            <p:ph type="dt" idx="2"/>
          </p:nvPr>
        </p:nvSpPr>
        <p:spPr>
          <a:xfrm>
            <a:off x="5401732" y="6240463"/>
            <a:ext cx="1388536" cy="206380"/>
          </a:xfrm>
          <a:prstGeom prst="rect">
            <a:avLst/>
          </a:prstGeom>
          <a:noFill/>
          <a:ln w="12700" cap="flat" cmpd="sng">
            <a:noFill/>
            <a:prstDash val="solid"/>
            <a:miter/>
          </a:ln>
        </p:spPr>
        <p:txBody>
          <a:bodyPr vert="horz" wrap="square" lIns="91440" tIns="45720" rIns="91440" bIns="45720" anchor="ctr" anchorCtr="0"/>
          <a:lstStyle/>
          <a:p>
            <a:pPr algn="ctr"/>
            <a:fld id="{CAD2D6BD-DE1B-4B5F-8B41-2702339687B9}" type="datetime1">
              <a:rPr lang="zh-CN" altLang="en-US" sz="100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6" name="文本框"/>
          <p:cNvSpPr>
            <a:spLocks noGrp="1"/>
          </p:cNvSpPr>
          <p:nvPr>
            <p:ph type="ftr" idx="3"/>
          </p:nvPr>
        </p:nvSpPr>
        <p:spPr>
          <a:xfrm>
            <a:off x="669924" y="6240463"/>
            <a:ext cx="4140201" cy="206380"/>
          </a:xfrm>
          <a:prstGeom prst="rect">
            <a:avLst/>
          </a:prstGeom>
          <a:noFill/>
          <a:ln w="12700" cap="flat" cmpd="sng">
            <a:noFill/>
            <a:prstDash val="solid"/>
            <a:miter/>
          </a:ln>
        </p:spPr>
        <p:txBody>
          <a:bodyPr vert="horz" wrap="square" lIns="91440" tIns="45720" rIns="91440" bIns="45720" anchor="ctr" anchorCtr="0"/>
          <a:lstStyle/>
          <a:p>
            <a:pPr algn="l"/>
            <a:r>
              <a:rPr lang="en-US" altLang="zh-CN" sz="1000">
                <a:solidFill>
                  <a:srgbClr val="808080"/>
                </a:solidFill>
                <a:latin typeface="Arial" panose="020B0604020202020204" pitchFamily="34" charset="0"/>
                <a:ea typeface="微软雅黑" panose="020B0503020204020204" charset="-122"/>
                <a:cs typeface="Arial" panose="020B0604020202020204" pitchFamily="34" charset="0"/>
              </a:rPr>
              <a:t>www.islide.cc</a:t>
            </a:r>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
        <p:nvSpPr>
          <p:cNvPr id="7" name="文本框"/>
          <p:cNvSpPr>
            <a:spLocks noGrp="1"/>
          </p:cNvSpPr>
          <p:nvPr>
            <p:ph type="sldNum" idx="4"/>
          </p:nvPr>
        </p:nvSpPr>
        <p:spPr>
          <a:xfrm>
            <a:off x="8610599" y="6240463"/>
            <a:ext cx="2909887" cy="206380"/>
          </a:xfrm>
          <a:prstGeom prst="rect">
            <a:avLst/>
          </a:prstGeom>
          <a:noFill/>
          <a:ln w="12700" cap="flat" cmpd="sng">
            <a:noFill/>
            <a:prstDash val="solid"/>
            <a:miter/>
          </a:ln>
        </p:spPr>
        <p:txBody>
          <a:bodyPr vert="horz" wrap="square" lIns="91440" tIns="45720" rIns="91440" bIns="45720" anchor="ctr" anchorCtr="0"/>
          <a:lstStyle/>
          <a:p>
            <a:pPr algn="r"/>
            <a:fld id="{CAD2D6BD-DE1B-4B5F-8B41-2702339687B9}" type="slidenum">
              <a:rPr lang="en-US" altLang="zh-CN" sz="1000" b="0" i="0" u="none" strike="noStrike" kern="1200" cap="none" spc="0" baseline="0">
                <a:solidFill>
                  <a:srgbClr val="808080"/>
                </a:solidFill>
                <a:latin typeface="Arial" panose="020B0604020202020204" pitchFamily="34" charset="0"/>
                <a:ea typeface="微软雅黑" panose="020B0503020204020204" charset="-122"/>
                <a:cs typeface="Arial" panose="020B0604020202020204" pitchFamily="34" charset="0"/>
              </a:rPr>
            </a:fld>
            <a:endParaRPr lang="zh-CN" altLang="en-US" sz="1000">
              <a:solidFill>
                <a:srgbClr val="808080"/>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lvl1pPr algn="l" defTabSz="914400" eaLnBrk="1" fontAlgn="auto" latinLnBrk="0" hangingPunct="1">
        <a:lnSpc>
          <a:spcPct val="90000"/>
        </a:lnSpc>
        <a:spcBef>
          <a:spcPts val="0"/>
        </a:spcBef>
        <a:buNone/>
        <a:defRPr sz="2800" b="1" kern="1200">
          <a:solidFill>
            <a:schemeClr val="tx1"/>
          </a:solidFill>
          <a:latin typeface="Arial" panose="020B0604020202020204" pitchFamily="34" charset="0"/>
          <a:ea typeface="微软雅黑" panose="020B0503020204020204" charset="-122"/>
          <a:cs typeface="Arial" panose="020B0604020202020204" pitchFamily="34" charset="0"/>
        </a:defRPr>
      </a:lvl1pPr>
    </p:titleStyle>
    <p:bodyStyle>
      <a:lvl1pPr marL="228600" indent="-228600" algn="l" defTabSz="914400" eaLnBrk="1" fontAlgn="auto"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微软雅黑" panose="020B0503020204020204" charset="-122"/>
          <a:cs typeface="Arial" panose="020B0604020202020204" pitchFamily="34" charset="0"/>
        </a:defRPr>
      </a:lvl1pPr>
      <a:lvl2pPr marL="685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2pPr>
      <a:lvl3pPr marL="1143000" indent="-228600" algn="l" defTabSz="914400" eaLnBrk="1" fontAlgn="auto"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微软雅黑" panose="020B0503020204020204" charset="-122"/>
          <a:cs typeface="Arial" panose="020B0604020202020204" pitchFamily="34" charset="0"/>
        </a:defRPr>
      </a:lvl3pPr>
      <a:lvl4pPr marL="1600200" indent="-228600" algn="l" defTabSz="914400" eaLnBrk="1" fontAlgn="auto"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微软雅黑" panose="020B0503020204020204" charset="-122"/>
          <a:cs typeface="Arial" panose="020B0604020202020204" pitchFamily="34" charset="0"/>
        </a:defRPr>
      </a:lvl4pPr>
      <a:lvl5pPr marL="2057400" indent="-228600" algn="l" defTabSz="914400" eaLnBrk="1" fontAlgn="auto"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微软雅黑" panose="020B0503020204020204" charset="-122"/>
          <a:cs typeface="Arial" panose="020B0604020202020204" pitchFamily="34" charset="0"/>
        </a:defRPr>
      </a:lvl5pPr>
      <a:lvl6pPr marL="25146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6pPr>
      <a:lvl7pPr marL="2971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7pPr>
      <a:lvl8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8pPr>
      <a:lvl9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微软雅黑" panose="020B0503020204020204" charset="-122"/>
          <a:cs typeface="Arial" panose="020B0604020202020204" pitchFamily="34" charset="0"/>
        </a:defRPr>
      </a:lvl9pPr>
    </p:bodyStyle>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notesSlide" Target="../notesSlides/notesSlide2.xml"/><Relationship Id="rId20" Type="http://schemas.openxmlformats.org/officeDocument/2006/relationships/slideLayout" Target="../slideLayouts/slideLayout21.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8.xml"/><Relationship Id="rId2" Type="http://schemas.openxmlformats.org/officeDocument/2006/relationships/image" Target="../media/image3.png"/><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8.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8.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8.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26.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8" Type="http://schemas.openxmlformats.org/officeDocument/2006/relationships/notesSlide" Target="../notesSlides/notesSlide8.xml"/><Relationship Id="rId27" Type="http://schemas.openxmlformats.org/officeDocument/2006/relationships/slideLayout" Target="../slideLayouts/slideLayout28.xml"/><Relationship Id="rId26" Type="http://schemas.openxmlformats.org/officeDocument/2006/relationships/tags" Target="../tags/tag50.xml"/><Relationship Id="rId25" Type="http://schemas.openxmlformats.org/officeDocument/2006/relationships/tags" Target="../tags/tag49.xml"/><Relationship Id="rId24" Type="http://schemas.openxmlformats.org/officeDocument/2006/relationships/tags" Target="../tags/tag48.xml"/><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6" Type="http://schemas.openxmlformats.org/officeDocument/2006/relationships/notesSlide" Target="../notesSlides/notesSlide9.xml"/><Relationship Id="rId15" Type="http://schemas.openxmlformats.org/officeDocument/2006/relationships/slideLayout" Target="../slideLayouts/slideLayout28.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8.xml"/><Relationship Id="rId2" Type="http://schemas.openxmlformats.org/officeDocument/2006/relationships/tags" Target="../tags/tag64.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8.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8.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1" Type="http://schemas.openxmlformats.org/officeDocument/2006/relationships/notesSlide" Target="../notesSlides/notesSlide14.xml"/><Relationship Id="rId20" Type="http://schemas.openxmlformats.org/officeDocument/2006/relationships/slideLayout" Target="../slideLayouts/slideLayout28.xml"/><Relationship Id="rId2" Type="http://schemas.openxmlformats.org/officeDocument/2006/relationships/tags" Target="../tags/tag72.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8.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8.xml"/><Relationship Id="rId5" Type="http://schemas.openxmlformats.org/officeDocument/2006/relationships/image" Target="../media/image12.png"/><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3" Type="http://schemas.openxmlformats.org/officeDocument/2006/relationships/notesSlide" Target="../notesSlides/notesSlide17.xml"/><Relationship Id="rId22" Type="http://schemas.openxmlformats.org/officeDocument/2006/relationships/slideLayout" Target="../slideLayouts/slideLayout28.xml"/><Relationship Id="rId21" Type="http://schemas.openxmlformats.org/officeDocument/2006/relationships/image" Target="../media/image3.png"/><Relationship Id="rId20" Type="http://schemas.openxmlformats.org/officeDocument/2006/relationships/tags" Target="../tags/tag112.xml"/><Relationship Id="rId2" Type="http://schemas.openxmlformats.org/officeDocument/2006/relationships/tags" Target="../tags/tag94.xml"/><Relationship Id="rId19" Type="http://schemas.openxmlformats.org/officeDocument/2006/relationships/tags" Target="../tags/tag111.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18.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2" Type="http://schemas.openxmlformats.org/officeDocument/2006/relationships/notesSlide" Target="../notesSlides/notesSlide18.xml"/><Relationship Id="rId11" Type="http://schemas.openxmlformats.org/officeDocument/2006/relationships/slideLayout" Target="../slideLayouts/slideLayout28.xml"/><Relationship Id="rId10" Type="http://schemas.openxmlformats.org/officeDocument/2006/relationships/image" Target="../media/image3.png"/><Relationship Id="rId1" Type="http://schemas.openxmlformats.org/officeDocument/2006/relationships/tags" Target="../tags/tag113.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8.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7" Type="http://schemas.openxmlformats.org/officeDocument/2006/relationships/notesSlide" Target="../notesSlides/notesSlide20.xml"/><Relationship Id="rId26" Type="http://schemas.openxmlformats.org/officeDocument/2006/relationships/slideLayout" Target="../slideLayouts/slideLayout28.xml"/><Relationship Id="rId25" Type="http://schemas.openxmlformats.org/officeDocument/2006/relationships/tags" Target="../tags/tag148.xml"/><Relationship Id="rId24" Type="http://schemas.openxmlformats.org/officeDocument/2006/relationships/tags" Target="../tags/tag147.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6.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635" y="1954530"/>
            <a:ext cx="12192000" cy="2193925"/>
          </a:xfrm>
          <a:prstGeom prst="rect">
            <a:avLst/>
          </a:prstGeom>
          <a:solidFill>
            <a:schemeClr val="accent1">
              <a:alpha val="29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p:cNvPicPr>
            <a:picLocks noChangeAspect="1"/>
          </p:cNvPicPr>
          <p:nvPr/>
        </p:nvPicPr>
        <p:blipFill>
          <a:blip r:embed="rId1" cstate="print"/>
          <a:stretch>
            <a:fillRect/>
          </a:stretch>
        </p:blipFill>
        <p:spPr>
          <a:xfrm>
            <a:off x="5448300" y="1116965"/>
            <a:ext cx="1123949" cy="352425"/>
          </a:xfrm>
          <a:prstGeom prst="rect">
            <a:avLst/>
          </a:prstGeom>
          <a:noFill/>
          <a:ln w="9525" cap="flat" cmpd="sng">
            <a:noFill/>
            <a:prstDash val="solid"/>
            <a:miter/>
          </a:ln>
        </p:spPr>
      </p:pic>
      <p:sp>
        <p:nvSpPr>
          <p:cNvPr id="2" name="矩形 1"/>
          <p:cNvSpPr/>
          <p:nvPr/>
        </p:nvSpPr>
        <p:spPr>
          <a:xfrm>
            <a:off x="635" y="2056130"/>
            <a:ext cx="12192000" cy="19926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p:cNvSpPr/>
          <p:nvPr/>
        </p:nvSpPr>
        <p:spPr>
          <a:xfrm>
            <a:off x="304800" y="2264410"/>
            <a:ext cx="11581765" cy="1100455"/>
          </a:xfrm>
          <a:prstGeom prst="rect">
            <a:avLst/>
          </a:prstGeom>
          <a:noFill/>
          <a:ln w="9525" cap="flat" cmpd="sng">
            <a:noFill/>
            <a:prstDash val="solid"/>
            <a:miter/>
          </a:ln>
        </p:spPr>
        <p:txBody>
          <a:bodyPr vert="horz" wrap="square" lIns="91440" tIns="45720" rIns="91440" bIns="45720" anchor="t" anchorCtr="0">
            <a:noAutofit/>
          </a:bodyPr>
          <a:lstStyle/>
          <a:p>
            <a:pPr marL="0" indent="0" algn="ctr">
              <a:lnSpc>
                <a:spcPct val="150000"/>
              </a:lnSpc>
              <a:spcBef>
                <a:spcPts val="0"/>
              </a:spcBef>
              <a:spcAft>
                <a:spcPts val="0"/>
              </a:spcAft>
              <a:buNone/>
            </a:pPr>
            <a:r>
              <a:rPr lang="zh-CN" altLang="en-US"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智源</a:t>
            </a:r>
            <a:r>
              <a:rPr lang="en-US" altLang="zh-CN"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BAAI</a:t>
            </a:r>
            <a:r>
              <a:rPr lang="zh-CN" altLang="en-US"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大脑大模型赛道决赛答辩</a:t>
            </a:r>
            <a:endParaRPr lang="zh-CN" altLang="en-US"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文本框 5"/>
          <p:cNvSpPr txBox="1"/>
          <p:nvPr/>
        </p:nvSpPr>
        <p:spPr>
          <a:xfrm>
            <a:off x="3800475" y="4637405"/>
            <a:ext cx="5497830" cy="2030095"/>
          </a:xfrm>
          <a:prstGeom prst="rect">
            <a:avLst/>
          </a:prstGeom>
          <a:noFill/>
        </p:spPr>
        <p:txBody>
          <a:bodyPr wrap="square" rtlCol="0">
            <a:spAutoFit/>
          </a:bodyPr>
          <a:p>
            <a:r>
              <a:rPr lang="zh-CN" altLang="en-US" b="1">
                <a:latin typeface="微软雅黑" panose="020B0503020204020204" charset="-122"/>
                <a:ea typeface="微软雅黑" panose="020B0503020204020204" charset="-122"/>
                <a:cs typeface="微软雅黑" panose="020B0503020204020204" charset="-122"/>
              </a:rPr>
              <a:t>团队名称：浅试</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队长</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胡事成，负责模型训练与评测</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队员：王必雄，负责数据集</a:t>
            </a:r>
            <a:r>
              <a:rPr lang="zh-CN" altLang="en-US" b="1">
                <a:latin typeface="微软雅黑" panose="020B0503020204020204" charset="-122"/>
                <a:ea typeface="微软雅黑" panose="020B0503020204020204" charset="-122"/>
                <a:cs typeface="微软雅黑" panose="020B0503020204020204" charset="-122"/>
              </a:rPr>
              <a:t>处理</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汇报人</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sym typeface="+mn-ea"/>
              </a:rPr>
              <a:t>王必雄</a:t>
            </a:r>
            <a:endParaRPr lang="en-US" altLang="zh-CN" b="1">
              <a:latin typeface="微软雅黑" panose="020B0503020204020204" charset="-122"/>
              <a:ea typeface="微软雅黑" panose="020B0503020204020204" charset="-122"/>
              <a:cs typeface="微软雅黑" panose="020B0503020204020204" charset="-122"/>
            </a:endParaRPr>
          </a:p>
        </p:txBody>
      </p:sp>
      <p:pic>
        <p:nvPicPr>
          <p:cNvPr id="4" name="图片 3"/>
          <p:cNvPicPr/>
          <p:nvPr/>
        </p:nvPicPr>
        <p:blipFill>
          <a:blip r:embed="rId2"/>
          <a:srcRect t="31267" b="33250"/>
          <a:stretch>
            <a:fillRect/>
          </a:stretch>
        </p:blipFill>
        <p:spPr>
          <a:xfrm>
            <a:off x="3670300" y="499745"/>
            <a:ext cx="4853305" cy="12420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五边形"/>
          <p:cNvSpPr/>
          <p:nvPr/>
        </p:nvSpPr>
        <p:spPr>
          <a:xfrm flipH="1">
            <a:off x="0" y="0"/>
            <a:ext cx="4286250" cy="6858000"/>
          </a:xfrm>
          <a:prstGeom prst="rect">
            <a:avLst/>
          </a:prstGeom>
          <a:blipFill rotWithShape="1">
            <a:blip r:embed="rId1"/>
            <a:stretch>
              <a:fillRect l="-34367" r="-34367"/>
            </a:stretch>
          </a:blipFill>
          <a:ln w="12700" cap="flat" cmpd="sng">
            <a:noFill/>
            <a:prstDash val="solid"/>
            <a:round/>
          </a:ln>
        </p:spPr>
      </p:sp>
      <p:sp>
        <p:nvSpPr>
          <p:cNvPr id="7" name="矩形 6"/>
          <p:cNvSpPr/>
          <p:nvPr/>
        </p:nvSpPr>
        <p:spPr>
          <a:xfrm>
            <a:off x="0" y="0"/>
            <a:ext cx="4298950" cy="6858000"/>
          </a:xfrm>
          <a:prstGeom prst="rect">
            <a:avLst/>
          </a:prstGeom>
          <a:solidFill>
            <a:schemeClr val="accent1">
              <a:alpha val="65000"/>
            </a:schemeClr>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ea typeface="微软雅黑" panose="020B0503020204020204" charset="-122"/>
            </a:endParaRPr>
          </a:p>
        </p:txBody>
      </p:sp>
      <p:grpSp>
        <p:nvGrpSpPr>
          <p:cNvPr id="2" name="组合 1"/>
          <p:cNvGrpSpPr/>
          <p:nvPr/>
        </p:nvGrpSpPr>
        <p:grpSpPr>
          <a:xfrm>
            <a:off x="615010" y="2105571"/>
            <a:ext cx="2866671" cy="1483090"/>
            <a:chOff x="1819275" y="1143000"/>
            <a:chExt cx="2867025" cy="1483273"/>
          </a:xfrm>
        </p:grpSpPr>
        <p:sp>
          <p:nvSpPr>
            <p:cNvPr id="3" name="矩形 2"/>
            <p:cNvSpPr/>
            <p:nvPr/>
          </p:nvSpPr>
          <p:spPr>
            <a:xfrm>
              <a:off x="1819275" y="1143000"/>
              <a:ext cx="2590800" cy="1266825"/>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p>
          </p:txBody>
        </p:sp>
        <p:sp>
          <p:nvSpPr>
            <p:cNvPr id="17" name="矩形 16"/>
            <p:cNvSpPr/>
            <p:nvPr/>
          </p:nvSpPr>
          <p:spPr>
            <a:xfrm>
              <a:off x="2095500" y="1359448"/>
              <a:ext cx="2590800" cy="1266825"/>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dirty="0">
                <a:solidFill>
                  <a:srgbClr val="4EB796"/>
                </a:solidFill>
                <a:latin typeface="微软雅黑" panose="020B0503020204020204" charset="-122"/>
                <a:ea typeface="微软雅黑" panose="020B0503020204020204" charset="-122"/>
              </a:endParaRPr>
            </a:p>
          </p:txBody>
        </p:sp>
      </p:grpSp>
      <p:sp>
        <p:nvSpPr>
          <p:cNvPr id="19" name="文本框 18"/>
          <p:cNvSpPr txBox="1"/>
          <p:nvPr/>
        </p:nvSpPr>
        <p:spPr>
          <a:xfrm>
            <a:off x="537210" y="3768090"/>
            <a:ext cx="3199130" cy="673735"/>
          </a:xfrm>
          <a:prstGeom prst="rect">
            <a:avLst/>
          </a:prstGeom>
          <a:noFill/>
        </p:spPr>
        <p:txBody>
          <a:bodyPr wrap="square" rtlCol="0">
            <a:spAutoFit/>
          </a:bodyPr>
          <a:lstStyle/>
          <a:p>
            <a:pPr algn="ctr"/>
            <a:r>
              <a:rPr lang="en-US" altLang="zh-CN" sz="3790" dirty="0">
                <a:solidFill>
                  <a:schemeClr val="bg1"/>
                </a:solidFill>
                <a:latin typeface="Kozuka Gothic Pro M" panose="020B0700000000000000" pitchFamily="34" charset="-128"/>
                <a:ea typeface="Kozuka Gothic Pro M" panose="020B0700000000000000" pitchFamily="34" charset="-128"/>
              </a:rPr>
              <a:t>CONTENTS</a:t>
            </a:r>
            <a:endParaRPr lang="zh-CN" altLang="en-US" sz="3790" dirty="0">
              <a:solidFill>
                <a:schemeClr val="bg1"/>
              </a:solidFill>
              <a:latin typeface="Kozuka Gothic Pro M" panose="020B0700000000000000" pitchFamily="34" charset="-128"/>
              <a:ea typeface="Kozuka Gothic Pro M" panose="020B0700000000000000" pitchFamily="34" charset="-128"/>
            </a:endParaRPr>
          </a:p>
        </p:txBody>
      </p:sp>
      <p:sp>
        <p:nvSpPr>
          <p:cNvPr id="24" name="文本框 23"/>
          <p:cNvSpPr txBox="1"/>
          <p:nvPr/>
        </p:nvSpPr>
        <p:spPr>
          <a:xfrm>
            <a:off x="1114489" y="2323181"/>
            <a:ext cx="1867713" cy="1015663"/>
          </a:xfrm>
          <a:prstGeom prst="rect">
            <a:avLst/>
          </a:prstGeom>
          <a:noFill/>
        </p:spPr>
        <p:txBody>
          <a:bodyPr wrap="square" rtlCol="0">
            <a:spAutoFit/>
          </a:bodyPr>
          <a:lstStyle/>
          <a:p>
            <a:pPr algn="ctr"/>
            <a:r>
              <a:rPr lang="zh-CN" altLang="en-US" sz="6000" b="1" dirty="0">
                <a:solidFill>
                  <a:schemeClr val="bg1"/>
                </a:solidFill>
                <a:latin typeface="微软雅黑" panose="020B0503020204020204" charset="-122"/>
                <a:ea typeface="微软雅黑" panose="020B0503020204020204" charset="-122"/>
              </a:rPr>
              <a:t>目录</a:t>
            </a:r>
            <a:endParaRPr lang="zh-CN" altLang="en-US" sz="6000" b="1" dirty="0">
              <a:solidFill>
                <a:schemeClr val="bg1"/>
              </a:solidFill>
              <a:latin typeface="微软雅黑" panose="020B0503020204020204" charset="-122"/>
              <a:ea typeface="微软雅黑" panose="020B0503020204020204" charset="-122"/>
            </a:endParaRPr>
          </a:p>
        </p:txBody>
      </p:sp>
      <p:grpSp>
        <p:nvGrpSpPr>
          <p:cNvPr id="47" name="组合 46"/>
          <p:cNvGrpSpPr/>
          <p:nvPr>
            <p:custDataLst>
              <p:tags r:id="rId2"/>
            </p:custDataLst>
          </p:nvPr>
        </p:nvGrpSpPr>
        <p:grpSpPr>
          <a:xfrm>
            <a:off x="5375843" y="1871663"/>
            <a:ext cx="7795666" cy="672075"/>
            <a:chOff x="6048" y="3545"/>
            <a:chExt cx="12277" cy="1058"/>
          </a:xfrm>
        </p:grpSpPr>
        <p:grpSp>
          <p:nvGrpSpPr>
            <p:cNvPr id="29" name="组合 28"/>
            <p:cNvGrpSpPr/>
            <p:nvPr/>
          </p:nvGrpSpPr>
          <p:grpSpPr>
            <a:xfrm>
              <a:off x="7584" y="3647"/>
              <a:ext cx="10740" cy="900"/>
              <a:chOff x="3303678" y="2597701"/>
              <a:chExt cx="5130122" cy="458752"/>
            </a:xfrm>
          </p:grpSpPr>
          <p:sp>
            <p:nvSpPr>
              <p:cNvPr id="30" name="TextBox 47"/>
              <p:cNvSpPr txBox="1"/>
              <p:nvPr>
                <p:custDataLst>
                  <p:tags r:id="rId3"/>
                </p:custDataLst>
              </p:nvPr>
            </p:nvSpPr>
            <p:spPr>
              <a:xfrm>
                <a:off x="3303678" y="2597701"/>
                <a:ext cx="5130122" cy="406612"/>
              </a:xfrm>
              <a:prstGeom prst="rect">
                <a:avLst/>
              </a:prstGeom>
              <a:noFill/>
            </p:spPr>
            <p:txBody>
              <a:bodyPr wrap="square" rtlCol="0">
                <a:spAutoFit/>
              </a:bodyPr>
              <a:lstStyle/>
              <a:p>
                <a:r>
                  <a:rPr lang="zh-CN" altLang="en-US" sz="2700" b="1" dirty="0">
                    <a:solidFill>
                      <a:schemeClr val="accent1"/>
                    </a:solidFill>
                    <a:latin typeface="微软雅黑" panose="020B0503020204020204" charset="-122"/>
                    <a:ea typeface="微软雅黑" panose="020B0503020204020204" charset="-122"/>
                  </a:rPr>
                  <a:t>数据</a:t>
                </a:r>
                <a:endParaRPr lang="zh-CN" altLang="en-US" sz="2700" b="1" dirty="0">
                  <a:solidFill>
                    <a:schemeClr val="accent1"/>
                  </a:solidFill>
                  <a:latin typeface="微软雅黑" panose="020B0503020204020204" charset="-122"/>
                  <a:ea typeface="微软雅黑" panose="020B0503020204020204" charset="-122"/>
                </a:endParaRPr>
              </a:p>
            </p:txBody>
          </p:sp>
          <p:cxnSp>
            <p:nvCxnSpPr>
              <p:cNvPr id="31" name="直接连接符 30"/>
              <p:cNvCxnSpPr/>
              <p:nvPr>
                <p:custDataLst>
                  <p:tags r:id="rId4"/>
                </p:custDataLst>
              </p:nvPr>
            </p:nvCxnSpPr>
            <p:spPr>
              <a:xfrm>
                <a:off x="3378135" y="3056453"/>
                <a:ext cx="3791089"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6048" y="3545"/>
              <a:ext cx="1058" cy="1058"/>
              <a:chOff x="2996006" y="2016064"/>
              <a:chExt cx="504056" cy="504056"/>
            </a:xfrm>
          </p:grpSpPr>
          <p:sp>
            <p:nvSpPr>
              <p:cNvPr id="49" name="椭圆 48"/>
              <p:cNvSpPr/>
              <p:nvPr/>
            </p:nvSpPr>
            <p:spPr>
              <a:xfrm>
                <a:off x="2996006" y="2016064"/>
                <a:ext cx="504056" cy="5040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50" name="Group 61"/>
              <p:cNvGrpSpPr>
                <a:grpSpLocks noChangeAspect="1"/>
              </p:cNvGrpSpPr>
              <p:nvPr/>
            </p:nvGrpSpPr>
            <p:grpSpPr bwMode="auto">
              <a:xfrm>
                <a:off x="3044923" y="2064981"/>
                <a:ext cx="406222" cy="406222"/>
                <a:chOff x="569" y="2009"/>
                <a:chExt cx="687" cy="687"/>
              </a:xfrm>
            </p:grpSpPr>
            <p:sp>
              <p:nvSpPr>
                <p:cNvPr id="51"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52"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62"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63"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64"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grpSp>
        </p:grpSp>
      </p:grpSp>
      <p:grpSp>
        <p:nvGrpSpPr>
          <p:cNvPr id="53" name="组合 52"/>
          <p:cNvGrpSpPr/>
          <p:nvPr>
            <p:custDataLst>
              <p:tags r:id="rId5"/>
            </p:custDataLst>
          </p:nvPr>
        </p:nvGrpSpPr>
        <p:grpSpPr>
          <a:xfrm>
            <a:off x="5375619" y="980685"/>
            <a:ext cx="6116950" cy="690546"/>
            <a:chOff x="6054" y="2228"/>
            <a:chExt cx="9633" cy="1087"/>
          </a:xfrm>
        </p:grpSpPr>
        <p:grpSp>
          <p:nvGrpSpPr>
            <p:cNvPr id="26" name="组合 25"/>
            <p:cNvGrpSpPr/>
            <p:nvPr/>
          </p:nvGrpSpPr>
          <p:grpSpPr>
            <a:xfrm>
              <a:off x="7584" y="2257"/>
              <a:ext cx="8102" cy="1058"/>
              <a:chOff x="3340934" y="1772209"/>
              <a:chExt cx="3870026" cy="539983"/>
            </a:xfrm>
          </p:grpSpPr>
          <p:sp>
            <p:nvSpPr>
              <p:cNvPr id="27" name="TextBox 11"/>
              <p:cNvSpPr txBox="1"/>
              <p:nvPr>
                <p:custDataLst>
                  <p:tags r:id="rId6"/>
                </p:custDataLst>
              </p:nvPr>
            </p:nvSpPr>
            <p:spPr>
              <a:xfrm>
                <a:off x="3340934" y="1772209"/>
                <a:ext cx="3140530" cy="407106"/>
              </a:xfrm>
              <a:prstGeom prst="rect">
                <a:avLst/>
              </a:prstGeom>
              <a:noFill/>
            </p:spPr>
            <p:txBody>
              <a:bodyPr wrap="square" rtlCol="0">
                <a:spAutoFit/>
              </a:bodyPr>
              <a:lstStyle/>
              <a:p>
                <a:r>
                  <a:rPr lang="zh-CN" altLang="en-US" sz="2700" b="1" dirty="0">
                    <a:solidFill>
                      <a:schemeClr val="accent1"/>
                    </a:solidFill>
                    <a:latin typeface="微软雅黑" panose="020B0503020204020204" charset="-122"/>
                    <a:ea typeface="微软雅黑" panose="020B0503020204020204" charset="-122"/>
                  </a:rPr>
                  <a:t>赛题理解</a:t>
                </a:r>
                <a:endParaRPr lang="zh-CN" altLang="en-US" sz="2700" b="1" dirty="0">
                  <a:solidFill>
                    <a:schemeClr val="accent1"/>
                  </a:solidFill>
                  <a:latin typeface="微软雅黑" panose="020B0503020204020204" charset="-122"/>
                  <a:ea typeface="微软雅黑" panose="020B0503020204020204" charset="-122"/>
                </a:endParaRPr>
              </a:p>
            </p:txBody>
          </p:sp>
          <p:cxnSp>
            <p:nvCxnSpPr>
              <p:cNvPr id="28" name="直接连接符 27"/>
              <p:cNvCxnSpPr/>
              <p:nvPr>
                <p:custDataLst>
                  <p:tags r:id="rId7"/>
                </p:custDataLst>
              </p:nvPr>
            </p:nvCxnSpPr>
            <p:spPr>
              <a:xfrm>
                <a:off x="3419871" y="2312192"/>
                <a:ext cx="3791089"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6054" y="2228"/>
              <a:ext cx="1058" cy="1058"/>
              <a:chOff x="2996006" y="2016064"/>
              <a:chExt cx="504056" cy="504056"/>
            </a:xfrm>
          </p:grpSpPr>
          <p:sp>
            <p:nvSpPr>
              <p:cNvPr id="80" name="椭圆 79"/>
              <p:cNvSpPr/>
              <p:nvPr/>
            </p:nvSpPr>
            <p:spPr>
              <a:xfrm>
                <a:off x="2996006" y="2016064"/>
                <a:ext cx="504056" cy="5040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81" name="Group 61"/>
              <p:cNvGrpSpPr>
                <a:grpSpLocks noChangeAspect="1"/>
              </p:cNvGrpSpPr>
              <p:nvPr/>
            </p:nvGrpSpPr>
            <p:grpSpPr bwMode="auto">
              <a:xfrm>
                <a:off x="3044923" y="2064981"/>
                <a:ext cx="406222" cy="406222"/>
                <a:chOff x="569" y="2009"/>
                <a:chExt cx="687" cy="687"/>
              </a:xfrm>
            </p:grpSpPr>
            <p:sp>
              <p:nvSpPr>
                <p:cNvPr id="82"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83"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84"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85"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86"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grpSp>
        </p:grpSp>
      </p:grpSp>
      <p:grpSp>
        <p:nvGrpSpPr>
          <p:cNvPr id="45" name="组合 44"/>
          <p:cNvGrpSpPr/>
          <p:nvPr>
            <p:custDataLst>
              <p:tags r:id="rId8"/>
            </p:custDataLst>
          </p:nvPr>
        </p:nvGrpSpPr>
        <p:grpSpPr>
          <a:xfrm>
            <a:off x="5375910" y="3618230"/>
            <a:ext cx="6191250" cy="724535"/>
            <a:chOff x="6048" y="6321"/>
            <a:chExt cx="9750" cy="1141"/>
          </a:xfrm>
        </p:grpSpPr>
        <p:grpSp>
          <p:nvGrpSpPr>
            <p:cNvPr id="59" name="组合 58"/>
            <p:cNvGrpSpPr/>
            <p:nvPr/>
          </p:nvGrpSpPr>
          <p:grpSpPr>
            <a:xfrm>
              <a:off x="7618" y="6460"/>
              <a:ext cx="8180" cy="1003"/>
              <a:chOff x="3303678" y="2574743"/>
              <a:chExt cx="3907283" cy="511129"/>
            </a:xfrm>
          </p:grpSpPr>
          <p:sp>
            <p:nvSpPr>
              <p:cNvPr id="60" name="TextBox 47"/>
              <p:cNvSpPr txBox="1"/>
              <p:nvPr>
                <p:custDataLst>
                  <p:tags r:id="rId9"/>
                </p:custDataLst>
              </p:nvPr>
            </p:nvSpPr>
            <p:spPr>
              <a:xfrm>
                <a:off x="3303678" y="2574743"/>
                <a:ext cx="3140530" cy="406661"/>
              </a:xfrm>
              <a:prstGeom prst="rect">
                <a:avLst/>
              </a:prstGeom>
              <a:noFill/>
            </p:spPr>
            <p:txBody>
              <a:bodyPr wrap="square" rtlCol="0">
                <a:spAutoFit/>
              </a:bodyPr>
              <a:lstStyle/>
              <a:p>
                <a:r>
                  <a:rPr lang="zh-CN" altLang="en-US" sz="2700" b="1" dirty="0">
                    <a:solidFill>
                      <a:schemeClr val="accent1"/>
                    </a:solidFill>
                    <a:latin typeface="微软雅黑" panose="020B0503020204020204" charset="-122"/>
                    <a:ea typeface="微软雅黑" panose="020B0503020204020204" charset="-122"/>
                  </a:rPr>
                  <a:t>关键技术点</a:t>
                </a:r>
                <a:r>
                  <a:rPr lang="en-US" altLang="zh-CN" sz="2700" b="1" dirty="0">
                    <a:solidFill>
                      <a:schemeClr val="accent1"/>
                    </a:solidFill>
                    <a:latin typeface="微软雅黑" panose="020B0503020204020204" charset="-122"/>
                    <a:ea typeface="微软雅黑" panose="020B0503020204020204" charset="-122"/>
                  </a:rPr>
                  <a:t> &amp; </a:t>
                </a:r>
                <a:r>
                  <a:rPr lang="zh-CN" altLang="en-US" sz="2700" b="1" dirty="0">
                    <a:solidFill>
                      <a:schemeClr val="accent1"/>
                    </a:solidFill>
                    <a:latin typeface="微软雅黑" panose="020B0503020204020204" charset="-122"/>
                    <a:ea typeface="微软雅黑" panose="020B0503020204020204" charset="-122"/>
                  </a:rPr>
                  <a:t>创新</a:t>
                </a:r>
                <a:endParaRPr lang="zh-CN" altLang="en-US" sz="2700" b="1" dirty="0">
                  <a:solidFill>
                    <a:schemeClr val="accent1"/>
                  </a:solidFill>
                  <a:latin typeface="微软雅黑" panose="020B0503020204020204" charset="-122"/>
                  <a:ea typeface="微软雅黑" panose="020B0503020204020204" charset="-122"/>
                </a:endParaRPr>
              </a:p>
            </p:txBody>
          </p:sp>
          <p:cxnSp>
            <p:nvCxnSpPr>
              <p:cNvPr id="61" name="直接连接符 60"/>
              <p:cNvCxnSpPr/>
              <p:nvPr>
                <p:custDataLst>
                  <p:tags r:id="rId10"/>
                </p:custDataLst>
              </p:nvPr>
            </p:nvCxnSpPr>
            <p:spPr>
              <a:xfrm flipV="1">
                <a:off x="3419872" y="3085872"/>
                <a:ext cx="3791089"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6048" y="6321"/>
              <a:ext cx="1058" cy="1058"/>
              <a:chOff x="2996006" y="2016064"/>
              <a:chExt cx="504056" cy="504056"/>
            </a:xfrm>
          </p:grpSpPr>
          <p:sp>
            <p:nvSpPr>
              <p:cNvPr id="96" name="椭圆 95"/>
              <p:cNvSpPr/>
              <p:nvPr/>
            </p:nvSpPr>
            <p:spPr>
              <a:xfrm>
                <a:off x="2996006" y="2016064"/>
                <a:ext cx="504056" cy="5040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97" name="Group 61"/>
              <p:cNvGrpSpPr>
                <a:grpSpLocks noChangeAspect="1"/>
              </p:cNvGrpSpPr>
              <p:nvPr/>
            </p:nvGrpSpPr>
            <p:grpSpPr bwMode="auto">
              <a:xfrm>
                <a:off x="3044923" y="2064981"/>
                <a:ext cx="406222" cy="406222"/>
                <a:chOff x="569" y="2009"/>
                <a:chExt cx="687" cy="687"/>
              </a:xfrm>
            </p:grpSpPr>
            <p:sp>
              <p:nvSpPr>
                <p:cNvPr id="98"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99"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100"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101"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102"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grpSp>
        </p:grpSp>
      </p:grpSp>
      <p:grpSp>
        <p:nvGrpSpPr>
          <p:cNvPr id="46" name="组合 45"/>
          <p:cNvGrpSpPr/>
          <p:nvPr>
            <p:custDataLst>
              <p:tags r:id="rId11"/>
            </p:custDataLst>
          </p:nvPr>
        </p:nvGrpSpPr>
        <p:grpSpPr>
          <a:xfrm>
            <a:off x="5375618" y="2744861"/>
            <a:ext cx="8020342" cy="672075"/>
            <a:chOff x="6054" y="4909"/>
            <a:chExt cx="12630" cy="1058"/>
          </a:xfrm>
        </p:grpSpPr>
        <p:grpSp>
          <p:nvGrpSpPr>
            <p:cNvPr id="15" name="组合 14"/>
            <p:cNvGrpSpPr/>
            <p:nvPr/>
          </p:nvGrpSpPr>
          <p:grpSpPr>
            <a:xfrm>
              <a:off x="7506" y="4933"/>
              <a:ext cx="8180" cy="1034"/>
              <a:chOff x="3303678" y="2574743"/>
              <a:chExt cx="3907283" cy="527163"/>
            </a:xfrm>
          </p:grpSpPr>
          <p:sp>
            <p:nvSpPr>
              <p:cNvPr id="16" name="TextBox 47"/>
              <p:cNvSpPr txBox="1"/>
              <p:nvPr/>
            </p:nvSpPr>
            <p:spPr>
              <a:xfrm>
                <a:off x="3303678" y="2574743"/>
                <a:ext cx="3140530" cy="406696"/>
              </a:xfrm>
              <a:prstGeom prst="rect">
                <a:avLst/>
              </a:prstGeom>
              <a:noFill/>
            </p:spPr>
            <p:txBody>
              <a:bodyPr wrap="square" rtlCol="0">
                <a:spAutoFit/>
              </a:bodyPr>
              <a:lstStyle/>
              <a:p>
                <a:endParaRPr lang="zh-CN" altLang="en-US" sz="2700" b="1" dirty="0">
                  <a:solidFill>
                    <a:schemeClr val="accent1"/>
                  </a:solidFill>
                  <a:latin typeface="微软雅黑" panose="020B0503020204020204" charset="-122"/>
                  <a:ea typeface="微软雅黑" panose="020B0503020204020204" charset="-122"/>
                </a:endParaRPr>
              </a:p>
            </p:txBody>
          </p:sp>
          <p:cxnSp>
            <p:nvCxnSpPr>
              <p:cNvPr id="18" name="直接连接符 17"/>
              <p:cNvCxnSpPr/>
              <p:nvPr>
                <p:custDataLst>
                  <p:tags r:id="rId12"/>
                </p:custDataLst>
              </p:nvPr>
            </p:nvCxnSpPr>
            <p:spPr>
              <a:xfrm flipV="1">
                <a:off x="3419872" y="3101906"/>
                <a:ext cx="3791089"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6054" y="4909"/>
              <a:ext cx="1058" cy="1058"/>
              <a:chOff x="2996006" y="2016064"/>
              <a:chExt cx="504056" cy="504056"/>
            </a:xfrm>
          </p:grpSpPr>
          <p:sp>
            <p:nvSpPr>
              <p:cNvPr id="88" name="椭圆 87"/>
              <p:cNvSpPr/>
              <p:nvPr/>
            </p:nvSpPr>
            <p:spPr>
              <a:xfrm>
                <a:off x="2996006" y="2016064"/>
                <a:ext cx="504056" cy="5040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89" name="Group 61"/>
              <p:cNvGrpSpPr>
                <a:grpSpLocks noChangeAspect="1"/>
              </p:cNvGrpSpPr>
              <p:nvPr/>
            </p:nvGrpSpPr>
            <p:grpSpPr bwMode="auto">
              <a:xfrm>
                <a:off x="3044923" y="2064981"/>
                <a:ext cx="406222" cy="406222"/>
                <a:chOff x="569" y="2009"/>
                <a:chExt cx="687" cy="687"/>
              </a:xfrm>
            </p:grpSpPr>
            <p:sp>
              <p:nvSpPr>
                <p:cNvPr id="90"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91"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92"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93"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sp>
              <p:nvSpPr>
                <p:cNvPr id="94"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endParaRPr>
                </a:p>
              </p:txBody>
            </p:sp>
          </p:grpSp>
        </p:grpSp>
        <p:sp>
          <p:nvSpPr>
            <p:cNvPr id="103" name="TextBox 11"/>
            <p:cNvSpPr txBox="1"/>
            <p:nvPr>
              <p:custDataLst>
                <p:tags r:id="rId13"/>
              </p:custDataLst>
            </p:nvPr>
          </p:nvSpPr>
          <p:spPr>
            <a:xfrm>
              <a:off x="7584" y="5049"/>
              <a:ext cx="11100" cy="798"/>
            </a:xfrm>
            <a:prstGeom prst="rect">
              <a:avLst/>
            </a:prstGeom>
            <a:noFill/>
          </p:spPr>
          <p:txBody>
            <a:bodyPr wrap="square" rtlCol="0">
              <a:spAutoFit/>
            </a:bodyPr>
            <a:lstStyle/>
            <a:p>
              <a:r>
                <a:rPr lang="zh-CN" altLang="en-US" sz="2700" b="1" dirty="0">
                  <a:solidFill>
                    <a:schemeClr val="accent1"/>
                  </a:solidFill>
                  <a:latin typeface="微软雅黑" panose="020B0503020204020204" charset="-122"/>
                  <a:ea typeface="微软雅黑" panose="020B0503020204020204" charset="-122"/>
                </a:rPr>
                <a:t>训练</a:t>
              </a:r>
              <a:r>
                <a:rPr lang="en-US" altLang="zh-CN" sz="2700" b="1" dirty="0">
                  <a:solidFill>
                    <a:schemeClr val="accent1"/>
                  </a:solidFill>
                  <a:latin typeface="微软雅黑" panose="020B0503020204020204" charset="-122"/>
                  <a:ea typeface="微软雅黑" panose="020B0503020204020204" charset="-122"/>
                </a:rPr>
                <a:t>&amp;</a:t>
              </a:r>
              <a:r>
                <a:rPr lang="zh-CN" altLang="en-US" sz="2700" b="1" dirty="0">
                  <a:solidFill>
                    <a:schemeClr val="accent1"/>
                  </a:solidFill>
                  <a:latin typeface="微软雅黑" panose="020B0503020204020204" charset="-122"/>
                  <a:ea typeface="微软雅黑" panose="020B0503020204020204" charset="-122"/>
                </a:rPr>
                <a:t>效果</a:t>
              </a:r>
              <a:endParaRPr lang="zh-CN" altLang="en-US" sz="2700" b="1" dirty="0">
                <a:solidFill>
                  <a:schemeClr val="accent1"/>
                </a:solidFill>
                <a:latin typeface="微软雅黑" panose="020B0503020204020204" charset="-122"/>
                <a:ea typeface="微软雅黑" panose="020B0503020204020204" charset="-122"/>
              </a:endParaRPr>
            </a:p>
          </p:txBody>
        </p:sp>
      </p:grpSp>
      <p:grpSp>
        <p:nvGrpSpPr>
          <p:cNvPr id="43" name="组合 42"/>
          <p:cNvGrpSpPr/>
          <p:nvPr>
            <p:custDataLst>
              <p:tags r:id="rId14"/>
            </p:custDataLst>
          </p:nvPr>
        </p:nvGrpSpPr>
        <p:grpSpPr>
          <a:xfrm>
            <a:off x="5375910" y="5417185"/>
            <a:ext cx="6191250" cy="724535"/>
            <a:chOff x="6048" y="9217"/>
            <a:chExt cx="9750" cy="1141"/>
          </a:xfrm>
        </p:grpSpPr>
        <p:grpSp>
          <p:nvGrpSpPr>
            <p:cNvPr id="11" name="组合 10"/>
            <p:cNvGrpSpPr/>
            <p:nvPr/>
          </p:nvGrpSpPr>
          <p:grpSpPr>
            <a:xfrm>
              <a:off x="7618" y="9356"/>
              <a:ext cx="8180" cy="1003"/>
              <a:chOff x="3303678" y="2574743"/>
              <a:chExt cx="3907283" cy="511129"/>
            </a:xfrm>
          </p:grpSpPr>
          <p:sp>
            <p:nvSpPr>
              <p:cNvPr id="12" name="TextBox 47"/>
              <p:cNvSpPr txBox="1"/>
              <p:nvPr>
                <p:custDataLst>
                  <p:tags r:id="rId15"/>
                </p:custDataLst>
              </p:nvPr>
            </p:nvSpPr>
            <p:spPr>
              <a:xfrm>
                <a:off x="3303678" y="2574743"/>
                <a:ext cx="3140530" cy="406661"/>
              </a:xfrm>
              <a:prstGeom prst="rect">
                <a:avLst/>
              </a:prstGeom>
              <a:noFill/>
            </p:spPr>
            <p:txBody>
              <a:bodyPr wrap="square" rtlCol="0">
                <a:spAutoFit/>
              </a:bodyPr>
              <a:p>
                <a:r>
                  <a:rPr lang="zh-CN" altLang="en-US" sz="2700" b="1" dirty="0">
                    <a:solidFill>
                      <a:schemeClr val="accent1"/>
                    </a:solidFill>
                    <a:latin typeface="微软雅黑" panose="020B0503020204020204" charset="-122"/>
                    <a:ea typeface="微软雅黑" panose="020B0503020204020204" charset="-122"/>
                  </a:rPr>
                  <a:t>结论</a:t>
                </a:r>
                <a:r>
                  <a:rPr lang="en-US" altLang="zh-CN" sz="2700" b="1" dirty="0">
                    <a:solidFill>
                      <a:schemeClr val="accent1"/>
                    </a:solidFill>
                    <a:latin typeface="微软雅黑" panose="020B0503020204020204" charset="-122"/>
                    <a:ea typeface="微软雅黑" panose="020B0503020204020204" charset="-122"/>
                  </a:rPr>
                  <a:t> &amp; </a:t>
                </a:r>
                <a:r>
                  <a:rPr lang="zh-CN" altLang="en-US" sz="2700" b="1" dirty="0">
                    <a:solidFill>
                      <a:schemeClr val="accent1"/>
                    </a:solidFill>
                    <a:latin typeface="微软雅黑" panose="020B0503020204020204" charset="-122"/>
                    <a:ea typeface="微软雅黑" panose="020B0503020204020204" charset="-122"/>
                  </a:rPr>
                  <a:t>展望</a:t>
                </a:r>
                <a:endParaRPr lang="zh-CN" altLang="en-US" sz="2700" b="1" dirty="0">
                  <a:solidFill>
                    <a:schemeClr val="accent1"/>
                  </a:solidFill>
                  <a:latin typeface="微软雅黑" panose="020B0503020204020204" charset="-122"/>
                  <a:ea typeface="微软雅黑" panose="020B0503020204020204" charset="-122"/>
                </a:endParaRPr>
              </a:p>
            </p:txBody>
          </p:sp>
          <p:cxnSp>
            <p:nvCxnSpPr>
              <p:cNvPr id="13" name="直接连接符 12"/>
              <p:cNvCxnSpPr/>
              <p:nvPr>
                <p:custDataLst>
                  <p:tags r:id="rId16"/>
                </p:custDataLst>
              </p:nvPr>
            </p:nvCxnSpPr>
            <p:spPr>
              <a:xfrm flipV="1">
                <a:off x="3419872" y="3085872"/>
                <a:ext cx="3791089"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6048" y="9217"/>
              <a:ext cx="1058" cy="1058"/>
              <a:chOff x="2996006" y="2016064"/>
              <a:chExt cx="504056" cy="504056"/>
            </a:xfrm>
          </p:grpSpPr>
          <p:sp>
            <p:nvSpPr>
              <p:cNvPr id="35" name="椭圆 34"/>
              <p:cNvSpPr/>
              <p:nvPr/>
            </p:nvSpPr>
            <p:spPr>
              <a:xfrm>
                <a:off x="2996006" y="2016064"/>
                <a:ext cx="504056" cy="5040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nvGrpSpPr>
              <p:cNvPr id="36" name="Group 61"/>
              <p:cNvGrpSpPr>
                <a:grpSpLocks noChangeAspect="1"/>
              </p:cNvGrpSpPr>
              <p:nvPr/>
            </p:nvGrpSpPr>
            <p:grpSpPr bwMode="auto">
              <a:xfrm>
                <a:off x="3044923" y="2064981"/>
                <a:ext cx="406222" cy="406222"/>
                <a:chOff x="569" y="2009"/>
                <a:chExt cx="687" cy="687"/>
              </a:xfrm>
            </p:grpSpPr>
            <p:sp>
              <p:nvSpPr>
                <p:cNvPr id="37"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38"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39"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40"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41"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grpSp>
        </p:grpSp>
      </p:grpSp>
      <p:grpSp>
        <p:nvGrpSpPr>
          <p:cNvPr id="44" name="组合 43"/>
          <p:cNvGrpSpPr/>
          <p:nvPr>
            <p:custDataLst>
              <p:tags r:id="rId17"/>
            </p:custDataLst>
          </p:nvPr>
        </p:nvGrpSpPr>
        <p:grpSpPr>
          <a:xfrm>
            <a:off x="5375618" y="4543816"/>
            <a:ext cx="8020342" cy="672075"/>
            <a:chOff x="6054" y="7805"/>
            <a:chExt cx="12630" cy="1058"/>
          </a:xfrm>
        </p:grpSpPr>
        <p:grpSp>
          <p:nvGrpSpPr>
            <p:cNvPr id="8" name="组合 7"/>
            <p:cNvGrpSpPr/>
            <p:nvPr/>
          </p:nvGrpSpPr>
          <p:grpSpPr>
            <a:xfrm>
              <a:off x="7506" y="7829"/>
              <a:ext cx="8180" cy="1034"/>
              <a:chOff x="3303678" y="2574743"/>
              <a:chExt cx="3907283" cy="527163"/>
            </a:xfrm>
          </p:grpSpPr>
          <p:sp>
            <p:nvSpPr>
              <p:cNvPr id="9" name="TextBox 47"/>
              <p:cNvSpPr txBox="1"/>
              <p:nvPr/>
            </p:nvSpPr>
            <p:spPr>
              <a:xfrm>
                <a:off x="3303678" y="2574743"/>
                <a:ext cx="3140530" cy="406696"/>
              </a:xfrm>
              <a:prstGeom prst="rect">
                <a:avLst/>
              </a:prstGeom>
              <a:noFill/>
            </p:spPr>
            <p:txBody>
              <a:bodyPr wrap="square" rtlCol="0">
                <a:spAutoFit/>
              </a:bodyPr>
              <a:p>
                <a:endParaRPr lang="zh-CN" altLang="en-US" sz="2700" b="1" dirty="0">
                  <a:solidFill>
                    <a:schemeClr val="accent1"/>
                  </a:solidFill>
                  <a:latin typeface="微软雅黑" panose="020B0503020204020204" charset="-122"/>
                  <a:ea typeface="微软雅黑" panose="020B0503020204020204" charset="-122"/>
                </a:endParaRPr>
              </a:p>
            </p:txBody>
          </p:sp>
          <p:cxnSp>
            <p:nvCxnSpPr>
              <p:cNvPr id="10" name="直接连接符 9"/>
              <p:cNvCxnSpPr/>
              <p:nvPr>
                <p:custDataLst>
                  <p:tags r:id="rId18"/>
                </p:custDataLst>
              </p:nvPr>
            </p:nvCxnSpPr>
            <p:spPr>
              <a:xfrm flipV="1">
                <a:off x="3419872" y="3101906"/>
                <a:ext cx="3791089"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054" y="7805"/>
              <a:ext cx="1058" cy="1058"/>
              <a:chOff x="2996006" y="2016064"/>
              <a:chExt cx="504056" cy="504056"/>
            </a:xfrm>
          </p:grpSpPr>
          <p:sp>
            <p:nvSpPr>
              <p:cNvPr id="20" name="椭圆 19"/>
              <p:cNvSpPr/>
              <p:nvPr/>
            </p:nvSpPr>
            <p:spPr>
              <a:xfrm>
                <a:off x="2996006" y="2016064"/>
                <a:ext cx="504056" cy="5040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nvGrpSpPr>
              <p:cNvPr id="21" name="Group 61"/>
              <p:cNvGrpSpPr>
                <a:grpSpLocks noChangeAspect="1"/>
              </p:cNvGrpSpPr>
              <p:nvPr/>
            </p:nvGrpSpPr>
            <p:grpSpPr bwMode="auto">
              <a:xfrm>
                <a:off x="3044923" y="2064981"/>
                <a:ext cx="406222" cy="406222"/>
                <a:chOff x="569" y="2009"/>
                <a:chExt cx="687" cy="687"/>
              </a:xfrm>
            </p:grpSpPr>
            <p:sp>
              <p:nvSpPr>
                <p:cNvPr id="22"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23"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25"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32"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sp>
              <p:nvSpPr>
                <p:cNvPr id="33"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微软雅黑" panose="020B0503020204020204" charset="-122"/>
                    <a:ea typeface="微软雅黑" panose="020B0503020204020204" charset="-122"/>
                  </a:endParaRPr>
                </a:p>
              </p:txBody>
            </p:sp>
          </p:grpSp>
        </p:grpSp>
        <p:sp>
          <p:nvSpPr>
            <p:cNvPr id="42" name="TextBox 11"/>
            <p:cNvSpPr txBox="1"/>
            <p:nvPr>
              <p:custDataLst>
                <p:tags r:id="rId19"/>
              </p:custDataLst>
            </p:nvPr>
          </p:nvSpPr>
          <p:spPr>
            <a:xfrm>
              <a:off x="7584" y="7945"/>
              <a:ext cx="11100" cy="798"/>
            </a:xfrm>
            <a:prstGeom prst="rect">
              <a:avLst/>
            </a:prstGeom>
            <a:noFill/>
          </p:spPr>
          <p:txBody>
            <a:bodyPr wrap="square" rtlCol="0">
              <a:spAutoFit/>
            </a:bodyPr>
            <a:p>
              <a:r>
                <a:rPr lang="zh-CN" altLang="en-US" sz="2700" b="1" dirty="0">
                  <a:solidFill>
                    <a:schemeClr val="accent1"/>
                  </a:solidFill>
                  <a:latin typeface="微软雅黑" panose="020B0503020204020204" charset="-122"/>
                  <a:ea typeface="微软雅黑" panose="020B0503020204020204" charset="-122"/>
                </a:rPr>
                <a:t>资源、进度与</a:t>
              </a:r>
              <a:r>
                <a:rPr lang="zh-CN" altLang="en-US" sz="2700" b="1" dirty="0">
                  <a:solidFill>
                    <a:schemeClr val="accent1"/>
                  </a:solidFill>
                  <a:latin typeface="微软雅黑" panose="020B0503020204020204" charset="-122"/>
                  <a:ea typeface="微软雅黑" panose="020B0503020204020204" charset="-122"/>
                </a:rPr>
                <a:t>风控</a:t>
              </a:r>
              <a:endParaRPr lang="zh-CN" altLang="en-US" sz="2700" b="1" dirty="0">
                <a:solidFill>
                  <a:schemeClr val="accent1"/>
                </a:solidFill>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mc:Choice>
    <mc:Fallback>
      <p:transition spd="med"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2212975" y="0"/>
            <a:ext cx="168211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赛题理解</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11517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grpSp>
        <p:nvGrpSpPr>
          <p:cNvPr id="30" name="组合 29"/>
          <p:cNvGrpSpPr/>
          <p:nvPr/>
        </p:nvGrpSpPr>
        <p:grpSpPr>
          <a:xfrm>
            <a:off x="591185" y="1598930"/>
            <a:ext cx="11132185" cy="4274185"/>
            <a:chOff x="490" y="1661"/>
            <a:chExt cx="18200" cy="7588"/>
          </a:xfrm>
        </p:grpSpPr>
        <p:sp>
          <p:nvSpPr>
            <p:cNvPr id="11" name="矩形 10"/>
            <p:cNvSpPr/>
            <p:nvPr/>
          </p:nvSpPr>
          <p:spPr>
            <a:xfrm>
              <a:off x="490" y="2087"/>
              <a:ext cx="18200" cy="7162"/>
            </a:xfrm>
            <a:prstGeom prst="rect">
              <a:avLst/>
            </a:prstGeom>
            <a:solidFill>
              <a:schemeClr val="bg2"/>
            </a:solidFill>
            <a:ln w="0">
              <a:solidFill>
                <a:schemeClr val="tx1">
                  <a:lumMod val="50000"/>
                  <a:lumOff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标题"/>
            <p:cNvSpPr/>
            <p:nvPr>
              <p:custDataLst>
                <p:tags r:id="rId1"/>
              </p:custDataLst>
            </p:nvPr>
          </p:nvSpPr>
          <p:spPr>
            <a:xfrm>
              <a:off x="5588" y="1661"/>
              <a:ext cx="8624" cy="920"/>
            </a:xfrm>
            <a:prstGeom prst="roundRect">
              <a:avLst>
                <a:gd name="adj" fmla="val 14333"/>
              </a:avLst>
            </a:prstGeom>
            <a:gradFill flip="none">
              <a:gsLst>
                <a:gs pos="50000">
                  <a:schemeClr val="accent1"/>
                </a:gs>
                <a:gs pos="0">
                  <a:schemeClr val="accent1">
                    <a:lumMod val="25000"/>
                    <a:lumOff val="75000"/>
                  </a:schemeClr>
                </a:gs>
                <a:gs pos="100000">
                  <a:schemeClr val="accent1">
                    <a:lumMod val="85000"/>
                  </a:schemeClr>
                </a:gs>
              </a:gsLst>
              <a:lin ang="10380000" scaled="1"/>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摘要</a:t>
              </a:r>
              <a:endParaRPr lang="zh-CN" altLang="en-US" sz="28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endParaRPr>
            </a:p>
          </p:txBody>
        </p:sp>
        <p:sp>
          <p:nvSpPr>
            <p:cNvPr id="38" name="矩形"/>
            <p:cNvSpPr/>
            <p:nvPr/>
          </p:nvSpPr>
          <p:spPr>
            <a:xfrm>
              <a:off x="861" y="2905"/>
              <a:ext cx="17491" cy="1570"/>
            </a:xfrm>
            <a:prstGeom prst="rect">
              <a:avLst/>
            </a:prstGeom>
            <a:noFill/>
            <a:ln w="12700" cap="flat" cmpd="sng">
              <a:noFill/>
              <a:prstDash val="solid"/>
              <a:miter/>
            </a:ln>
          </p:spPr>
          <p:txBody>
            <a:bodyPr vert="horz" wrap="square" lIns="91440" tIns="45720" rIns="91440" bIns="45720" anchor="t" anchorCtr="0"/>
            <a:lstStyle/>
            <a:p>
              <a:pPr marL="0" indent="0" algn="l">
                <a:lnSpc>
                  <a:spcPct val="150000"/>
                </a:lnSpc>
                <a:spcBef>
                  <a:spcPts val="0"/>
                </a:spcBef>
                <a:spcAft>
                  <a:spcPts val="0"/>
                </a:spcAft>
                <a:buNone/>
              </a:pPr>
              <a:endParaRPr lang="en-US" altLang="zh-CN" sz="2000" b="0"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1379" y="3115"/>
              <a:ext cx="16627" cy="4533"/>
            </a:xfrm>
            <a:prstGeom prst="rect">
              <a:avLst/>
            </a:prstGeom>
            <a:noFill/>
          </p:spPr>
          <p:txBody>
            <a:bodyPr wrap="square" rtlCol="0">
              <a:spAutoFit/>
            </a:bodyPr>
            <a:p>
              <a:pPr algn="just">
                <a:lnSpc>
                  <a:spcPct val="200000"/>
                </a:lnSpc>
              </a:pPr>
              <a:r>
                <a:rPr lang="zh-CN" altLang="en-US" sz="2000">
                  <a:latin typeface="微软雅黑" panose="020B0503020204020204" charset="-122"/>
                  <a:ea typeface="微软雅黑" panose="020B0503020204020204" charset="-122"/>
                  <a:cs typeface="微软雅黑" panose="020B0503020204020204" charset="-122"/>
                </a:rPr>
                <a:t>在本次决赛中，浅试团队基于</a:t>
              </a:r>
              <a:r>
                <a:rPr lang="en-US" altLang="zh-CN" sz="2000">
                  <a:latin typeface="微软雅黑" panose="020B0503020204020204" charset="-122"/>
                  <a:ea typeface="微软雅黑" panose="020B0503020204020204" charset="-122"/>
                  <a:cs typeface="微软雅黑" panose="020B0503020204020204" charset="-122"/>
                </a:rPr>
                <a:t>RoboBrain2.0-7B</a:t>
              </a:r>
              <a:r>
                <a:rPr lang="zh-CN" altLang="en-US" sz="2000">
                  <a:latin typeface="微软雅黑" panose="020B0503020204020204" charset="-122"/>
                  <a:ea typeface="微软雅黑" panose="020B0503020204020204" charset="-122"/>
                  <a:cs typeface="微软雅黑" panose="020B0503020204020204" charset="-122"/>
                </a:rPr>
                <a:t>模型，结合</a:t>
              </a:r>
              <a:r>
                <a:rPr lang="en-US" altLang="zh-CN" sz="2000">
                  <a:latin typeface="微软雅黑" panose="020B0503020204020204" charset="-122"/>
                  <a:ea typeface="微软雅黑" panose="020B0503020204020204" charset="-122"/>
                  <a:cs typeface="微软雅黑" panose="020B0503020204020204" charset="-122"/>
                </a:rPr>
                <a:t>Qwen3-VL</a:t>
              </a:r>
              <a:r>
                <a:rPr lang="zh-CN" altLang="en-US" sz="2000">
                  <a:latin typeface="微软雅黑" panose="020B0503020204020204" charset="-122"/>
                  <a:ea typeface="微软雅黑" panose="020B0503020204020204" charset="-122"/>
                  <a:cs typeface="微软雅黑" panose="020B0503020204020204" charset="-122"/>
                </a:rPr>
                <a:t>的训练框架，在</a:t>
              </a:r>
              <a:r>
                <a:rPr lang="en-US" altLang="zh-CN" sz="2000">
                  <a:latin typeface="微软雅黑" panose="020B0503020204020204" charset="-122"/>
                  <a:ea typeface="微软雅黑" panose="020B0503020204020204" charset="-122"/>
                  <a:cs typeface="微软雅黑" panose="020B0503020204020204" charset="-122"/>
                </a:rPr>
                <a:t>14</a:t>
              </a:r>
              <a:r>
                <a:rPr lang="zh-CN" altLang="en-US" sz="2000">
                  <a:latin typeface="微软雅黑" panose="020B0503020204020204" charset="-122"/>
                  <a:ea typeface="微软雅黑" panose="020B0503020204020204" charset="-122"/>
                  <a:cs typeface="微软雅黑" panose="020B0503020204020204" charset="-122"/>
                </a:rPr>
                <a:t>天的周期内实现了</a:t>
              </a:r>
              <a:r>
                <a:rPr lang="en-US" altLang="zh-CN" sz="2000">
                  <a:latin typeface="微软雅黑" panose="020B0503020204020204" charset="-122"/>
                  <a:ea typeface="微软雅黑" panose="020B0503020204020204" charset="-122"/>
                  <a:cs typeface="微软雅黑" panose="020B0503020204020204" charset="-122"/>
                </a:rPr>
                <a:t>SFT(+</a:t>
              </a:r>
              <a:r>
                <a:rPr lang="zh-CN" altLang="en-US" sz="2000">
                  <a:latin typeface="微软雅黑" panose="020B0503020204020204" charset="-122"/>
                  <a:ea typeface="微软雅黑" panose="020B0503020204020204" charset="-122"/>
                  <a:cs typeface="微软雅黑" panose="020B0503020204020204" charset="-122"/>
                </a:rPr>
                <a:t>结构化</a:t>
              </a:r>
              <a:r>
                <a:rPr lang="en-US" altLang="zh-CN" sz="2000">
                  <a:latin typeface="微软雅黑" panose="020B0503020204020204" charset="-122"/>
                  <a:ea typeface="微软雅黑" panose="020B0503020204020204" charset="-122"/>
                  <a:cs typeface="微软雅黑" panose="020B0503020204020204" charset="-122"/>
                </a:rPr>
                <a:t>CoT) </a:t>
              </a:r>
              <a:r>
                <a:rPr lang="en-US"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 DPO</a:t>
              </a:r>
              <a:r>
                <a:rPr lang="zh-CN" altLang="en-US" sz="2000">
                  <a:latin typeface="微软雅黑" panose="020B0503020204020204" charset="-122"/>
                  <a:ea typeface="微软雅黑" panose="020B0503020204020204" charset="-122"/>
                  <a:cs typeface="微软雅黑" panose="020B0503020204020204" charset="-122"/>
                </a:rPr>
                <a:t>的训练，并在空间理解、场景理解、基础空间和数量理解等指标上取得了显著的提升。基于</a:t>
              </a:r>
              <a:r>
                <a:rPr lang="en-US" altLang="zh-CN" sz="2000">
                  <a:latin typeface="微软雅黑" panose="020B0503020204020204" charset="-122"/>
                  <a:ea typeface="微软雅黑" panose="020B0503020204020204" charset="-122"/>
                  <a:cs typeface="微软雅黑" panose="020B0503020204020204" charset="-122"/>
                </a:rPr>
                <a:t>ShareRobot</a:t>
              </a:r>
              <a:r>
                <a:rPr lang="zh-CN"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Ego4D</a:t>
              </a:r>
              <a:r>
                <a:rPr lang="zh-CN"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EPIC-KITCHENS</a:t>
              </a:r>
              <a:r>
                <a:rPr lang="zh-CN"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LVIS</a:t>
              </a:r>
              <a:r>
                <a:rPr lang="zh-CN" altLang="en-US" sz="2000">
                  <a:latin typeface="微软雅黑" panose="020B0503020204020204" charset="-122"/>
                  <a:ea typeface="微软雅黑" panose="020B0503020204020204" charset="-122"/>
                  <a:cs typeface="微软雅黑" panose="020B0503020204020204" charset="-122"/>
                </a:rPr>
                <a:t>等数据集，本次训练重点突破了</a:t>
              </a:r>
              <a:r>
                <a:rPr lang="en-US" altLang="zh-CN" sz="2000">
                  <a:latin typeface="微软雅黑" panose="020B0503020204020204" charset="-122"/>
                  <a:ea typeface="微软雅黑" panose="020B0503020204020204" charset="-122"/>
                  <a:cs typeface="微软雅黑" panose="020B0503020204020204" charset="-122"/>
                </a:rPr>
                <a:t>7B</a:t>
              </a:r>
              <a:r>
                <a:rPr lang="zh-CN" altLang="en-US" sz="2000">
                  <a:latin typeface="微软雅黑" panose="020B0503020204020204" charset="-122"/>
                  <a:ea typeface="微软雅黑" panose="020B0503020204020204" charset="-122"/>
                  <a:cs typeface="微软雅黑" panose="020B0503020204020204" charset="-122"/>
                </a:rPr>
                <a:t>长链分段规划、结构化思维链和偏好</a:t>
              </a:r>
              <a:r>
                <a:rPr lang="zh-CN" altLang="en-US" sz="2000">
                  <a:latin typeface="微软雅黑" panose="020B0503020204020204" charset="-122"/>
                  <a:ea typeface="微软雅黑" panose="020B0503020204020204" charset="-122"/>
                  <a:cs typeface="微软雅黑" panose="020B0503020204020204" charset="-122"/>
                </a:rPr>
                <a:t>对齐等瓶颈。</a:t>
              </a:r>
              <a:endParaRPr lang="zh-CN" altLang="en-US" sz="2000">
                <a:latin typeface="微软雅黑" panose="020B0503020204020204" charset="-122"/>
                <a:ea typeface="微软雅黑" panose="020B0503020204020204" charset="-122"/>
                <a:cs typeface="微软雅黑" panose="020B0503020204020204" charset="-122"/>
              </a:endParaRPr>
            </a:p>
          </p:txBody>
        </p:sp>
      </p:grpSp>
      <p:pic>
        <p:nvPicPr>
          <p:cNvPr id="33" name="图片 32"/>
          <p:cNvPicPr/>
          <p:nvPr/>
        </p:nvPicPr>
        <p:blipFill>
          <a:blip r:embed="rId2"/>
          <a:srcRect t="31267" b="33250"/>
          <a:stretch>
            <a:fillRect/>
          </a:stretch>
        </p:blipFill>
        <p:spPr>
          <a:xfrm>
            <a:off x="-74930" y="107950"/>
            <a:ext cx="2213610" cy="5664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2212975" y="0"/>
            <a:ext cx="168211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赛题理解</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11517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grpSp>
        <p:nvGrpSpPr>
          <p:cNvPr id="12" name="组合 11"/>
          <p:cNvGrpSpPr/>
          <p:nvPr/>
        </p:nvGrpSpPr>
        <p:grpSpPr>
          <a:xfrm>
            <a:off x="568325" y="1437640"/>
            <a:ext cx="11036935" cy="4699000"/>
            <a:chOff x="1637" y="2568"/>
            <a:chExt cx="15926" cy="6780"/>
          </a:xfrm>
        </p:grpSpPr>
        <p:sp>
          <p:nvSpPr>
            <p:cNvPr id="13" name="矩形 12"/>
            <p:cNvSpPr/>
            <p:nvPr/>
          </p:nvSpPr>
          <p:spPr>
            <a:xfrm>
              <a:off x="1637" y="2568"/>
              <a:ext cx="15926" cy="2063"/>
            </a:xfrm>
            <a:prstGeom prst="rect">
              <a:avLst/>
            </a:prstGeom>
            <a:gradFill>
              <a:gsLst>
                <a:gs pos="50000">
                  <a:schemeClr val="accent2"/>
                </a:gs>
                <a:gs pos="0">
                  <a:schemeClr val="tx2">
                    <a:lumMod val="50000"/>
                    <a:lumOff val="50000"/>
                  </a:schemeClr>
                </a:gs>
                <a:gs pos="100000">
                  <a:schemeClr val="accent2">
                    <a:lumMod val="85000"/>
                  </a:schemeClr>
                </a:gs>
              </a:gsLst>
              <a:lin ang="11700000" scaled="0"/>
            </a:gradFill>
            <a:ln>
              <a:noFill/>
            </a:ln>
            <a:effectLst>
              <a:outerShdw blurRad="127000" dist="38100" dir="402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2814" y="4068"/>
              <a:ext cx="4615" cy="528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771" y="4068"/>
              <a:ext cx="4615" cy="528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292" y="4068"/>
              <a:ext cx="4615" cy="528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703" y="4199"/>
              <a:ext cx="2752" cy="664"/>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rPr>
                <a:t>空间推理</a:t>
              </a:r>
              <a:endParaRPr lang="zh-CN" altLang="en-US" sz="2400" b="1" dirty="0">
                <a:latin typeface="微软雅黑" panose="020B0503020204020204" charset="-122"/>
                <a:ea typeface="微软雅黑" panose="020B0503020204020204" charset="-122"/>
              </a:endParaRPr>
            </a:p>
          </p:txBody>
        </p:sp>
        <p:sp>
          <p:nvSpPr>
            <p:cNvPr id="19" name="文本框 18"/>
            <p:cNvSpPr txBox="1"/>
            <p:nvPr/>
          </p:nvSpPr>
          <p:spPr>
            <a:xfrm>
              <a:off x="14245" y="4188"/>
              <a:ext cx="3066" cy="664"/>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任务规划</a:t>
              </a:r>
              <a:endParaRPr lang="zh-CN" altLang="en-US" sz="2400" b="1" dirty="0">
                <a:latin typeface="微软雅黑" panose="020B0503020204020204" charset="-122"/>
                <a:ea typeface="微软雅黑" panose="020B0503020204020204" charset="-122"/>
              </a:endParaRPr>
            </a:p>
          </p:txBody>
        </p:sp>
        <p:sp>
          <p:nvSpPr>
            <p:cNvPr id="20" name="文本框 19"/>
            <p:cNvSpPr txBox="1"/>
            <p:nvPr/>
          </p:nvSpPr>
          <p:spPr>
            <a:xfrm>
              <a:off x="7933" y="4199"/>
              <a:ext cx="3378" cy="664"/>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rPr>
                <a:t>感知与预测</a:t>
              </a:r>
              <a:endParaRPr lang="zh-CN" altLang="en-US" sz="2400" b="1" dirty="0">
                <a:latin typeface="微软雅黑" panose="020B0503020204020204" charset="-122"/>
                <a:ea typeface="微软雅黑" panose="020B0503020204020204" charset="-122"/>
              </a:endParaRPr>
            </a:p>
          </p:txBody>
        </p:sp>
        <p:sp>
          <p:nvSpPr>
            <p:cNvPr id="21" name="文本框 20"/>
            <p:cNvSpPr txBox="1"/>
            <p:nvPr/>
          </p:nvSpPr>
          <p:spPr>
            <a:xfrm>
              <a:off x="1637" y="2655"/>
              <a:ext cx="15926" cy="1286"/>
            </a:xfrm>
            <a:prstGeom prst="rect">
              <a:avLst/>
            </a:prstGeom>
            <a:noFill/>
          </p:spPr>
          <p:txBody>
            <a:bodyPr wrap="square" rtlCol="0">
              <a:spAutoFit/>
            </a:bodyPr>
            <a:lstStyle/>
            <a:p>
              <a:pPr algn="ctr">
                <a:lnSpc>
                  <a:spcPct val="130000"/>
                </a:lnSpc>
              </a:pPr>
              <a:r>
                <a:rPr lang="en-US" altLang="zh-CN" sz="2000" b="1" dirty="0">
                  <a:solidFill>
                    <a:schemeClr val="bg1"/>
                  </a:solidFill>
                  <a:latin typeface="微软雅黑" panose="020B0503020204020204" charset="-122"/>
                  <a:ea typeface="微软雅黑" panose="020B0503020204020204" charset="-122"/>
                </a:rPr>
                <a:t>RoboBrain2.0</a:t>
              </a:r>
              <a:r>
                <a:rPr lang="zh-CN" altLang="en-US" sz="2000" b="1" dirty="0">
                  <a:solidFill>
                    <a:schemeClr val="bg1"/>
                  </a:solidFill>
                  <a:latin typeface="微软雅黑" panose="020B0503020204020204" charset="-122"/>
                  <a:ea typeface="微软雅黑" panose="020B0503020204020204" charset="-122"/>
                </a:rPr>
                <a:t>模型</a:t>
              </a:r>
              <a:r>
                <a:rPr lang="zh-CN" altLang="en-US" sz="2000" b="1" dirty="0">
                  <a:solidFill>
                    <a:schemeClr val="bg1"/>
                  </a:solidFill>
                  <a:latin typeface="微软雅黑" panose="020B0503020204020204" charset="-122"/>
                  <a:ea typeface="微软雅黑" panose="020B0503020204020204" charset="-122"/>
                </a:rPr>
                <a:t>面临的挑战为空间推理、感知、预测、规划。</a:t>
              </a:r>
              <a:endParaRPr lang="zh-CN" altLang="en-US" sz="2000" b="1" dirty="0">
                <a:solidFill>
                  <a:schemeClr val="bg1"/>
                </a:solidFill>
                <a:latin typeface="微软雅黑" panose="020B0503020204020204" charset="-122"/>
                <a:ea typeface="微软雅黑" panose="020B0503020204020204" charset="-122"/>
              </a:endParaRPr>
            </a:p>
            <a:p>
              <a:pPr algn="ctr">
                <a:lnSpc>
                  <a:spcPct val="130000"/>
                </a:lnSpc>
              </a:pPr>
              <a:r>
                <a:rPr lang="zh-CN" altLang="en-US" sz="2000" b="1" dirty="0">
                  <a:solidFill>
                    <a:schemeClr val="bg1"/>
                  </a:solidFill>
                  <a:latin typeface="微软雅黑" panose="020B0503020204020204" charset="-122"/>
                  <a:ea typeface="微软雅黑" panose="020B0503020204020204" charset="-122"/>
                </a:rPr>
                <a:t>具体来说，本次比赛我们对应的</a:t>
              </a:r>
              <a:r>
                <a:rPr lang="zh-CN" altLang="en-US" sz="2000" b="1" dirty="0">
                  <a:solidFill>
                    <a:schemeClr val="bg1"/>
                  </a:solidFill>
                  <a:latin typeface="微软雅黑" panose="020B0503020204020204" charset="-122"/>
                  <a:ea typeface="微软雅黑" panose="020B0503020204020204" charset="-122"/>
                </a:rPr>
                <a:t>做法是：</a:t>
              </a:r>
              <a:endParaRPr lang="zh-CN" altLang="en-US" sz="2000" b="1" dirty="0">
                <a:solidFill>
                  <a:schemeClr val="bg1"/>
                </a:solidFill>
                <a:latin typeface="微软雅黑" panose="020B0503020204020204" charset="-122"/>
                <a:ea typeface="微软雅黑" panose="020B0503020204020204" charset="-122"/>
              </a:endParaRPr>
            </a:p>
          </p:txBody>
        </p:sp>
        <p:sp>
          <p:nvSpPr>
            <p:cNvPr id="23" name="文本框 22"/>
            <p:cNvSpPr txBox="1"/>
            <p:nvPr/>
          </p:nvSpPr>
          <p:spPr>
            <a:xfrm>
              <a:off x="1771" y="5120"/>
              <a:ext cx="4615" cy="664"/>
            </a:xfrm>
            <a:prstGeom prst="rect">
              <a:avLst/>
            </a:prstGeom>
            <a:noFill/>
          </p:spPr>
          <p:txBody>
            <a:bodyPr wrap="square" rtlCol="0">
              <a:spAutoFit/>
            </a:bodyPr>
            <a:lstStyle/>
            <a:p>
              <a:pPr algn="just">
                <a:lnSpc>
                  <a:spcPct val="150000"/>
                </a:lnSpc>
              </a:pPr>
              <a:endParaRPr lang="zh-CN" altLang="en-US" sz="1600" b="1" dirty="0">
                <a:solidFill>
                  <a:schemeClr val="bg1"/>
                </a:solidFill>
                <a:latin typeface="微软雅黑 Light" panose="020B0502040204020203" charset="-122"/>
                <a:ea typeface="微软雅黑 Light" panose="020B0502040204020203" charset="-122"/>
              </a:endParaRPr>
            </a:p>
          </p:txBody>
        </p:sp>
        <p:sp>
          <p:nvSpPr>
            <p:cNvPr id="27" name="文本框 26"/>
            <p:cNvSpPr txBox="1"/>
            <p:nvPr/>
          </p:nvSpPr>
          <p:spPr>
            <a:xfrm>
              <a:off x="13004" y="4960"/>
              <a:ext cx="4307" cy="3329"/>
            </a:xfrm>
            <a:prstGeom prst="rect">
              <a:avLst/>
            </a:prstGeom>
            <a:noFill/>
          </p:spPr>
          <p:txBody>
            <a:bodyPr wrap="square" rtlCol="0">
              <a:spAutoFit/>
            </a:bodyPr>
            <a:lstStyle/>
            <a:p>
              <a:pPr algn="just">
                <a:lnSpc>
                  <a:spcPct val="150000"/>
                </a:lnSpc>
              </a:pPr>
              <a:r>
                <a:rPr lang="zh-CN" altLang="en-US" sz="1600">
                  <a:solidFill>
                    <a:schemeClr val="tx1"/>
                  </a:solidFill>
                  <a:latin typeface="微软雅黑" panose="020B0503020204020204" charset="-122"/>
                  <a:ea typeface="微软雅黑" panose="020B0503020204020204" charset="-122"/>
                  <a:cs typeface="微软雅黑" panose="020B0503020204020204" charset="-122"/>
                </a:rPr>
                <a:t>在任务规划上，我们将通过 7B 规划模板的简化和偏好对齐技术，提升模型在长链任务中的规划能力，确保多步任务的执行能够顺畅进行，减少步骤间</a:t>
              </a:r>
              <a:r>
                <a:rPr lang="zh-CN" altLang="en-US" sz="1600">
                  <a:latin typeface="微软雅黑" panose="020B0503020204020204" charset="-122"/>
                  <a:ea typeface="微软雅黑" panose="020B0503020204020204" charset="-122"/>
                  <a:cs typeface="微软雅黑" panose="020B0503020204020204" charset="-122"/>
                </a:rPr>
                <a:t>的推理误差。</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7447" y="4960"/>
              <a:ext cx="4307" cy="2796"/>
            </a:xfrm>
            <a:prstGeom prst="rect">
              <a:avLst/>
            </a:prstGeom>
            <a:noFill/>
          </p:spPr>
          <p:txBody>
            <a:bodyPr wrap="square" rtlCol="0">
              <a:spAutoFit/>
            </a:bodyPr>
            <a:lstStyle/>
            <a:p>
              <a:pPr algn="just">
                <a:lnSpc>
                  <a:spcPct val="150000"/>
                </a:lnSpc>
              </a:pPr>
              <a:r>
                <a:rPr lang="zh-CN" altLang="en-US" sz="1600">
                  <a:solidFill>
                    <a:schemeClr val="tx1"/>
                  </a:solidFill>
                  <a:latin typeface="微软雅黑" panose="020B0503020204020204" charset="-122"/>
                  <a:ea typeface="微软雅黑" panose="020B0503020204020204" charset="-122"/>
                  <a:cs typeface="微软雅黑" panose="020B0503020204020204" charset="-122"/>
                </a:rPr>
                <a:t>提升模型在动态任务中的感知能力，并通过 DPO 偏好对齐技术，实现模型根据环境变化预测并调整任务执行策略，提高任务执行的灵活性和鲁棒性。</a:t>
              </a:r>
              <a:endParaRPr lang="zh-CN" altLang="en-US" sz="1600">
                <a:solidFill>
                  <a:schemeClr val="tx1"/>
                </a:solidFill>
                <a:latin typeface="微软雅黑" panose="020B0503020204020204" charset="-122"/>
                <a:ea typeface="微软雅黑" panose="020B0503020204020204" charset="-122"/>
                <a:cs typeface="微软雅黑" panose="020B0503020204020204" charset="-122"/>
              </a:endParaRPr>
            </a:p>
          </p:txBody>
        </p:sp>
      </p:grpSp>
      <p:sp>
        <p:nvSpPr>
          <p:cNvPr id="32" name="文本框 31"/>
          <p:cNvSpPr txBox="1"/>
          <p:nvPr/>
        </p:nvSpPr>
        <p:spPr>
          <a:xfrm>
            <a:off x="796290" y="3095625"/>
            <a:ext cx="2921635" cy="2676525"/>
          </a:xfrm>
          <a:prstGeom prst="rect">
            <a:avLst/>
          </a:prstGeom>
        </p:spPr>
        <p:txBody>
          <a:bodyPr wrap="square">
            <a:spAutoFit/>
          </a:bodyPr>
          <a:p>
            <a:pPr algn="just" latinLnBrk="1">
              <a:lnSpc>
                <a:spcPct val="150000"/>
              </a:lnSpc>
            </a:pPr>
            <a:r>
              <a:rPr lang="zh-CN" altLang="en-US" sz="1600" b="0" i="0">
                <a:latin typeface="微软雅黑" panose="020B0503020204020204" charset="-122"/>
                <a:ea typeface="微软雅黑" panose="020B0503020204020204" charset="-122"/>
                <a:cs typeface="微软雅黑" panose="020B0503020204020204" charset="-122"/>
              </a:rPr>
              <a:t>通过引入结构化思维链（Executable CoT）和 7B 简化规划模板，我们期望在复杂空间场景下提升物体的定位精度和空间关系推理能力，尤其是应对多视角和遮挡条件下的物体识别与定位。</a:t>
            </a:r>
            <a:endParaRPr lang="zh-CN" altLang="en-US" sz="1600" b="0" i="0">
              <a:latin typeface="微软雅黑" panose="020B0503020204020204" charset="-122"/>
              <a:ea typeface="微软雅黑" panose="020B0503020204020204" charset="-122"/>
              <a:cs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组合 13"/>
          <p:cNvGrpSpPr/>
          <p:nvPr/>
        </p:nvGrpSpPr>
        <p:grpSpPr>
          <a:xfrm>
            <a:off x="387985" y="1279525"/>
            <a:ext cx="11399520" cy="6772275"/>
            <a:chOff x="611" y="2015"/>
            <a:chExt cx="17952" cy="10665"/>
          </a:xfrm>
        </p:grpSpPr>
        <p:grpSp>
          <p:nvGrpSpPr>
            <p:cNvPr id="12" name="组合 11"/>
            <p:cNvGrpSpPr/>
            <p:nvPr/>
          </p:nvGrpSpPr>
          <p:grpSpPr>
            <a:xfrm>
              <a:off x="611" y="2346"/>
              <a:ext cx="17952" cy="10334"/>
              <a:chOff x="611" y="5014"/>
              <a:chExt cx="8693" cy="6846"/>
            </a:xfrm>
          </p:grpSpPr>
          <p:sp>
            <p:nvSpPr>
              <p:cNvPr id="20" name="矩形: 圆角 5"/>
              <p:cNvSpPr/>
              <p:nvPr/>
            </p:nvSpPr>
            <p:spPr>
              <a:xfrm>
                <a:off x="611" y="5014"/>
                <a:ext cx="8693" cy="5235"/>
              </a:xfrm>
              <a:prstGeom prst="roundRect">
                <a:avLst>
                  <a:gd name="adj" fmla="val 1288"/>
                </a:avLst>
              </a:prstGeom>
              <a:solidFill>
                <a:schemeClr val="bg1">
                  <a:lumMod val="95000"/>
                </a:schemeClr>
              </a:solidFill>
              <a:ln w="12700">
                <a:solidFill>
                  <a:srgbClr val="0C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panose="020B0502040204020203" charset="-122"/>
                  <a:cs typeface="+mn-cs"/>
                </a:endParaRPr>
              </a:p>
            </p:txBody>
          </p:sp>
          <p:sp>
            <p:nvSpPr>
              <p:cNvPr id="42" name="文本框 41"/>
              <p:cNvSpPr txBox="1"/>
              <p:nvPr/>
            </p:nvSpPr>
            <p:spPr>
              <a:xfrm>
                <a:off x="3700" y="11283"/>
                <a:ext cx="3006" cy="577"/>
              </a:xfrm>
              <a:prstGeom prst="rect">
                <a:avLst/>
              </a:prstGeom>
              <a:noFill/>
            </p:spPr>
            <p:txBody>
              <a:bodyPr wrap="square" rtlCol="0" anchor="t">
                <a:spAutoFit/>
              </a:bodyPr>
              <a:p>
                <a:pPr algn="just">
                  <a:lnSpc>
                    <a:spcPct val="150000"/>
                  </a:lnSpc>
                </a:pPr>
                <a:endParaRPr lang="zh-CN" altLang="en-US" sz="2000">
                  <a:latin typeface="微软雅黑" panose="020B0503020204020204" charset="-122"/>
                  <a:ea typeface="微软雅黑" panose="020B0503020204020204" charset="-122"/>
                  <a:cs typeface="微软雅黑" panose="020B0503020204020204" charset="-122"/>
                </a:endParaRPr>
              </a:p>
            </p:txBody>
          </p:sp>
        </p:grpSp>
        <p:sp>
          <p:nvSpPr>
            <p:cNvPr id="13" name="标题"/>
            <p:cNvSpPr/>
            <p:nvPr>
              <p:custDataLst>
                <p:tags r:id="rId1"/>
              </p:custDataLst>
            </p:nvPr>
          </p:nvSpPr>
          <p:spPr>
            <a:xfrm>
              <a:off x="6154" y="2015"/>
              <a:ext cx="6866" cy="813"/>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endParaRPr lang="zh-CN" altLang="en-US" sz="2000" b="1" dirty="0">
                <a:solidFill>
                  <a:srgbClr val="FFFFFF"/>
                </a:solidFill>
                <a:uFillTx/>
                <a:latin typeface="微软雅黑" panose="020B0503020204020204" charset="-122"/>
                <a:ea typeface="微软雅黑" panose="020B0503020204020204" charset="-122"/>
                <a:cs typeface="+mn-ea"/>
                <a:sym typeface="+mn-ea"/>
              </a:endParaRPr>
            </a:p>
            <a:p>
              <a:pPr algn="ctr">
                <a:spcBef>
                  <a:spcPct val="0"/>
                </a:spcBef>
                <a:spcAft>
                  <a:spcPct val="0"/>
                </a:spcAft>
              </a:pPr>
              <a:r>
                <a:rPr lang="zh-CN" altLang="en-US" sz="2000" b="1" dirty="0">
                  <a:solidFill>
                    <a:srgbClr val="FFFFFF"/>
                  </a:solidFill>
                  <a:uFillTx/>
                  <a:latin typeface="微软雅黑" panose="020B0503020204020204" charset="-122"/>
                  <a:ea typeface="微软雅黑" panose="020B0503020204020204" charset="-122"/>
                  <a:cs typeface="+mn-ea"/>
                  <a:sym typeface="+mn-ea"/>
                </a:rPr>
                <a:t>方案解析</a:t>
              </a:r>
              <a:endParaRPr lang="zh-CN" altLang="en-US" sz="2000" b="1" dirty="0">
                <a:solidFill>
                  <a:srgbClr val="FFFFFF"/>
                </a:solidFill>
                <a:uFillTx/>
                <a:latin typeface="微软雅黑" panose="020B0503020204020204" charset="-122"/>
                <a:ea typeface="微软雅黑" panose="020B0503020204020204" charset="-122"/>
                <a:cs typeface="+mn-ea"/>
                <a:sym typeface="+mn-ea"/>
              </a:endParaRPr>
            </a:p>
            <a:p>
              <a:pPr algn="ctr">
                <a:spcBef>
                  <a:spcPct val="0"/>
                </a:spcBef>
                <a:spcAft>
                  <a:spcPct val="0"/>
                </a:spcAft>
              </a:pPr>
              <a:endParaRPr lang="zh-CN" altLang="en-US" sz="2000" b="1" dirty="0">
                <a:solidFill>
                  <a:srgbClr val="FFFFFF"/>
                </a:solidFill>
                <a:uFillTx/>
                <a:latin typeface="微软雅黑" panose="020B0503020204020204" charset="-122"/>
                <a:ea typeface="微软雅黑" panose="020B0503020204020204" charset="-122"/>
                <a:cs typeface="+mn-ea"/>
                <a:sym typeface="+mn-ea"/>
              </a:endParaRPr>
            </a:p>
          </p:txBody>
        </p:sp>
      </p:grpSp>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2212975" y="0"/>
            <a:ext cx="168211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赛题理解</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11517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2"/>
          <a:srcRect t="31267" b="33250"/>
          <a:stretch>
            <a:fillRect/>
          </a:stretch>
        </p:blipFill>
        <p:spPr>
          <a:xfrm>
            <a:off x="-74930" y="107950"/>
            <a:ext cx="2213610" cy="566420"/>
          </a:xfrm>
          <a:prstGeom prst="rect">
            <a:avLst/>
          </a:prstGeom>
        </p:spPr>
      </p:pic>
      <p:pic>
        <p:nvPicPr>
          <p:cNvPr id="11" name="图片 10"/>
          <p:cNvPicPr>
            <a:picLocks noChangeAspect="1"/>
          </p:cNvPicPr>
          <p:nvPr/>
        </p:nvPicPr>
        <p:blipFill>
          <a:blip r:embed="rId3"/>
          <a:srcRect b="6414"/>
          <a:stretch>
            <a:fillRect/>
          </a:stretch>
        </p:blipFill>
        <p:spPr>
          <a:xfrm>
            <a:off x="494665" y="921385"/>
            <a:ext cx="11364595" cy="54940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矩形 48"/>
          <p:cNvSpPr/>
          <p:nvPr/>
        </p:nvSpPr>
        <p:spPr>
          <a:xfrm>
            <a:off x="430530" y="2592070"/>
            <a:ext cx="11320780" cy="4093210"/>
          </a:xfrm>
          <a:prstGeom prst="rect">
            <a:avLst/>
          </a:prstGeom>
          <a:solidFill>
            <a:schemeClr val="tx1">
              <a:alpha val="4000"/>
            </a:schemeClr>
          </a:solidFill>
          <a:ln w="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矩形 42"/>
          <p:cNvSpPr/>
          <p:nvPr/>
        </p:nvSpPr>
        <p:spPr>
          <a:xfrm>
            <a:off x="431165" y="1298575"/>
            <a:ext cx="11320780" cy="1210310"/>
          </a:xfrm>
          <a:prstGeom prst="rect">
            <a:avLst/>
          </a:prstGeom>
          <a:solidFill>
            <a:schemeClr val="bg2"/>
          </a:solidFill>
          <a:ln w="0">
            <a:solidFill>
              <a:schemeClr val="tx1">
                <a:lumMod val="50000"/>
                <a:lumOff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3930650" y="0"/>
            <a:ext cx="14636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bg1"/>
                </a:solidFill>
                <a:latin typeface="微软雅黑" panose="020B0503020204020204" charset="-122"/>
                <a:ea typeface="微软雅黑" panose="020B0503020204020204" charset="-122"/>
              </a:rPr>
              <a:t>数据</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11517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sp>
        <p:nvSpPr>
          <p:cNvPr id="11" name="文本框 10"/>
          <p:cNvSpPr txBox="1"/>
          <p:nvPr/>
        </p:nvSpPr>
        <p:spPr>
          <a:xfrm>
            <a:off x="918845" y="1524635"/>
            <a:ext cx="10441940" cy="1337945"/>
          </a:xfrm>
          <a:prstGeom prst="rect">
            <a:avLst/>
          </a:prstGeom>
        </p:spPr>
        <p:txBody>
          <a:bodyPr wrap="square">
            <a:spAutoFit/>
          </a:bodyPr>
          <a:p>
            <a:pPr>
              <a:lnSpc>
                <a:spcPct val="150000"/>
              </a:lnSpc>
            </a:pPr>
            <a:r>
              <a:rPr lang="zh-CN" altLang="en-US" b="1" dirty="0">
                <a:solidFill>
                  <a:schemeClr val="tx1"/>
                </a:solidFill>
                <a:latin typeface="微软雅黑" panose="020B0503020204020204" charset="-122"/>
                <a:ea typeface="微软雅黑" panose="020B0503020204020204" charset="-122"/>
                <a:cs typeface="+mn-ea"/>
              </a:rPr>
              <a:t>初赛方案中，我们对训练和验证数据集进</a:t>
            </a:r>
            <a:r>
              <a:rPr lang="zh-CN" altLang="en-US" b="1" dirty="0">
                <a:solidFill>
                  <a:schemeClr val="tx1"/>
                </a:solidFill>
                <a:latin typeface="微软雅黑" panose="020B0503020204020204" charset="-122"/>
                <a:ea typeface="微软雅黑" panose="020B0503020204020204" charset="-122"/>
                <a:cs typeface="+mn-ea"/>
              </a:rPr>
              <a:t>行了详细规划，在本轮决赛中，我们从多个开源数据集中选取适合的子集进</a:t>
            </a:r>
            <a:r>
              <a:rPr lang="zh-CN" altLang="en-US" b="1" dirty="0">
                <a:solidFill>
                  <a:schemeClr val="tx1"/>
                </a:solidFill>
                <a:latin typeface="微软雅黑" panose="020B0503020204020204" charset="-122"/>
                <a:ea typeface="微软雅黑" panose="020B0503020204020204" charset="-122"/>
                <a:cs typeface="+mn-ea"/>
              </a:rPr>
              <a:t>行训练：</a:t>
            </a:r>
            <a:r>
              <a:rPr lang="zh-CN" altLang="en-US">
                <a:latin typeface="微软雅黑" panose="020B0503020204020204" charset="-122"/>
                <a:ea typeface="微软雅黑" panose="020B0503020204020204" charset="-122"/>
                <a:cs typeface="微软雅黑" panose="020B0503020204020204" charset="-122"/>
                <a:sym typeface="+mn-ea"/>
              </a:rPr>
              <a:t>仅抽取</a:t>
            </a:r>
            <a:r>
              <a:rPr lang="en-US" altLang="en-US">
                <a:latin typeface="微软雅黑" panose="020B0503020204020204" charset="-122"/>
                <a:ea typeface="微软雅黑" panose="020B0503020204020204" charset="-122"/>
                <a:cs typeface="微软雅黑" panose="020B0503020204020204" charset="-122"/>
                <a:sym typeface="+mn-ea"/>
              </a:rPr>
              <a:t>20k</a:t>
            </a:r>
            <a:r>
              <a:rPr lang="zh-CN" altLang="en-US">
                <a:latin typeface="微软雅黑" panose="020B0503020204020204" charset="-122"/>
                <a:ea typeface="微软雅黑" panose="020B0503020204020204" charset="-122"/>
                <a:cs typeface="微软雅黑" panose="020B0503020204020204" charset="-122"/>
                <a:sym typeface="+mn-ea"/>
              </a:rPr>
              <a:t>样本组成本轮训练</a:t>
            </a:r>
            <a:r>
              <a:rPr lang="zh-CN" altLang="en-US">
                <a:latin typeface="微软雅黑" panose="020B0503020204020204" charset="-122"/>
                <a:ea typeface="微软雅黑" panose="020B0503020204020204" charset="-122"/>
                <a:cs typeface="微软雅黑" panose="020B0503020204020204" charset="-122"/>
                <a:sym typeface="+mn-ea"/>
              </a:rPr>
              <a:t>用的</a:t>
            </a:r>
            <a:r>
              <a:rPr lang="en-US" altLang="zh-CN">
                <a:latin typeface="微软雅黑" panose="020B0503020204020204" charset="-122"/>
                <a:ea typeface="微软雅黑" panose="020B0503020204020204" charset="-122"/>
                <a:cs typeface="微软雅黑" panose="020B0503020204020204" charset="-122"/>
                <a:sym typeface="+mn-ea"/>
              </a:rPr>
              <a:t> MU-Data</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Minimal Usable Data</a:t>
            </a:r>
            <a:r>
              <a:rPr lang="zh-CN" altLang="en-US">
                <a:latin typeface="微软雅黑" panose="020B0503020204020204" charset="-122"/>
                <a:ea typeface="微软雅黑" panose="020B0503020204020204" charset="-122"/>
                <a:cs typeface="微软雅黑" panose="020B0503020204020204" charset="-122"/>
                <a:sym typeface="+mn-ea"/>
              </a:rPr>
              <a:t>）</a:t>
            </a:r>
            <a:endParaRPr lang="zh-CN" altLang="en-US" b="0"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p>
            <a:pPr>
              <a:lnSpc>
                <a:spcPct val="150000"/>
              </a:lnSpc>
            </a:pPr>
            <a:endParaRPr lang="zh-CN" altLang="en-US" b="1" dirty="0">
              <a:solidFill>
                <a:schemeClr val="tx1"/>
              </a:solidFill>
              <a:latin typeface="微软雅黑" panose="020B0503020204020204" charset="-122"/>
              <a:ea typeface="微软雅黑" panose="020B0503020204020204" charset="-122"/>
              <a:cs typeface="+mn-ea"/>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sp>
        <p:nvSpPr>
          <p:cNvPr id="38" name="标题"/>
          <p:cNvSpPr/>
          <p:nvPr>
            <p:custDataLst>
              <p:tags r:id="rId2"/>
            </p:custDataLst>
          </p:nvPr>
        </p:nvSpPr>
        <p:spPr>
          <a:xfrm>
            <a:off x="367665" y="1073150"/>
            <a:ext cx="3903980" cy="451485"/>
          </a:xfrm>
          <a:prstGeom prst="roundRect">
            <a:avLst>
              <a:gd name="adj" fmla="val 10770"/>
            </a:avLst>
          </a:prstGeom>
          <a:gradFill>
            <a:gsLst>
              <a:gs pos="50000">
                <a:schemeClr val="accent1"/>
              </a:gs>
              <a:gs pos="0">
                <a:schemeClr val="accent1">
                  <a:lumMod val="25000"/>
                  <a:lumOff val="75000"/>
                </a:schemeClr>
              </a:gs>
              <a:gs pos="100000">
                <a:schemeClr val="accent1">
                  <a:lumMod val="85000"/>
                </a:schemeClr>
              </a:gs>
            </a:gsLst>
            <a:lin ang="10380000" scaled="0"/>
          </a:gradFill>
          <a:ln w="28575">
            <a:solidFill>
              <a:schemeClr val="bg1"/>
            </a:solidFill>
          </a:ln>
          <a:effectLst>
            <a:outerShdw blurRad="63500" algn="ctr" rotWithShape="0">
              <a:srgbClr val="D99F7E">
                <a:alpha val="40000"/>
              </a:srgbClr>
            </a:outerShdw>
          </a:effectLst>
        </p:spPr>
        <p:style>
          <a:lnRef idx="0">
            <a:srgbClr val="FFFFFF"/>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a:t>
            </a:r>
            <a:endParaRPr lang="en-US" altLang="zh-CN"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ctr">
              <a:spcBef>
                <a:spcPct val="0"/>
              </a:spcBef>
              <a:spcAft>
                <a:spcPct val="0"/>
              </a:spcAft>
            </a:pPr>
            <a:r>
              <a:rPr lang="en-US" altLang="zh-CN"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2.1</a:t>
            </a:r>
            <a:r>
              <a:rPr lang="zh-CN" altLang="en-US"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数据集</a:t>
            </a:r>
            <a:r>
              <a:rPr lang="zh-CN" altLang="en-US"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选取</a:t>
            </a:r>
            <a:endParaRPr lang="zh-CN" altLang="en-US"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ctr">
              <a:spcBef>
                <a:spcPct val="0"/>
              </a:spcBef>
              <a:spcAft>
                <a:spcPct val="0"/>
              </a:spcAft>
            </a:pPr>
            <a:endParaRPr lang="zh-CN" altLang="en-US" b="1" dirty="0">
              <a:solidFill>
                <a:srgbClr val="FFFFFF"/>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
        <p:nvSpPr>
          <p:cNvPr id="28" name="圆角矩形 27"/>
          <p:cNvSpPr/>
          <p:nvPr/>
        </p:nvSpPr>
        <p:spPr>
          <a:xfrm>
            <a:off x="591820" y="3908425"/>
            <a:ext cx="1743075" cy="1181100"/>
          </a:xfrm>
          <a:prstGeom prst="roundRect">
            <a:avLst>
              <a:gd name="adj" fmla="val 6216"/>
            </a:avLst>
          </a:prstGeom>
          <a:solidFill>
            <a:schemeClr val="bg1">
              <a:lumMod val="50000"/>
            </a:schemeClr>
          </a:solidFill>
          <a:ln w="25400">
            <a:solidFill>
              <a:schemeClr val="bg1"/>
            </a:solid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dirty="0">
                <a:latin typeface="微软雅黑" panose="020B0503020204020204" charset="-122"/>
                <a:ea typeface="微软雅黑" panose="020B0503020204020204" charset="-122"/>
                <a:sym typeface="+mn-ea"/>
              </a:rPr>
              <a:t>1. </a:t>
            </a:r>
            <a:r>
              <a:rPr lang="zh-CN" altLang="en-US" b="1" dirty="0">
                <a:latin typeface="微软雅黑" panose="020B0503020204020204" charset="-122"/>
                <a:ea typeface="微软雅黑" panose="020B0503020204020204" charset="-122"/>
                <a:sym typeface="+mn-ea"/>
              </a:rPr>
              <a:t>空间理解与视觉</a:t>
            </a:r>
            <a:r>
              <a:rPr lang="en-US" altLang="zh-CN" b="1" dirty="0">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语</a:t>
            </a:r>
            <a:r>
              <a:rPr lang="zh-CN" altLang="en-US" b="1" dirty="0">
                <a:latin typeface="微软雅黑" panose="020B0503020204020204" charset="-122"/>
                <a:ea typeface="微软雅黑" panose="020B0503020204020204" charset="-122"/>
                <a:sym typeface="+mn-ea"/>
              </a:rPr>
              <a:t>言基础</a:t>
            </a:r>
            <a:endParaRPr lang="zh-CN" altLang="en-US" b="1" dirty="0">
              <a:latin typeface="微软雅黑" panose="020B0503020204020204" charset="-122"/>
              <a:ea typeface="微软雅黑" panose="020B0503020204020204" charset="-122"/>
              <a:sym typeface="+mn-ea"/>
            </a:endParaRPr>
          </a:p>
        </p:txBody>
      </p:sp>
      <p:sp>
        <p:nvSpPr>
          <p:cNvPr id="30" name="左大括号 29"/>
          <p:cNvSpPr/>
          <p:nvPr/>
        </p:nvSpPr>
        <p:spPr>
          <a:xfrm>
            <a:off x="2422525" y="3153410"/>
            <a:ext cx="716280" cy="3020060"/>
          </a:xfrm>
          <a:prstGeom prst="leftBrace">
            <a:avLst>
              <a:gd name="adj1" fmla="val 0"/>
              <a:gd name="adj2" fmla="val 50317"/>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grpSp>
        <p:nvGrpSpPr>
          <p:cNvPr id="45" name="组合 44"/>
          <p:cNvGrpSpPr/>
          <p:nvPr/>
        </p:nvGrpSpPr>
        <p:grpSpPr>
          <a:xfrm>
            <a:off x="3075305" y="2957830"/>
            <a:ext cx="8437880" cy="3331845"/>
            <a:chOff x="4737" y="2121"/>
            <a:chExt cx="13394" cy="7546"/>
          </a:xfrm>
        </p:grpSpPr>
        <p:sp>
          <p:nvSpPr>
            <p:cNvPr id="46" name="标题"/>
            <p:cNvSpPr/>
            <p:nvPr>
              <p:custDataLst>
                <p:tags r:id="rId3"/>
              </p:custDataLst>
            </p:nvPr>
          </p:nvSpPr>
          <p:spPr>
            <a:xfrm>
              <a:off x="4737" y="2121"/>
              <a:ext cx="13395" cy="1397"/>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just">
                <a:spcBef>
                  <a:spcPct val="0"/>
                </a:spcBef>
                <a:spcAft>
                  <a:spcPct val="0"/>
                </a:spcAft>
                <a:buFont typeface="Wingdings" panose="05000000000000000000" charset="0"/>
                <a:buChar char="l"/>
              </a:pP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Visual Genome (VG)</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：含丰富对象、属性、关系三元组，适空间关系理解与指代消解，其大规模区域描述和物体关系数据，助力提升机器人对空间物体的理解能力。</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
          <p:nvSpPr>
            <p:cNvPr id="47" name="标题"/>
            <p:cNvSpPr/>
            <p:nvPr>
              <p:custDataLst>
                <p:tags r:id="rId4"/>
              </p:custDataLst>
            </p:nvPr>
          </p:nvSpPr>
          <p:spPr>
            <a:xfrm>
              <a:off x="4737" y="4171"/>
              <a:ext cx="13395" cy="1397"/>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just">
                <a:spcBef>
                  <a:spcPct val="0"/>
                </a:spcBef>
                <a:spcAft>
                  <a:spcPct val="0"/>
                </a:spcAft>
                <a:buFont typeface="Wingdings" panose="05000000000000000000" charset="0"/>
                <a:buChar char="l"/>
              </a:pP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LVIS</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：为物体实例分割提供大规模长尾类别数据集，适物体定位和多视角空间关系理解。</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
          <p:nvSpPr>
            <p:cNvPr id="48" name="标题"/>
            <p:cNvSpPr/>
            <p:nvPr>
              <p:custDataLst>
                <p:tags r:id="rId5"/>
              </p:custDataLst>
            </p:nvPr>
          </p:nvSpPr>
          <p:spPr>
            <a:xfrm>
              <a:off x="4737" y="6221"/>
              <a:ext cx="13395" cy="1397"/>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just">
                <a:spcBef>
                  <a:spcPct val="0"/>
                </a:spcBef>
                <a:spcAft>
                  <a:spcPct val="0"/>
                </a:spcAft>
                <a:buFont typeface="Wingdings" panose="05000000000000000000" charset="0"/>
                <a:buChar char="l"/>
              </a:pP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PACO-LVIS</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：是</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LVIS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扩展，专注</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部件与属性</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标注，助模型理解物体部件及属性，适视觉感知与任务规划融合。</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
          <p:nvSpPr>
            <p:cNvPr id="50" name="标题"/>
            <p:cNvSpPr/>
            <p:nvPr>
              <p:custDataLst>
                <p:tags r:id="rId6"/>
              </p:custDataLst>
            </p:nvPr>
          </p:nvSpPr>
          <p:spPr>
            <a:xfrm>
              <a:off x="4737" y="8271"/>
              <a:ext cx="13395" cy="1397"/>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just">
                <a:spcBef>
                  <a:spcPct val="0"/>
                </a:spcBef>
                <a:spcAft>
                  <a:spcPct val="0"/>
                </a:spcAft>
                <a:buFont typeface="Wingdings" panose="05000000000000000000" charset="0"/>
                <a:buChar char="l"/>
              </a:pP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RoboPoint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和</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Pixmo-Points</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：提供物体定位点级标注，适空间参照任务，精确点位标注助力机器人执行物体定位和抓取任务。</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3930650" y="0"/>
            <a:ext cx="14636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bg1"/>
                </a:solidFill>
                <a:latin typeface="微软雅黑" panose="020B0503020204020204" charset="-122"/>
                <a:ea typeface="微软雅黑" panose="020B0503020204020204" charset="-122"/>
              </a:rPr>
              <a:t>数据</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11517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sp>
        <p:nvSpPr>
          <p:cNvPr id="12" name="椭圆 11"/>
          <p:cNvSpPr/>
          <p:nvPr/>
        </p:nvSpPr>
        <p:spPr>
          <a:xfrm>
            <a:off x="1544940" y="2765723"/>
            <a:ext cx="2086794" cy="2086794"/>
          </a:xfrm>
          <a:prstGeom prst="ellipse">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sz="2400" b="1" dirty="0">
              <a:solidFill>
                <a:srgbClr val="7F7F7F"/>
              </a:solidFill>
              <a:latin typeface="微软雅黑" panose="020B0503020204020204" charset="-122"/>
              <a:ea typeface="微软雅黑" panose="020B0503020204020204" charset="-122"/>
            </a:endParaRPr>
          </a:p>
        </p:txBody>
      </p:sp>
      <p:sp>
        <p:nvSpPr>
          <p:cNvPr id="13" name="椭圆 12"/>
          <p:cNvSpPr/>
          <p:nvPr/>
        </p:nvSpPr>
        <p:spPr>
          <a:xfrm>
            <a:off x="681487" y="1979396"/>
            <a:ext cx="3659448" cy="3659448"/>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4107603" y="3531745"/>
            <a:ext cx="507126" cy="507126"/>
          </a:xfrm>
          <a:prstGeom prst="ellipse">
            <a:avLst/>
          </a:prstGeom>
          <a:ln>
            <a:noFill/>
          </a:ln>
          <a:effectLst>
            <a:outerShdw blurRad="1270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213695" y="2011812"/>
            <a:ext cx="507126" cy="507126"/>
          </a:xfrm>
          <a:prstGeom prst="ellipse">
            <a:avLst/>
          </a:prstGeom>
          <a:ln>
            <a:noFill/>
          </a:ln>
          <a:effectLst>
            <a:outerShdw blurRad="1270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395998" y="4977642"/>
            <a:ext cx="507126" cy="507126"/>
          </a:xfrm>
          <a:prstGeom prst="ellipse">
            <a:avLst/>
          </a:prstGeom>
          <a:ln>
            <a:noFill/>
          </a:ln>
          <a:effectLst>
            <a:outerShdw blurRad="1270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7" name="图形 15" descr="下降趋势条形图 纯色填充"/>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21828" y="2118997"/>
            <a:ext cx="309906" cy="309906"/>
          </a:xfrm>
          <a:prstGeom prst="rect">
            <a:avLst/>
          </a:prstGeom>
        </p:spPr>
      </p:pic>
      <p:pic>
        <p:nvPicPr>
          <p:cNvPr id="18" name="图形 17" descr="下降趋势条形图 纯色填充"/>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19015" y="3637065"/>
            <a:ext cx="299615" cy="299615"/>
          </a:xfrm>
          <a:prstGeom prst="rect">
            <a:avLst/>
          </a:prstGeom>
        </p:spPr>
      </p:pic>
      <p:pic>
        <p:nvPicPr>
          <p:cNvPr id="20" name="图形 19" descr="信封 纯色填充"/>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21755" y="5093500"/>
            <a:ext cx="264579" cy="264579"/>
          </a:xfrm>
          <a:prstGeom prst="rect">
            <a:avLst/>
          </a:prstGeom>
        </p:spPr>
      </p:pic>
      <p:graphicFrame>
        <p:nvGraphicFramePr>
          <p:cNvPr id="19" name="表格 18"/>
          <p:cNvGraphicFramePr>
            <a:graphicFrameLocks noGrp="1"/>
          </p:cNvGraphicFramePr>
          <p:nvPr/>
        </p:nvGraphicFramePr>
        <p:xfrm>
          <a:off x="4614516" y="4852956"/>
          <a:ext cx="6505331" cy="949960"/>
        </p:xfrm>
        <a:graphic>
          <a:graphicData uri="http://schemas.openxmlformats.org/drawingml/2006/table">
            <a:tbl>
              <a:tblPr firstRow="1" bandRow="1">
                <a:tableStyleId>{5C22544A-7EE6-4342-B048-85BDC9FD1C3A}</a:tableStyleId>
              </a:tblPr>
              <a:tblGrid>
                <a:gridCol w="6505331"/>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dirty="0">
                          <a:solidFill>
                            <a:schemeClr val="tx1"/>
                          </a:solidFill>
                          <a:latin typeface="微软雅黑" panose="020B0503020204020204" charset="-122"/>
                          <a:ea typeface="微软雅黑" panose="020B0503020204020204" charset="-122"/>
                        </a:rPr>
                        <a:t>4. </a:t>
                      </a:r>
                      <a:r>
                        <a:rPr lang="zh-CN" altLang="en-US" sz="2000" b="1" dirty="0">
                          <a:solidFill>
                            <a:schemeClr val="tx1"/>
                          </a:solidFill>
                          <a:latin typeface="微软雅黑" panose="020B0503020204020204" charset="-122"/>
                          <a:ea typeface="微软雅黑" panose="020B0503020204020204" charset="-122"/>
                        </a:rPr>
                        <a:t>其他数据集</a:t>
                      </a:r>
                      <a:endParaRPr lang="zh-CN" altLang="en-US" sz="2000" b="1" dirty="0">
                        <a:solidFill>
                          <a:schemeClr val="tx1"/>
                        </a:solidFill>
                        <a:latin typeface="微软雅黑" panose="020B0503020204020204" charset="-122"/>
                        <a:ea typeface="微软雅黑" panose="020B0503020204020204" charset="-122"/>
                      </a:endParaRPr>
                    </a:p>
                  </a:txBody>
                  <a:tcPr>
                    <a:lnB w="12700" cap="flat" cmpd="sng" algn="ctr">
                      <a:solidFill>
                        <a:schemeClr val="accent1"/>
                      </a:solidFill>
                      <a:prstDash val="solid"/>
                      <a:round/>
                      <a:headEnd type="none" w="med" len="med"/>
                      <a:tailEnd type="none" w="med" len="med"/>
                    </a:lnB>
                    <a:noFill/>
                  </a:tcPr>
                </a:tc>
              </a:tr>
              <a:tr h="370840">
                <a:tc>
                  <a:txBody>
                    <a:bodyPr/>
                    <a:lstStyle/>
                    <a:p>
                      <a:pPr marL="285750" indent="-285750">
                        <a:buFont typeface="Wingdings" panose="05000000000000000000" charset="0"/>
                        <a:buChar char="l"/>
                      </a:pPr>
                      <a:r>
                        <a:rPr lang="en-US" altLang="zh-CN" sz="1800" b="0" dirty="0">
                          <a:solidFill>
                            <a:schemeClr val="tx1"/>
                          </a:solidFill>
                          <a:latin typeface="微软雅黑" panose="020B0503020204020204" charset="-122"/>
                          <a:ea typeface="微软雅黑" panose="020B0503020204020204" charset="-122"/>
                          <a:cs typeface="微软雅黑" panose="020B0503020204020204" charset="-122"/>
                        </a:rPr>
                        <a:t>LRV-400K</a:t>
                      </a:r>
                      <a:r>
                        <a:rPr lang="zh-CN" altLang="en-US" sz="1800" b="0" dirty="0">
                          <a:solidFill>
                            <a:schemeClr val="tx1"/>
                          </a:solidFill>
                          <a:latin typeface="微软雅黑" panose="020B0503020204020204" charset="-122"/>
                          <a:ea typeface="微软雅黑" panose="020B0503020204020204" charset="-122"/>
                          <a:cs typeface="微软雅黑" panose="020B0503020204020204" charset="-122"/>
                        </a:rPr>
                        <a:t>：包含大量指令和视觉配对样本，适用于基于视觉的任务指令理解。</a:t>
                      </a:r>
                      <a:endParaRPr lang="zh-CN" altLang="en-US" sz="1800" b="0" dirty="0">
                        <a:solidFill>
                          <a:schemeClr val="tx1"/>
                        </a:solidFill>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l"/>
                      </a:pPr>
                      <a:r>
                        <a:rPr lang="en-US" altLang="zh-CN" sz="1800" b="0" dirty="0">
                          <a:solidFill>
                            <a:schemeClr val="tx1"/>
                          </a:solidFill>
                          <a:latin typeface="微软雅黑" panose="020B0503020204020204" charset="-122"/>
                          <a:ea typeface="微软雅黑" panose="020B0503020204020204" charset="-122"/>
                          <a:cs typeface="微软雅黑" panose="020B0503020204020204" charset="-122"/>
                        </a:rPr>
                        <a:t>ShareRobot</a:t>
                      </a:r>
                      <a:r>
                        <a:rPr lang="zh-CN" altLang="en-US" sz="1800" b="0" dirty="0">
                          <a:solidFill>
                            <a:schemeClr val="tx1"/>
                          </a:solidFill>
                          <a:latin typeface="微软雅黑" panose="020B0503020204020204" charset="-122"/>
                          <a:ea typeface="微软雅黑" panose="020B0503020204020204" charset="-122"/>
                          <a:cs typeface="微软雅黑" panose="020B0503020204020204" charset="-122"/>
                        </a:rPr>
                        <a:t>：任务规划</a:t>
                      </a:r>
                      <a:r>
                        <a:rPr lang="en-US" altLang="zh-CN" sz="1800" b="0"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800" b="0" dirty="0">
                          <a:solidFill>
                            <a:schemeClr val="tx1"/>
                          </a:solidFill>
                          <a:latin typeface="微软雅黑" panose="020B0503020204020204" charset="-122"/>
                          <a:ea typeface="微软雅黑" panose="020B0503020204020204" charset="-122"/>
                          <a:cs typeface="微软雅黑" panose="020B0503020204020204" charset="-122"/>
                        </a:rPr>
                        <a:t>、物体可供性</a:t>
                      </a:r>
                      <a:r>
                        <a:rPr lang="en-US" altLang="zh-CN" sz="1800" b="0"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800" b="0" dirty="0">
                          <a:solidFill>
                            <a:schemeClr val="tx1"/>
                          </a:solidFill>
                          <a:latin typeface="微软雅黑" panose="020B0503020204020204" charset="-122"/>
                          <a:ea typeface="微软雅黑" panose="020B0503020204020204" charset="-122"/>
                          <a:cs typeface="微软雅黑" panose="020B0503020204020204" charset="-122"/>
                        </a:rPr>
                        <a:t>、末端执行器轨迹等多维信息。</a:t>
                      </a:r>
                      <a:endParaRPr lang="zh-CN" altLang="en-US" sz="1800" b="0" dirty="0">
                        <a:solidFill>
                          <a:schemeClr val="tx1"/>
                        </a:solidFill>
                        <a:latin typeface="微软雅黑" panose="020B0503020204020204" charset="-122"/>
                        <a:ea typeface="微软雅黑" panose="020B0503020204020204" charset="-122"/>
                        <a:cs typeface="微软雅黑" panose="020B0503020204020204" charset="-122"/>
                      </a:endParaRPr>
                    </a:p>
                  </a:txBody>
                  <a:tcPr>
                    <a:lnT w="12700" cap="flat" cmpd="sng" algn="ctr">
                      <a:solidFill>
                        <a:schemeClr val="accent1"/>
                      </a:solidFill>
                      <a:prstDash val="solid"/>
                      <a:round/>
                      <a:headEnd type="none" w="med" len="med"/>
                      <a:tailEnd type="none" w="med" len="med"/>
                    </a:lnT>
                    <a:noFill/>
                  </a:tcPr>
                </a:tc>
              </a:tr>
            </a:tbl>
          </a:graphicData>
        </a:graphic>
      </p:graphicFrame>
      <p:graphicFrame>
        <p:nvGraphicFramePr>
          <p:cNvPr id="25" name="表格 24"/>
          <p:cNvGraphicFramePr>
            <a:graphicFrameLocks noGrp="1"/>
          </p:cNvGraphicFramePr>
          <p:nvPr/>
        </p:nvGraphicFramePr>
        <p:xfrm>
          <a:off x="4614464" y="1582189"/>
          <a:ext cx="6505331" cy="944880"/>
        </p:xfrm>
        <a:graphic>
          <a:graphicData uri="http://schemas.openxmlformats.org/drawingml/2006/table">
            <a:tbl>
              <a:tblPr firstRow="1" bandRow="1">
                <a:tableStyleId>{5C22544A-7EE6-4342-B048-85BDC9FD1C3A}</a:tableStyleId>
              </a:tblPr>
              <a:tblGrid>
                <a:gridCol w="6505331"/>
              </a:tblGrid>
              <a:tr h="281727">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solidFill>
                          <a:latin typeface="微软雅黑" panose="020B0503020204020204" charset="-122"/>
                          <a:ea typeface="微软雅黑" panose="020B0503020204020204" charset="-122"/>
                          <a:cs typeface="+mn-ea"/>
                        </a:rPr>
                        <a:t>2.动态理解与第一人称动作</a:t>
                      </a:r>
                      <a:endParaRPr lang="zh-CN" altLang="en-US" sz="2000" b="1" dirty="0">
                        <a:solidFill>
                          <a:schemeClr val="tx1"/>
                        </a:solidFill>
                        <a:latin typeface="微软雅黑" panose="020B0503020204020204" charset="-122"/>
                        <a:ea typeface="微软雅黑" panose="020B0503020204020204" charset="-122"/>
                        <a:cs typeface="+mn-ea"/>
                      </a:endParaRPr>
                    </a:p>
                  </a:txBody>
                  <a:tcPr>
                    <a:lnB w="12700" cap="flat" cmpd="sng" algn="ctr">
                      <a:solidFill>
                        <a:schemeClr val="accent1"/>
                      </a:solidFill>
                      <a:prstDash val="solid"/>
                      <a:round/>
                      <a:headEnd type="none" w="med" len="med"/>
                      <a:tailEnd type="none" w="med" len="med"/>
                    </a:lnB>
                    <a:noFill/>
                  </a:tcPr>
                </a:tc>
              </a:tr>
              <a:tr h="370840">
                <a:tc>
                  <a:txBody>
                    <a:bodyPr/>
                    <a:lstStyle/>
                    <a:p>
                      <a:pPr marL="285750" indent="-285750">
                        <a:buFont typeface="Wingdings" panose="05000000000000000000" charset="0"/>
                        <a:buChar char="l"/>
                      </a:pPr>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EPIC-KITCHENS 借厨房视频时序数据助动态理解与动作识别；Ego4D 子集聚焦物体交互变化，适配动态任务；</a:t>
                      </a:r>
                      <a:endParaRPr lang="zh-CN" altLang="en-US" sz="1800" dirty="0">
                        <a:solidFill>
                          <a:schemeClr val="tx1"/>
                        </a:solidFill>
                        <a:latin typeface="微软雅黑" panose="020B0503020204020204" charset="-122"/>
                        <a:ea typeface="微软雅黑" panose="020B0503020204020204" charset="-122"/>
                        <a:cs typeface="微软雅黑" panose="020B0503020204020204" charset="-122"/>
                      </a:endParaRPr>
                    </a:p>
                  </a:txBody>
                  <a:tcPr>
                    <a:lnT w="12700" cap="flat" cmpd="sng" algn="ctr">
                      <a:solidFill>
                        <a:schemeClr val="accent1"/>
                      </a:solidFill>
                      <a:prstDash val="solid"/>
                      <a:round/>
                      <a:headEnd type="none" w="med" len="med"/>
                      <a:tailEnd type="none" w="med" len="med"/>
                    </a:lnT>
                    <a:noFill/>
                  </a:tcPr>
                </a:tc>
              </a:tr>
            </a:tbl>
          </a:graphicData>
        </a:graphic>
      </p:graphicFrame>
      <p:graphicFrame>
        <p:nvGraphicFramePr>
          <p:cNvPr id="21" name="表格 20"/>
          <p:cNvGraphicFramePr>
            <a:graphicFrameLocks noGrp="1"/>
          </p:cNvGraphicFramePr>
          <p:nvPr/>
        </p:nvGraphicFramePr>
        <p:xfrm>
          <a:off x="5064125" y="2894965"/>
          <a:ext cx="6505575" cy="1828800"/>
        </p:xfrm>
        <a:graphic>
          <a:graphicData uri="http://schemas.openxmlformats.org/drawingml/2006/table">
            <a:tbl>
              <a:tblPr firstRow="1" bandRow="1">
                <a:tableStyleId>{5C22544A-7EE6-4342-B048-85BDC9FD1C3A}</a:tableStyleId>
              </a:tblPr>
              <a:tblGrid>
                <a:gridCol w="6505575"/>
              </a:tblGrid>
              <a:tr h="38989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solidFill>
                          <a:latin typeface="微软雅黑" panose="020B0503020204020204" charset="-122"/>
                          <a:ea typeface="微软雅黑" panose="020B0503020204020204" charset="-122"/>
                          <a:cs typeface="+mn-ea"/>
                        </a:rPr>
                        <a:t>3.任务规划与偏好对齐</a:t>
                      </a:r>
                      <a:endParaRPr lang="zh-CN" altLang="en-US" sz="2000" b="1" dirty="0">
                        <a:solidFill>
                          <a:schemeClr val="tx1"/>
                        </a:solidFill>
                        <a:latin typeface="微软雅黑" panose="020B0503020204020204" charset="-122"/>
                        <a:ea typeface="微软雅黑" panose="020B0503020204020204" charset="-122"/>
                        <a:cs typeface="+mn-ea"/>
                      </a:endParaRPr>
                    </a:p>
                  </a:txBody>
                  <a:tcPr>
                    <a:lnB w="12700" cap="flat" cmpd="sng" algn="ctr">
                      <a:solidFill>
                        <a:schemeClr val="accent1"/>
                      </a:solidFill>
                      <a:prstDash val="solid"/>
                      <a:round/>
                      <a:headEnd type="none" w="med" len="med"/>
                      <a:tailEnd type="none" w="med" len="med"/>
                    </a:lnB>
                    <a:noFill/>
                  </a:tcPr>
                </a:tc>
              </a:tr>
              <a:tr h="1432560">
                <a:tc>
                  <a:txBody>
                    <a:bodyPr/>
                    <a:lstStyle/>
                    <a:p>
                      <a:pPr marL="285750" indent="-285750">
                        <a:buFont typeface="Wingdings" panose="05000000000000000000" charset="0"/>
                        <a:buChar char="l"/>
                      </a:pPr>
                      <a:r>
                        <a:rPr lang="en-US" altLang="zh-CN" sz="1800" dirty="0">
                          <a:solidFill>
                            <a:schemeClr val="tx1"/>
                          </a:solidFill>
                          <a:latin typeface="微软雅黑" panose="020B0503020204020204" charset="-122"/>
                          <a:ea typeface="微软雅黑" panose="020B0503020204020204" charset="-122"/>
                          <a:cs typeface="微软雅黑" panose="020B0503020204020204" charset="-122"/>
                        </a:rPr>
                        <a:t>BridgeData V2</a:t>
                      </a:r>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 专注指令执行对齐，提升复杂任务规划力；我们使用</a:t>
                      </a:r>
                      <a:r>
                        <a:rPr lang="en-US" altLang="zh-CN" sz="1800" dirty="0">
                          <a:solidFill>
                            <a:schemeClr val="tx1"/>
                          </a:solidFill>
                          <a:latin typeface="微软雅黑" panose="020B0503020204020204" charset="-122"/>
                          <a:ea typeface="微软雅黑" panose="020B0503020204020204" charset="-122"/>
                          <a:cs typeface="微软雅黑" panose="020B0503020204020204" charset="-122"/>
                        </a:rPr>
                        <a:t> BridgeData V2 </a:t>
                      </a:r>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作为任务模板与语言轨迹对齐基础，但在</a:t>
                      </a:r>
                      <a:r>
                        <a:rPr lang="en-US" altLang="zh-CN" sz="1800" dirty="0">
                          <a:solidFill>
                            <a:schemeClr val="tx1"/>
                          </a:solidFill>
                          <a:latin typeface="微软雅黑" panose="020B0503020204020204" charset="-122"/>
                          <a:ea typeface="微软雅黑" panose="020B0503020204020204" charset="-122"/>
                          <a:cs typeface="微软雅黑" panose="020B0503020204020204" charset="-122"/>
                        </a:rPr>
                        <a:t> </a:t>
                      </a:r>
                      <a:r>
                        <a:rPr lang="en-US" altLang="zh-CN" sz="1800" dirty="0">
                          <a:solidFill>
                            <a:schemeClr val="tx1"/>
                          </a:solidFill>
                          <a:latin typeface="微软雅黑" panose="020B0503020204020204" charset="-122"/>
                          <a:ea typeface="微软雅黑" panose="020B0503020204020204" charset="-122"/>
                          <a:cs typeface="微软雅黑" panose="020B0503020204020204" charset="-122"/>
                        </a:rPr>
                        <a:t>Ai2-THOR </a:t>
                      </a:r>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仿真中做对应映射，故</a:t>
                      </a:r>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可能存在环境／物理差异，这一点未来需进一步验证。</a:t>
                      </a:r>
                      <a:endParaRPr lang="zh-CN" altLang="en-US" sz="1800" dirty="0">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sz="1600" dirty="0">
                        <a:solidFill>
                          <a:schemeClr val="tx1"/>
                        </a:solidFill>
                        <a:latin typeface="微软雅黑 Light" panose="020B0502040204020203" charset="-122"/>
                        <a:ea typeface="微软雅黑 Light" panose="020B0502040204020203" charset="-122"/>
                      </a:endParaRPr>
                    </a:p>
                  </a:txBody>
                  <a:tcPr>
                    <a:lnT w="12700" cap="flat" cmpd="sng" algn="ctr">
                      <a:solidFill>
                        <a:schemeClr val="accent1"/>
                      </a:solidFill>
                      <a:prstDash val="solid"/>
                      <a:round/>
                      <a:headEnd type="none" w="med" len="med"/>
                      <a:tailEnd type="none" w="med" len="med"/>
                    </a:lnT>
                    <a:noFill/>
                  </a:tcPr>
                </a:tc>
              </a:tr>
            </a:tbl>
          </a:graphicData>
        </a:graphic>
      </p:graphicFrame>
      <p:sp>
        <p:nvSpPr>
          <p:cNvPr id="23" name="文本框 22"/>
          <p:cNvSpPr txBox="1"/>
          <p:nvPr/>
        </p:nvSpPr>
        <p:spPr>
          <a:xfrm>
            <a:off x="1527175" y="3404870"/>
            <a:ext cx="2104390" cy="706755"/>
          </a:xfrm>
          <a:prstGeom prst="rect">
            <a:avLst/>
          </a:prstGeom>
          <a:noFill/>
        </p:spPr>
        <p:txBody>
          <a:bodyPr wrap="square" rtlCol="0" anchor="t">
            <a:spAutoFit/>
          </a:bodyPr>
          <a:p>
            <a:pPr algn="ctr"/>
            <a:r>
              <a:rPr lang="zh-CN" altLang="en-US" sz="2000" b="1" dirty="0">
                <a:solidFill>
                  <a:schemeClr val="bg1"/>
                </a:solidFill>
                <a:latin typeface="微软雅黑" panose="020B0503020204020204" charset="-122"/>
                <a:ea typeface="微软雅黑" panose="020B0503020204020204" charset="-122"/>
                <a:sym typeface="+mn-ea"/>
              </a:rPr>
              <a:t>其他三类能</a:t>
            </a:r>
            <a:r>
              <a:rPr lang="zh-CN" altLang="en-US" sz="2000" b="1" dirty="0">
                <a:solidFill>
                  <a:schemeClr val="bg1"/>
                </a:solidFill>
                <a:latin typeface="微软雅黑" panose="020B0503020204020204" charset="-122"/>
                <a:ea typeface="微软雅黑" panose="020B0503020204020204" charset="-122"/>
                <a:sym typeface="+mn-ea"/>
              </a:rPr>
              <a:t>力桶</a:t>
            </a:r>
            <a:r>
              <a:rPr lang="en-US" altLang="zh-CN" sz="2000" b="1" dirty="0">
                <a:solidFill>
                  <a:schemeClr val="bg1"/>
                </a:solidFill>
                <a:latin typeface="微软雅黑" panose="020B0503020204020204" charset="-122"/>
                <a:ea typeface="微软雅黑" panose="020B0503020204020204" charset="-122"/>
                <a:sym typeface="+mn-ea"/>
              </a:rPr>
              <a:t> + </a:t>
            </a:r>
            <a:r>
              <a:rPr lang="zh-CN" altLang="en-US" sz="2000" b="1" dirty="0">
                <a:solidFill>
                  <a:schemeClr val="bg1"/>
                </a:solidFill>
                <a:latin typeface="微软雅黑" panose="020B0503020204020204" charset="-122"/>
                <a:ea typeface="微软雅黑" panose="020B0503020204020204" charset="-122"/>
                <a:sym typeface="+mn-ea"/>
              </a:rPr>
              <a:t>代表性数据集</a:t>
            </a:r>
            <a:endParaRPr lang="zh-CN" altLang="en-US" sz="20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3930650" y="0"/>
            <a:ext cx="1463040"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bg1"/>
                </a:solidFill>
                <a:latin typeface="微软雅黑" panose="020B0503020204020204" charset="-122"/>
                <a:ea typeface="微软雅黑" panose="020B0503020204020204" charset="-122"/>
              </a:rPr>
              <a:t>数据</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11517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grpSp>
        <p:nvGrpSpPr>
          <p:cNvPr id="11" name="组合 10"/>
          <p:cNvGrpSpPr/>
          <p:nvPr/>
        </p:nvGrpSpPr>
        <p:grpSpPr>
          <a:xfrm>
            <a:off x="353060" y="1054735"/>
            <a:ext cx="11557000" cy="5501640"/>
            <a:chOff x="490" y="1661"/>
            <a:chExt cx="18200" cy="8664"/>
          </a:xfrm>
        </p:grpSpPr>
        <p:sp>
          <p:nvSpPr>
            <p:cNvPr id="27" name="矩形 26"/>
            <p:cNvSpPr/>
            <p:nvPr/>
          </p:nvSpPr>
          <p:spPr>
            <a:xfrm>
              <a:off x="490" y="2087"/>
              <a:ext cx="18200" cy="8238"/>
            </a:xfrm>
            <a:prstGeom prst="rect">
              <a:avLst/>
            </a:prstGeom>
            <a:solidFill>
              <a:schemeClr val="bg2"/>
            </a:solidFill>
            <a:ln w="0">
              <a:solidFill>
                <a:schemeClr val="tx1">
                  <a:lumMod val="50000"/>
                  <a:lumOff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标题"/>
            <p:cNvSpPr/>
            <p:nvPr>
              <p:custDataLst>
                <p:tags r:id="rId2"/>
              </p:custDataLst>
            </p:nvPr>
          </p:nvSpPr>
          <p:spPr>
            <a:xfrm>
              <a:off x="5588" y="1661"/>
              <a:ext cx="8624" cy="920"/>
            </a:xfrm>
            <a:prstGeom prst="roundRect">
              <a:avLst>
                <a:gd name="adj" fmla="val 14333"/>
              </a:avLst>
            </a:prstGeom>
            <a:gradFill flip="none">
              <a:gsLst>
                <a:gs pos="50000">
                  <a:schemeClr val="accent1"/>
                </a:gs>
                <a:gs pos="0">
                  <a:schemeClr val="accent1">
                    <a:lumMod val="25000"/>
                    <a:lumOff val="75000"/>
                  </a:schemeClr>
                </a:gs>
                <a:gs pos="100000">
                  <a:schemeClr val="accent1">
                    <a:lumMod val="85000"/>
                  </a:schemeClr>
                </a:gs>
              </a:gsLst>
              <a:lin ang="10380000" scaled="1"/>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2.2 </a:t>
              </a:r>
              <a:r>
                <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数据</a:t>
              </a:r>
              <a:r>
                <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预处理</a:t>
              </a:r>
              <a:endPar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endParaRPr>
            </a:p>
          </p:txBody>
        </p:sp>
        <p:sp>
          <p:nvSpPr>
            <p:cNvPr id="38" name="矩形"/>
            <p:cNvSpPr/>
            <p:nvPr/>
          </p:nvSpPr>
          <p:spPr>
            <a:xfrm>
              <a:off x="861" y="2581"/>
              <a:ext cx="17544" cy="1570"/>
            </a:xfrm>
            <a:prstGeom prst="rect">
              <a:avLst/>
            </a:prstGeom>
            <a:noFill/>
            <a:ln w="12700" cap="flat" cmpd="sng">
              <a:noFill/>
              <a:prstDash val="solid"/>
              <a:miter/>
            </a:ln>
          </p:spPr>
          <p:txBody>
            <a:bodyPr vert="horz" wrap="square" lIns="91440" tIns="45720" rIns="91440" bIns="45720" anchor="t" anchorCtr="0"/>
            <a:lstStyle/>
            <a:p>
              <a:pPr algn="l" latinLnBrk="1">
                <a:lnSpc>
                  <a:spcPct val="150000"/>
                </a:lnSpc>
                <a:spcBef>
                  <a:spcPts val="0"/>
                </a:spcBef>
                <a:spcAft>
                  <a:spcPts val="0"/>
                </a:spcAft>
                <a:buNone/>
              </a:pPr>
              <a:endParaRPr lang="zh-CN" altLang="en-US" b="0"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p:txBody>
        </p:sp>
      </p:grpSp>
      <p:sp useBgFill="1">
        <p:nvSpPr>
          <p:cNvPr id="13" name="圆角矩形 12"/>
          <p:cNvSpPr/>
          <p:nvPr>
            <p:custDataLst>
              <p:tags r:id="rId3"/>
            </p:custDataLst>
          </p:nvPr>
        </p:nvSpPr>
        <p:spPr>
          <a:xfrm>
            <a:off x="1178560" y="2574925"/>
            <a:ext cx="2244090" cy="3510915"/>
          </a:xfrm>
          <a:prstGeom prst="roundRect">
            <a:avLst>
              <a:gd name="adj" fmla="val 7376"/>
            </a:avLst>
          </a:prstGeom>
          <a:ln w="6350">
            <a:solidFill>
              <a:srgbClr val="D9D9D9"/>
            </a:solidFill>
          </a:ln>
          <a:effectLst>
            <a:outerShdw blurRad="139700" dist="76200" dir="2280000" algn="t"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44" name="圆角矩形 43"/>
          <p:cNvSpPr/>
          <p:nvPr>
            <p:custDataLst>
              <p:tags r:id="rId4"/>
            </p:custDataLst>
          </p:nvPr>
        </p:nvSpPr>
        <p:spPr>
          <a:xfrm>
            <a:off x="3780790" y="2574925"/>
            <a:ext cx="2244090" cy="3510915"/>
          </a:xfrm>
          <a:prstGeom prst="roundRect">
            <a:avLst>
              <a:gd name="adj" fmla="val 7376"/>
            </a:avLst>
          </a:prstGeom>
          <a:ln w="6350">
            <a:solidFill>
              <a:srgbClr val="D9D9D9"/>
            </a:solidFill>
          </a:ln>
          <a:effectLst>
            <a:outerShdw blurRad="139700" dist="76200" dir="2280000" algn="t"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16" name="圆角矩形 15"/>
          <p:cNvSpPr/>
          <p:nvPr>
            <p:custDataLst>
              <p:tags r:id="rId5"/>
            </p:custDataLst>
          </p:nvPr>
        </p:nvSpPr>
        <p:spPr>
          <a:xfrm>
            <a:off x="6383020" y="2574925"/>
            <a:ext cx="2244090" cy="3510915"/>
          </a:xfrm>
          <a:prstGeom prst="roundRect">
            <a:avLst>
              <a:gd name="adj" fmla="val 7376"/>
            </a:avLst>
          </a:prstGeom>
          <a:ln w="6350">
            <a:solidFill>
              <a:srgbClr val="D9D9D9"/>
            </a:solidFill>
          </a:ln>
          <a:effectLst>
            <a:outerShdw blurRad="139700" dist="76200" dir="2280000" algn="t"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useBgFill="1">
        <p:nvSpPr>
          <p:cNvPr id="20" name="圆角矩形 19"/>
          <p:cNvSpPr/>
          <p:nvPr>
            <p:custDataLst>
              <p:tags r:id="rId6"/>
            </p:custDataLst>
          </p:nvPr>
        </p:nvSpPr>
        <p:spPr>
          <a:xfrm>
            <a:off x="8985250" y="2574925"/>
            <a:ext cx="2244090" cy="3510915"/>
          </a:xfrm>
          <a:prstGeom prst="roundRect">
            <a:avLst>
              <a:gd name="adj" fmla="val 7376"/>
            </a:avLst>
          </a:prstGeom>
          <a:ln w="6350">
            <a:solidFill>
              <a:srgbClr val="D9D9D9"/>
            </a:solidFill>
          </a:ln>
          <a:effectLst>
            <a:outerShdw blurRad="139700" dist="76200" dir="2280000" algn="t"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1" name="圆角矩形 20"/>
          <p:cNvSpPr/>
          <p:nvPr>
            <p:custDataLst>
              <p:tags r:id="rId7"/>
            </p:custDataLst>
          </p:nvPr>
        </p:nvSpPr>
        <p:spPr>
          <a:xfrm>
            <a:off x="1178560" y="2574925"/>
            <a:ext cx="2244090" cy="2787015"/>
          </a:xfrm>
          <a:prstGeom prst="roundRect">
            <a:avLst>
              <a:gd name="adj" fmla="val 7376"/>
            </a:avLst>
          </a:prstGeom>
          <a:solidFill>
            <a:srgbClr val="FFFFFF">
              <a:alpha val="20000"/>
            </a:srgbClr>
          </a:solidFill>
          <a:ln w="6350">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3" name="圆角矩形 22"/>
          <p:cNvSpPr/>
          <p:nvPr>
            <p:custDataLst>
              <p:tags r:id="rId8"/>
            </p:custDataLst>
          </p:nvPr>
        </p:nvSpPr>
        <p:spPr>
          <a:xfrm>
            <a:off x="3780790" y="2574925"/>
            <a:ext cx="2244090" cy="2787015"/>
          </a:xfrm>
          <a:prstGeom prst="roundRect">
            <a:avLst>
              <a:gd name="adj" fmla="val 7376"/>
            </a:avLst>
          </a:prstGeom>
          <a:solidFill>
            <a:srgbClr val="FFFFFF">
              <a:alpha val="20000"/>
            </a:srgbClr>
          </a:solidFill>
          <a:ln w="6350">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5" name="圆角矩形 24"/>
          <p:cNvSpPr/>
          <p:nvPr>
            <p:custDataLst>
              <p:tags r:id="rId9"/>
            </p:custDataLst>
          </p:nvPr>
        </p:nvSpPr>
        <p:spPr>
          <a:xfrm>
            <a:off x="6383020" y="2574925"/>
            <a:ext cx="2244090" cy="2787015"/>
          </a:xfrm>
          <a:prstGeom prst="roundRect">
            <a:avLst>
              <a:gd name="adj" fmla="val 7376"/>
            </a:avLst>
          </a:prstGeom>
          <a:solidFill>
            <a:srgbClr val="FFFFFF">
              <a:alpha val="20000"/>
            </a:srgbClr>
          </a:solidFill>
          <a:ln w="6350">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9" name="圆角矩形 28"/>
          <p:cNvSpPr/>
          <p:nvPr>
            <p:custDataLst>
              <p:tags r:id="rId10"/>
            </p:custDataLst>
          </p:nvPr>
        </p:nvSpPr>
        <p:spPr>
          <a:xfrm>
            <a:off x="8985250" y="2574925"/>
            <a:ext cx="2244090" cy="2787015"/>
          </a:xfrm>
          <a:prstGeom prst="roundRect">
            <a:avLst>
              <a:gd name="adj" fmla="val 7376"/>
            </a:avLst>
          </a:prstGeom>
          <a:solidFill>
            <a:srgbClr val="FFFFFF">
              <a:alpha val="20000"/>
            </a:srgbClr>
          </a:solidFill>
          <a:ln w="6350">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0" name="任意多边形 29"/>
          <p:cNvSpPr/>
          <p:nvPr>
            <p:custDataLst>
              <p:tags r:id="rId11"/>
            </p:custDataLst>
          </p:nvPr>
        </p:nvSpPr>
        <p:spPr>
          <a:xfrm>
            <a:off x="508000" y="1823085"/>
            <a:ext cx="11329670" cy="55816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8241" h="879">
                <a:moveTo>
                  <a:pt x="440" y="0"/>
                </a:moveTo>
                <a:lnTo>
                  <a:pt x="18241" y="0"/>
                </a:lnTo>
                <a:lnTo>
                  <a:pt x="18241" y="879"/>
                </a:lnTo>
                <a:lnTo>
                  <a:pt x="440" y="879"/>
                </a:lnTo>
                <a:cubicBezTo>
                  <a:pt x="197" y="879"/>
                  <a:pt x="0" y="682"/>
                  <a:pt x="0" y="440"/>
                </a:cubicBezTo>
                <a:cubicBezTo>
                  <a:pt x="0" y="197"/>
                  <a:pt x="197" y="0"/>
                  <a:pt x="440" y="0"/>
                </a:cubicBezTo>
                <a:close/>
              </a:path>
            </a:pathLst>
          </a:custGeom>
          <a:solidFill>
            <a:srgbClr val="FFFFFF">
              <a:alpha val="20000"/>
            </a:srgbClr>
          </a:solidFill>
          <a:ln w="6350">
            <a:solidFill>
              <a:srgbClr val="D9D9D9"/>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grpSp>
        <p:nvGrpSpPr>
          <p:cNvPr id="51" name="组合 50"/>
          <p:cNvGrpSpPr/>
          <p:nvPr>
            <p:custDataLst>
              <p:tags r:id="rId12"/>
            </p:custDataLst>
          </p:nvPr>
        </p:nvGrpSpPr>
        <p:grpSpPr>
          <a:xfrm>
            <a:off x="3523615" y="1934210"/>
            <a:ext cx="709930" cy="337820"/>
            <a:chOff x="527" y="2705"/>
            <a:chExt cx="1118" cy="532"/>
          </a:xfrm>
        </p:grpSpPr>
        <p:sp>
          <p:nvSpPr>
            <p:cNvPr id="32" name="圆角矩形 31"/>
            <p:cNvSpPr/>
            <p:nvPr>
              <p:custDataLst>
                <p:tags r:id="rId13"/>
              </p:custDataLst>
            </p:nvPr>
          </p:nvSpPr>
          <p:spPr>
            <a:xfrm>
              <a:off x="527" y="2705"/>
              <a:ext cx="1119" cy="533"/>
            </a:xfrm>
            <a:prstGeom prst="roundRect">
              <a:avLst>
                <a:gd name="adj" fmla="val 50000"/>
              </a:avLst>
            </a:prstGeom>
            <a:solidFill>
              <a:schemeClr val="accent1"/>
            </a:solidFill>
            <a:ln w="635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cxnSp>
          <p:nvCxnSpPr>
            <p:cNvPr id="34" name="直接箭头连接符 33"/>
            <p:cNvCxnSpPr/>
            <p:nvPr>
              <p:custDataLst>
                <p:tags r:id="rId14"/>
              </p:custDataLst>
            </p:nvPr>
          </p:nvCxnSpPr>
          <p:spPr>
            <a:xfrm>
              <a:off x="899" y="2972"/>
              <a:ext cx="375" cy="0"/>
            </a:xfrm>
            <a:prstGeom prst="straightConnector1">
              <a:avLst/>
            </a:prstGeom>
            <a:ln w="19050">
              <a:solidFill>
                <a:srgbClr val="FFFFFF"/>
              </a:solidFill>
              <a:tailEnd type="arrow" w="med" len="sm"/>
            </a:ln>
          </p:spPr>
          <p:style>
            <a:lnRef idx="2">
              <a:schemeClr val="accent1"/>
            </a:lnRef>
            <a:fillRef idx="0">
              <a:srgbClr val="FFFFFF"/>
            </a:fillRef>
            <a:effectRef idx="0">
              <a:srgbClr val="FFFFFF"/>
            </a:effectRef>
            <a:fontRef idx="minor">
              <a:schemeClr val="tx1"/>
            </a:fontRef>
          </p:style>
        </p:cxnSp>
      </p:grpSp>
      <p:sp>
        <p:nvSpPr>
          <p:cNvPr id="35" name="文本框 34"/>
          <p:cNvSpPr txBox="1"/>
          <p:nvPr>
            <p:custDataLst>
              <p:tags r:id="rId15"/>
            </p:custDataLst>
          </p:nvPr>
        </p:nvSpPr>
        <p:spPr>
          <a:xfrm>
            <a:off x="1492250" y="1918335"/>
            <a:ext cx="1616075" cy="334645"/>
          </a:xfrm>
          <a:prstGeom prst="rect">
            <a:avLst/>
          </a:prstGeom>
          <a:noFill/>
        </p:spPr>
        <p:txBody>
          <a:bodyPr wrap="none" lIns="0" tIns="0" rIns="0" bIns="0" rtlCol="0" anchor="b" anchorCtr="0">
            <a:noAutofit/>
          </a:bodyPr>
          <a:p>
            <a:pPr algn="ctr"/>
            <a:r>
              <a:rPr lang="zh-CN" altLang="en-US" sz="2000" b="1">
                <a:solidFill>
                  <a:schemeClr val="tx1">
                    <a:lumMod val="75000"/>
                    <a:lumOff val="25000"/>
                  </a:schemeClr>
                </a:solidFill>
                <a:latin typeface="微软雅黑" panose="020B0503020204020204" charset="-122"/>
                <a:ea typeface="微软雅黑" panose="020B0503020204020204" charset="-122"/>
              </a:rPr>
              <a:t>对原始数据打标签</a:t>
            </a:r>
            <a:endParaRPr lang="zh-CN" altLang="en-US" sz="2000" b="1">
              <a:solidFill>
                <a:schemeClr val="tx1">
                  <a:lumMod val="75000"/>
                  <a:lumOff val="25000"/>
                </a:schemeClr>
              </a:solidFill>
              <a:latin typeface="微软雅黑" panose="020B0503020204020204" charset="-122"/>
              <a:ea typeface="微软雅黑" panose="020B0503020204020204" charset="-122"/>
            </a:endParaRPr>
          </a:p>
        </p:txBody>
      </p:sp>
      <p:sp>
        <p:nvSpPr>
          <p:cNvPr id="37" name="文本框 36"/>
          <p:cNvSpPr txBox="1"/>
          <p:nvPr>
            <p:custDataLst>
              <p:tags r:id="rId16"/>
            </p:custDataLst>
          </p:nvPr>
        </p:nvSpPr>
        <p:spPr>
          <a:xfrm>
            <a:off x="1444625" y="2744470"/>
            <a:ext cx="1711960" cy="2228850"/>
          </a:xfrm>
          <a:prstGeom prst="rect">
            <a:avLst/>
          </a:prstGeom>
          <a:noFill/>
        </p:spPr>
        <p:txBody>
          <a:bodyPr wrap="square" lIns="0" tIns="0" rIns="0" bIns="0" rtlCol="0">
            <a:noAutofit/>
          </a:bodyPr>
          <a:p>
            <a:pPr algn="just" latinLnBrk="1">
              <a:lnSpc>
                <a:spcPct val="140000"/>
              </a:lnSpc>
            </a:pPr>
            <a:r>
              <a:rPr lang="zh-CN" altLang="en-US" sz="1400">
                <a:latin typeface="微软雅黑" panose="020B0503020204020204" charset="-122"/>
                <a:ea typeface="微软雅黑" panose="020B0503020204020204" charset="-122"/>
                <a:cs typeface="微软雅黑" panose="020B0503020204020204" charset="-122"/>
                <a:sym typeface="+mn-ea"/>
              </a:rPr>
              <a:t>对原始数据的</a:t>
            </a:r>
            <a:r>
              <a:rPr lang="en-US" altLang="zh-CN" sz="1400">
                <a:latin typeface="微软雅黑" panose="020B0503020204020204" charset="-122"/>
                <a:ea typeface="微软雅黑" panose="020B0503020204020204" charset="-122"/>
                <a:cs typeface="微软雅黑" panose="020B0503020204020204" charset="-122"/>
                <a:sym typeface="+mn-ea"/>
              </a:rPr>
              <a:t>(instruction + input + output)</a:t>
            </a:r>
            <a:r>
              <a:rPr lang="zh-CN" altLang="en-US" sz="1400">
                <a:latin typeface="微软雅黑" panose="020B0503020204020204" charset="-122"/>
                <a:ea typeface="微软雅黑" panose="020B0503020204020204" charset="-122"/>
                <a:cs typeface="微软雅黑" panose="020B0503020204020204" charset="-122"/>
                <a:sym typeface="+mn-ea"/>
              </a:rPr>
              <a:t>字段进行打分，打分区间为</a:t>
            </a:r>
            <a:r>
              <a:rPr lang="en-US" altLang="zh-CN" sz="1400">
                <a:latin typeface="微软雅黑" panose="020B0503020204020204" charset="-122"/>
                <a:ea typeface="微软雅黑" panose="020B0503020204020204" charset="-122"/>
                <a:cs typeface="微软雅黑" panose="020B0503020204020204" charset="-122"/>
                <a:sym typeface="+mn-ea"/>
              </a:rPr>
              <a:t>1-6</a:t>
            </a:r>
            <a:r>
              <a:rPr lang="zh-CN" altLang="en-US" sz="1400">
                <a:latin typeface="微软雅黑" panose="020B0503020204020204" charset="-122"/>
                <a:ea typeface="微软雅黑" panose="020B0503020204020204" charset="-122"/>
                <a:cs typeface="微软雅黑" panose="020B0503020204020204" charset="-122"/>
                <a:sym typeface="+mn-ea"/>
              </a:rPr>
              <a:t>分</a:t>
            </a:r>
            <a:br>
              <a:rPr lang="zh-CN" altLang="en-US" sz="1400">
                <a:latin typeface="微软雅黑" panose="020B0503020204020204" charset="-122"/>
                <a:ea typeface="微软雅黑" panose="020B0503020204020204" charset="-122"/>
                <a:cs typeface="微软雅黑" panose="020B0503020204020204" charset="-122"/>
                <a:sym typeface="+mn-ea"/>
              </a:rPr>
            </a:br>
            <a:r>
              <a:rPr lang="en-US" altLang="zh-CN" sz="1400">
                <a:latin typeface="微软雅黑" panose="020B0503020204020204" charset="-122"/>
                <a:ea typeface="微软雅黑" panose="020B0503020204020204" charset="-122"/>
                <a:cs typeface="微软雅黑" panose="020B0503020204020204" charset="-122"/>
                <a:sym typeface="+mn-ea"/>
              </a:rPr>
              <a:t>QA</a:t>
            </a:r>
            <a:r>
              <a:rPr lang="zh-CN" altLang="en-US" sz="1400">
                <a:latin typeface="微软雅黑" panose="020B0503020204020204" charset="-122"/>
                <a:ea typeface="微软雅黑" panose="020B0503020204020204" charset="-122"/>
                <a:cs typeface="微软雅黑" panose="020B0503020204020204" charset="-122"/>
                <a:sym typeface="+mn-ea"/>
              </a:rPr>
              <a:t>相关度：计算原始数据的</a:t>
            </a:r>
            <a:r>
              <a:rPr lang="en-US" altLang="zh-CN" sz="1400">
                <a:latin typeface="微软雅黑" panose="020B0503020204020204" charset="-122"/>
                <a:ea typeface="微软雅黑" panose="020B0503020204020204" charset="-122"/>
                <a:cs typeface="微软雅黑" panose="020B0503020204020204" charset="-122"/>
                <a:sym typeface="+mn-ea"/>
              </a:rPr>
              <a:t>instruction + input</a:t>
            </a:r>
            <a:r>
              <a:rPr lang="zh-CN" altLang="en-US" sz="1400">
                <a:latin typeface="微软雅黑" panose="020B0503020204020204" charset="-122"/>
                <a:ea typeface="微软雅黑" panose="020B0503020204020204" charset="-122"/>
                <a:cs typeface="微软雅黑" panose="020B0503020204020204" charset="-122"/>
                <a:sym typeface="+mn-ea"/>
              </a:rPr>
              <a:t>字段和</a:t>
            </a:r>
            <a:r>
              <a:rPr lang="en-US" altLang="zh-CN" sz="1400">
                <a:latin typeface="微软雅黑" panose="020B0503020204020204" charset="-122"/>
                <a:ea typeface="微软雅黑" panose="020B0503020204020204" charset="-122"/>
                <a:cs typeface="微软雅黑" panose="020B0503020204020204" charset="-122"/>
                <a:sym typeface="+mn-ea"/>
              </a:rPr>
              <a:t>output</a:t>
            </a:r>
            <a:r>
              <a:rPr lang="zh-CN" altLang="en-US" sz="1400">
                <a:latin typeface="微软雅黑" panose="020B0503020204020204" charset="-122"/>
                <a:ea typeface="微软雅黑" panose="020B0503020204020204" charset="-122"/>
                <a:cs typeface="微软雅黑" panose="020B0503020204020204" charset="-122"/>
                <a:sym typeface="+mn-ea"/>
              </a:rPr>
              <a:t>字段之间的语义相似度，如果语义相似度低于一定阈值，删除掉。</a:t>
            </a:r>
            <a:endParaRPr lang="zh-CN" altLang="en-US" sz="1400">
              <a:latin typeface="微软雅黑" panose="020B0503020204020204" charset="-122"/>
              <a:ea typeface="微软雅黑" panose="020B0503020204020204" charset="-122"/>
              <a:cs typeface="微软雅黑" panose="020B0503020204020204" charset="-122"/>
            </a:endParaRPr>
          </a:p>
          <a:p>
            <a:pPr indent="0" algn="just" fontAlgn="auto" latinLnBrk="1">
              <a:lnSpc>
                <a:spcPct val="140000"/>
              </a:lnSpc>
            </a:pPr>
            <a:endParaRPr lang="zh-CN" altLang="en-US" sz="1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3" name="文本框 42"/>
          <p:cNvSpPr txBox="1"/>
          <p:nvPr>
            <p:custDataLst>
              <p:tags r:id="rId17"/>
            </p:custDataLst>
          </p:nvPr>
        </p:nvSpPr>
        <p:spPr>
          <a:xfrm>
            <a:off x="4094480" y="1918335"/>
            <a:ext cx="1616075" cy="334645"/>
          </a:xfrm>
          <a:prstGeom prst="rect">
            <a:avLst/>
          </a:prstGeom>
          <a:noFill/>
        </p:spPr>
        <p:txBody>
          <a:bodyPr wrap="none" lIns="0" tIns="0" rIns="0" bIns="0" rtlCol="0" anchor="b" anchorCtr="0">
            <a:noAutofit/>
          </a:bodyPr>
          <a:p>
            <a:pPr algn="ctr"/>
            <a:r>
              <a:rPr lang="zh-CN" altLang="en-US" sz="2000" b="1">
                <a:solidFill>
                  <a:schemeClr val="tx1">
                    <a:lumMod val="75000"/>
                    <a:lumOff val="25000"/>
                  </a:schemeClr>
                </a:solidFill>
                <a:latin typeface="微软雅黑" panose="020B0503020204020204" charset="-122"/>
                <a:ea typeface="微软雅黑" panose="020B0503020204020204" charset="-122"/>
              </a:rPr>
              <a:t>规则过滤</a:t>
            </a:r>
            <a:endParaRPr lang="zh-CN" altLang="en-US" sz="2000" b="1">
              <a:solidFill>
                <a:schemeClr val="tx1">
                  <a:lumMod val="75000"/>
                  <a:lumOff val="25000"/>
                </a:schemeClr>
              </a:solidFill>
              <a:latin typeface="微软雅黑" panose="020B0503020204020204" charset="-122"/>
              <a:ea typeface="微软雅黑" panose="020B0503020204020204" charset="-122"/>
            </a:endParaRPr>
          </a:p>
        </p:txBody>
      </p:sp>
      <p:sp>
        <p:nvSpPr>
          <p:cNvPr id="46" name="文本框 45"/>
          <p:cNvSpPr txBox="1"/>
          <p:nvPr>
            <p:custDataLst>
              <p:tags r:id="rId18"/>
            </p:custDataLst>
          </p:nvPr>
        </p:nvSpPr>
        <p:spPr>
          <a:xfrm>
            <a:off x="4046855" y="2744470"/>
            <a:ext cx="1711960" cy="2228850"/>
          </a:xfrm>
          <a:prstGeom prst="rect">
            <a:avLst/>
          </a:prstGeom>
          <a:noFill/>
        </p:spPr>
        <p:txBody>
          <a:bodyPr wrap="square" lIns="0" tIns="0" rIns="0" bIns="0" rtlCol="0">
            <a:noAutofit/>
          </a:bodyPr>
          <a:p>
            <a:pPr indent="0" algn="just" fontAlgn="auto">
              <a:lnSpc>
                <a:spcPct val="140000"/>
              </a:lnSpc>
            </a:pPr>
            <a:r>
              <a:rPr lang="en-US" altLang="zh-CN" sz="1400">
                <a:latin typeface="微软雅黑" panose="020B0503020204020204" charset="-122"/>
                <a:ea typeface="微软雅黑" panose="020B0503020204020204" charset="-122"/>
                <a:cs typeface="微软雅黑" panose="020B0503020204020204" charset="-122"/>
                <a:sym typeface="+mn-ea"/>
              </a:rPr>
              <a:t>no output</a:t>
            </a:r>
            <a:r>
              <a:rPr lang="zh-CN" altLang="en-US" sz="1400">
                <a:latin typeface="微软雅黑" panose="020B0503020204020204" charset="-122"/>
                <a:ea typeface="微软雅黑" panose="020B0503020204020204" charset="-122"/>
                <a:cs typeface="微软雅黑" panose="020B0503020204020204" charset="-122"/>
                <a:sym typeface="+mn-ea"/>
              </a:rPr>
              <a:t>输出</a:t>
            </a:r>
            <a:endParaRPr lang="zh-CN" altLang="en-US" sz="1400">
              <a:latin typeface="微软雅黑" panose="020B0503020204020204" charset="-122"/>
              <a:ea typeface="微软雅黑" panose="020B0503020204020204" charset="-122"/>
              <a:cs typeface="微软雅黑" panose="020B0503020204020204" charset="-122"/>
            </a:endParaRPr>
          </a:p>
          <a:p>
            <a:pPr indent="0" algn="just" fontAlgn="auto">
              <a:lnSpc>
                <a:spcPct val="140000"/>
              </a:lnSpc>
            </a:pPr>
            <a:r>
              <a:rPr lang="zh-CN" altLang="en-US" sz="1400">
                <a:latin typeface="微软雅黑" panose="020B0503020204020204" charset="-122"/>
                <a:ea typeface="微软雅黑" panose="020B0503020204020204" charset="-122"/>
                <a:cs typeface="微软雅黑" panose="020B0503020204020204" charset="-122"/>
                <a:sym typeface="+mn-ea"/>
              </a:rPr>
              <a:t>模型输出格式不符合</a:t>
            </a:r>
            <a:endParaRPr lang="zh-CN" altLang="en-US" sz="1400">
              <a:latin typeface="微软雅黑" panose="020B0503020204020204" charset="-122"/>
              <a:ea typeface="微软雅黑" panose="020B0503020204020204" charset="-122"/>
              <a:cs typeface="微软雅黑" panose="020B0503020204020204" charset="-122"/>
            </a:endParaRPr>
          </a:p>
          <a:p>
            <a:pPr indent="0" algn="just" fontAlgn="auto">
              <a:lnSpc>
                <a:spcPct val="140000"/>
              </a:lnSpc>
            </a:pPr>
            <a:endParaRPr lang="zh-CN" altLang="en-US" sz="1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8" name="文本框 47"/>
          <p:cNvSpPr txBox="1"/>
          <p:nvPr>
            <p:custDataLst>
              <p:tags r:id="rId19"/>
            </p:custDataLst>
          </p:nvPr>
        </p:nvSpPr>
        <p:spPr>
          <a:xfrm>
            <a:off x="6696710" y="1918335"/>
            <a:ext cx="1616075" cy="334645"/>
          </a:xfrm>
          <a:prstGeom prst="rect">
            <a:avLst/>
          </a:prstGeom>
          <a:noFill/>
        </p:spPr>
        <p:txBody>
          <a:bodyPr wrap="none" lIns="0" tIns="0" rIns="0" bIns="0" rtlCol="0" anchor="b" anchorCtr="0">
            <a:noAutofit/>
          </a:bodyPr>
          <a:p>
            <a:pPr algn="ctr"/>
            <a:r>
              <a:rPr lang="zh-CN" altLang="en-US" sz="2000" b="1">
                <a:solidFill>
                  <a:schemeClr val="tx1">
                    <a:lumMod val="75000"/>
                    <a:lumOff val="25000"/>
                  </a:schemeClr>
                </a:solidFill>
                <a:latin typeface="微软雅黑" panose="020B0503020204020204" charset="-122"/>
                <a:ea typeface="微软雅黑" panose="020B0503020204020204" charset="-122"/>
              </a:rPr>
              <a:t>模型过滤</a:t>
            </a:r>
            <a:endParaRPr lang="zh-CN" altLang="en-US" sz="2000" b="1">
              <a:solidFill>
                <a:schemeClr val="tx1">
                  <a:lumMod val="75000"/>
                  <a:lumOff val="25000"/>
                </a:schemeClr>
              </a:solidFill>
              <a:latin typeface="微软雅黑" panose="020B0503020204020204" charset="-122"/>
              <a:ea typeface="微软雅黑" panose="020B0503020204020204" charset="-122"/>
            </a:endParaRPr>
          </a:p>
        </p:txBody>
      </p:sp>
      <p:sp>
        <p:nvSpPr>
          <p:cNvPr id="41" name="文本框 40"/>
          <p:cNvSpPr txBox="1"/>
          <p:nvPr>
            <p:custDataLst>
              <p:tags r:id="rId20"/>
            </p:custDataLst>
          </p:nvPr>
        </p:nvSpPr>
        <p:spPr>
          <a:xfrm>
            <a:off x="6649085" y="2744470"/>
            <a:ext cx="1711960" cy="2228850"/>
          </a:xfrm>
          <a:prstGeom prst="rect">
            <a:avLst/>
          </a:prstGeom>
          <a:noFill/>
        </p:spPr>
        <p:txBody>
          <a:bodyPr wrap="square" lIns="0" tIns="0" rIns="0" bIns="0" rtlCol="0">
            <a:noAutofit/>
          </a:bodyPr>
          <a:p>
            <a:pPr indent="0" algn="just" fontAlgn="auto">
              <a:lnSpc>
                <a:spcPct val="140000"/>
              </a:lnSpc>
            </a:pPr>
            <a:r>
              <a:rPr lang="zh-CN" altLang="en-US" sz="1400">
                <a:latin typeface="微软雅黑" panose="020B0503020204020204" charset="-122"/>
                <a:ea typeface="微软雅黑" panose="020B0503020204020204" charset="-122"/>
                <a:cs typeface="微软雅黑" panose="020B0503020204020204" charset="-122"/>
                <a:sym typeface="+mn-ea"/>
              </a:rPr>
              <a:t>基于</a:t>
            </a:r>
            <a:r>
              <a:rPr lang="en-US" altLang="zh-CN" sz="1400">
                <a:latin typeface="微软雅黑" panose="020B0503020204020204" charset="-122"/>
                <a:ea typeface="微软雅黑" panose="020B0503020204020204" charset="-122"/>
                <a:cs typeface="微软雅黑" panose="020B0503020204020204" charset="-122"/>
                <a:sym typeface="+mn-ea"/>
              </a:rPr>
              <a:t>Skywork-VL Reward</a:t>
            </a:r>
            <a:r>
              <a:rPr lang="zh-CN" altLang="en-US" sz="1400">
                <a:latin typeface="微软雅黑" panose="020B0503020204020204" charset="-122"/>
                <a:ea typeface="微软雅黑" panose="020B0503020204020204" charset="-122"/>
                <a:cs typeface="微软雅黑" panose="020B0503020204020204" charset="-122"/>
                <a:sym typeface="+mn-ea"/>
              </a:rPr>
              <a:t>：多模态奖励模型</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得分从高到低排序，选取高得分的数据</a:t>
            </a:r>
            <a:endParaRPr lang="zh-CN" altLang="en-US" sz="1400">
              <a:latin typeface="微软雅黑" panose="020B0503020204020204" charset="-122"/>
              <a:ea typeface="微软雅黑" panose="020B0503020204020204" charset="-122"/>
              <a:cs typeface="微软雅黑" panose="020B0503020204020204" charset="-122"/>
            </a:endParaRPr>
          </a:p>
          <a:p>
            <a:pPr indent="0" algn="just" fontAlgn="auto">
              <a:lnSpc>
                <a:spcPct val="140000"/>
              </a:lnSpc>
            </a:pPr>
            <a:endParaRPr lang="zh-CN" altLang="en-US" sz="1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2" name="文本框 41"/>
          <p:cNvSpPr txBox="1"/>
          <p:nvPr>
            <p:custDataLst>
              <p:tags r:id="rId21"/>
            </p:custDataLst>
          </p:nvPr>
        </p:nvSpPr>
        <p:spPr>
          <a:xfrm>
            <a:off x="9298940" y="1918335"/>
            <a:ext cx="1616075" cy="334645"/>
          </a:xfrm>
          <a:prstGeom prst="rect">
            <a:avLst/>
          </a:prstGeom>
          <a:noFill/>
        </p:spPr>
        <p:txBody>
          <a:bodyPr wrap="none" lIns="0" tIns="0" rIns="0" bIns="0" rtlCol="0" anchor="b" anchorCtr="0">
            <a:noAutofit/>
          </a:bodyPr>
          <a:p>
            <a:pPr algn="ctr"/>
            <a:r>
              <a:rPr lang="zh-CN" altLang="en-US" sz="2000" b="1">
                <a:solidFill>
                  <a:schemeClr val="tx1">
                    <a:lumMod val="75000"/>
                    <a:lumOff val="25000"/>
                  </a:schemeClr>
                </a:solidFill>
                <a:latin typeface="微软雅黑" panose="020B0503020204020204" charset="-122"/>
                <a:ea typeface="微软雅黑" panose="020B0503020204020204" charset="-122"/>
              </a:rPr>
              <a:t>三种粒度去重</a:t>
            </a:r>
            <a:endParaRPr lang="zh-CN" altLang="en-US" sz="2000" b="1">
              <a:solidFill>
                <a:schemeClr val="tx1">
                  <a:lumMod val="75000"/>
                  <a:lumOff val="25000"/>
                </a:schemeClr>
              </a:solidFill>
              <a:latin typeface="微软雅黑" panose="020B0503020204020204" charset="-122"/>
              <a:ea typeface="微软雅黑" panose="020B0503020204020204" charset="-122"/>
            </a:endParaRPr>
          </a:p>
        </p:txBody>
      </p:sp>
      <p:sp>
        <p:nvSpPr>
          <p:cNvPr id="47" name="文本框 46"/>
          <p:cNvSpPr txBox="1"/>
          <p:nvPr>
            <p:custDataLst>
              <p:tags r:id="rId22"/>
            </p:custDataLst>
          </p:nvPr>
        </p:nvSpPr>
        <p:spPr>
          <a:xfrm>
            <a:off x="9251315" y="2744470"/>
            <a:ext cx="1711960" cy="2228850"/>
          </a:xfrm>
          <a:prstGeom prst="rect">
            <a:avLst/>
          </a:prstGeom>
          <a:noFill/>
        </p:spPr>
        <p:txBody>
          <a:bodyPr wrap="square" lIns="0" tIns="0" rIns="0" bIns="0" rtlCol="0">
            <a:noAutofit/>
          </a:bodyPr>
          <a:p>
            <a:pPr indent="0" algn="just" fontAlgn="auto">
              <a:lnSpc>
                <a:spcPct val="140000"/>
              </a:lnSpc>
            </a:pPr>
            <a:r>
              <a:rPr lang="en-US" altLang="zh-CN" sz="1400">
                <a:latin typeface="微软雅黑" panose="020B0503020204020204" charset="-122"/>
                <a:ea typeface="微软雅黑" panose="020B0503020204020204" charset="-122"/>
                <a:cs typeface="微软雅黑" panose="020B0503020204020204" charset="-122"/>
                <a:sym typeface="+mn-ea"/>
              </a:rPr>
              <a:t>simhash</a:t>
            </a: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minhash</a:t>
            </a:r>
            <a:r>
              <a:rPr lang="zh-CN" altLang="en-US" sz="1400">
                <a:latin typeface="微软雅黑" panose="020B0503020204020204" charset="-122"/>
                <a:ea typeface="微软雅黑" panose="020B0503020204020204" charset="-122"/>
                <a:cs typeface="微软雅黑" panose="020B0503020204020204" charset="-122"/>
                <a:sym typeface="+mn-ea"/>
              </a:rPr>
              <a:t>和基于语义编码的语义相似度去重</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语义相似度去重基于</a:t>
            </a:r>
            <a:r>
              <a:rPr lang="en-US" altLang="zh-CN" sz="1400">
                <a:latin typeface="微软雅黑" panose="020B0503020204020204" charset="-122"/>
                <a:ea typeface="微软雅黑" panose="020B0503020204020204" charset="-122"/>
                <a:cs typeface="微软雅黑" panose="020B0503020204020204" charset="-122"/>
                <a:sym typeface="+mn-ea"/>
              </a:rPr>
              <a:t>bce</a:t>
            </a:r>
            <a:r>
              <a:rPr lang="zh-CN" altLang="en-US" sz="1400">
                <a:latin typeface="微软雅黑" panose="020B0503020204020204" charset="-122"/>
                <a:ea typeface="微软雅黑" panose="020B0503020204020204" charset="-122"/>
                <a:cs typeface="微软雅黑" panose="020B0503020204020204" charset="-122"/>
                <a:sym typeface="+mn-ea"/>
              </a:rPr>
              <a:t>模型和</a:t>
            </a:r>
            <a:r>
              <a:rPr lang="en-US" altLang="zh-CN" sz="1400">
                <a:latin typeface="微软雅黑" panose="020B0503020204020204" charset="-122"/>
                <a:ea typeface="微软雅黑" panose="020B0503020204020204" charset="-122"/>
                <a:cs typeface="微软雅黑" panose="020B0503020204020204" charset="-122"/>
                <a:sym typeface="+mn-ea"/>
              </a:rPr>
              <a:t>knn</a:t>
            </a:r>
            <a:r>
              <a:rPr lang="zh-CN" altLang="en-US" sz="1400">
                <a:latin typeface="微软雅黑" panose="020B0503020204020204" charset="-122"/>
                <a:ea typeface="微软雅黑" panose="020B0503020204020204" charset="-122"/>
                <a:cs typeface="微软雅黑" panose="020B0503020204020204" charset="-122"/>
                <a:sym typeface="+mn-ea"/>
              </a:rPr>
              <a:t>算法。</a:t>
            </a:r>
            <a:endParaRPr lang="zh-CN" altLang="en-US" sz="1400">
              <a:latin typeface="微软雅黑" panose="020B0503020204020204" charset="-122"/>
              <a:ea typeface="微软雅黑" panose="020B0503020204020204" charset="-122"/>
              <a:cs typeface="微软雅黑" panose="020B0503020204020204" charset="-122"/>
            </a:endParaRPr>
          </a:p>
          <a:p>
            <a:pPr indent="0" algn="just" fontAlgn="auto">
              <a:lnSpc>
                <a:spcPct val="140000"/>
              </a:lnSpc>
            </a:pPr>
            <a:endParaRPr lang="zh-CN" altLang="en-US" sz="1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grpSp>
        <p:nvGrpSpPr>
          <p:cNvPr id="52" name="组合 51"/>
          <p:cNvGrpSpPr/>
          <p:nvPr/>
        </p:nvGrpSpPr>
        <p:grpSpPr>
          <a:xfrm>
            <a:off x="5801360" y="1934845"/>
            <a:ext cx="709930" cy="337820"/>
            <a:chOff x="527" y="2705"/>
            <a:chExt cx="1118" cy="532"/>
          </a:xfrm>
        </p:grpSpPr>
        <p:sp>
          <p:nvSpPr>
            <p:cNvPr id="53" name="圆角矩形 52"/>
            <p:cNvSpPr/>
            <p:nvPr>
              <p:custDataLst>
                <p:tags r:id="rId23"/>
              </p:custDataLst>
            </p:nvPr>
          </p:nvSpPr>
          <p:spPr>
            <a:xfrm>
              <a:off x="527" y="2705"/>
              <a:ext cx="1119" cy="533"/>
            </a:xfrm>
            <a:prstGeom prst="roundRect">
              <a:avLst>
                <a:gd name="adj" fmla="val 50000"/>
              </a:avLst>
            </a:prstGeom>
            <a:solidFill>
              <a:schemeClr val="accent1"/>
            </a:solidFill>
            <a:ln w="635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cxnSp>
          <p:nvCxnSpPr>
            <p:cNvPr id="54" name="直接箭头连接符 53"/>
            <p:cNvCxnSpPr/>
            <p:nvPr>
              <p:custDataLst>
                <p:tags r:id="rId24"/>
              </p:custDataLst>
            </p:nvPr>
          </p:nvCxnSpPr>
          <p:spPr>
            <a:xfrm>
              <a:off x="899" y="2972"/>
              <a:ext cx="375" cy="0"/>
            </a:xfrm>
            <a:prstGeom prst="straightConnector1">
              <a:avLst/>
            </a:prstGeom>
            <a:ln w="19050">
              <a:solidFill>
                <a:srgbClr val="FFFFFF"/>
              </a:solidFill>
              <a:tailEnd type="arrow" w="med" len="sm"/>
            </a:ln>
          </p:spPr>
          <p:style>
            <a:lnRef idx="2">
              <a:schemeClr val="accent1"/>
            </a:lnRef>
            <a:fillRef idx="0">
              <a:srgbClr val="FFFFFF"/>
            </a:fillRef>
            <a:effectRef idx="0">
              <a:srgbClr val="FFFFFF"/>
            </a:effectRef>
            <a:fontRef idx="minor">
              <a:schemeClr val="tx1"/>
            </a:fontRef>
          </p:style>
        </p:cxnSp>
      </p:grpSp>
      <p:grpSp>
        <p:nvGrpSpPr>
          <p:cNvPr id="55" name="组合 54"/>
          <p:cNvGrpSpPr/>
          <p:nvPr/>
        </p:nvGrpSpPr>
        <p:grpSpPr>
          <a:xfrm>
            <a:off x="8361045" y="1918335"/>
            <a:ext cx="709930" cy="337820"/>
            <a:chOff x="527" y="2705"/>
            <a:chExt cx="1118" cy="532"/>
          </a:xfrm>
        </p:grpSpPr>
        <p:sp>
          <p:nvSpPr>
            <p:cNvPr id="56" name="圆角矩形 55"/>
            <p:cNvSpPr/>
            <p:nvPr>
              <p:custDataLst>
                <p:tags r:id="rId25"/>
              </p:custDataLst>
            </p:nvPr>
          </p:nvSpPr>
          <p:spPr>
            <a:xfrm>
              <a:off x="527" y="2705"/>
              <a:ext cx="1119" cy="533"/>
            </a:xfrm>
            <a:prstGeom prst="roundRect">
              <a:avLst>
                <a:gd name="adj" fmla="val 50000"/>
              </a:avLst>
            </a:prstGeom>
            <a:solidFill>
              <a:schemeClr val="accent1"/>
            </a:solidFill>
            <a:ln w="635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cxnSp>
          <p:nvCxnSpPr>
            <p:cNvPr id="57" name="直接箭头连接符 56"/>
            <p:cNvCxnSpPr/>
            <p:nvPr>
              <p:custDataLst>
                <p:tags r:id="rId26"/>
              </p:custDataLst>
            </p:nvPr>
          </p:nvCxnSpPr>
          <p:spPr>
            <a:xfrm>
              <a:off x="899" y="2972"/>
              <a:ext cx="375" cy="0"/>
            </a:xfrm>
            <a:prstGeom prst="straightConnector1">
              <a:avLst/>
            </a:prstGeom>
            <a:ln w="19050">
              <a:solidFill>
                <a:srgbClr val="FFFFFF"/>
              </a:solidFill>
              <a:tailEnd type="arrow" w="med" len="sm"/>
            </a:ln>
          </p:spPr>
          <p:style>
            <a:lnRef idx="2">
              <a:schemeClr val="accent1"/>
            </a:lnRef>
            <a:fillRef idx="0">
              <a:srgbClr val="FFFFFF"/>
            </a:fillRef>
            <a:effectRef idx="0">
              <a:srgbClr val="FFFFFF"/>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542798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训练</a:t>
            </a:r>
            <a:r>
              <a:rPr lang="en-US" altLang="zh-CN" sz="2000" b="1" dirty="0">
                <a:solidFill>
                  <a:schemeClr val="bg1"/>
                </a:solidFill>
                <a:latin typeface="微软雅黑" panose="020B0503020204020204" charset="-122"/>
                <a:ea typeface="微软雅黑" panose="020B0503020204020204" charset="-122"/>
              </a:rPr>
              <a:t>&amp;</a:t>
            </a:r>
            <a:r>
              <a:rPr lang="zh-CN" altLang="en-US" sz="2000" b="1" dirty="0">
                <a:solidFill>
                  <a:schemeClr val="bg1"/>
                </a:solidFill>
                <a:latin typeface="微软雅黑" panose="020B0503020204020204" charset="-122"/>
                <a:ea typeface="微软雅黑" panose="020B0503020204020204" charset="-122"/>
              </a:rPr>
              <a:t>效果</a:t>
            </a:r>
            <a:endParaRPr lang="zh-CN" altLang="en-US" sz="2000" b="1" dirty="0">
              <a:solidFill>
                <a:schemeClr val="bg1"/>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491490" y="3133725"/>
            <a:ext cx="11303635" cy="0"/>
          </a:xfrm>
          <a:prstGeom prst="straightConnector1">
            <a:avLst/>
          </a:prstGeom>
          <a:ln w="19050">
            <a:tailEnd type="oval" w="lg" len="lg"/>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2"/>
            </p:custDataLst>
          </p:nvPr>
        </p:nvSpPr>
        <p:spPr>
          <a:xfrm>
            <a:off x="2374900" y="3124200"/>
            <a:ext cx="402590" cy="377825"/>
          </a:xfrm>
          <a:prstGeom prst="ellipse">
            <a:avLst/>
          </a:prstGeom>
          <a:gradFill flip="none" rotWithShape="1">
            <a:gsLst>
              <a:gs pos="0">
                <a:schemeClr val="accent1">
                  <a:lumMod val="5000"/>
                  <a:lumOff val="95000"/>
                </a:schemeClr>
              </a:gs>
              <a:gs pos="44000">
                <a:schemeClr val="accent1"/>
              </a:gs>
              <a:gs pos="83000">
                <a:schemeClr val="accent1"/>
              </a:gs>
              <a:gs pos="100000">
                <a:schemeClr val="accent1"/>
              </a:gs>
            </a:gsLst>
            <a:path path="shape">
              <a:fillToRect l="50000" t="50000" r="50000" b="50000"/>
            </a:path>
            <a:tileRect/>
          </a:gradFill>
          <a:ln>
            <a:noFill/>
          </a:ln>
          <a:effectLst>
            <a:glow rad="101600">
              <a:schemeClr val="accent3">
                <a:satMod val="175000"/>
                <a:alpha val="40000"/>
              </a:schemeClr>
            </a:glo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custDataLst>
              <p:tags r:id="rId3"/>
            </p:custDataLst>
          </p:nvPr>
        </p:nvSpPr>
        <p:spPr>
          <a:xfrm>
            <a:off x="5906770" y="3114675"/>
            <a:ext cx="402590" cy="377825"/>
          </a:xfrm>
          <a:prstGeom prst="ellipse">
            <a:avLst/>
          </a:prstGeom>
          <a:gradFill flip="none" rotWithShape="1">
            <a:gsLst>
              <a:gs pos="0">
                <a:schemeClr val="accent1">
                  <a:lumMod val="5000"/>
                  <a:lumOff val="95000"/>
                </a:schemeClr>
              </a:gs>
              <a:gs pos="44000">
                <a:schemeClr val="accent1"/>
              </a:gs>
              <a:gs pos="83000">
                <a:schemeClr val="accent1"/>
              </a:gs>
              <a:gs pos="100000">
                <a:schemeClr val="accent1"/>
              </a:gs>
            </a:gsLst>
            <a:path path="shape">
              <a:fillToRect l="50000" t="50000" r="50000" b="50000"/>
            </a:path>
            <a:tileRect/>
          </a:gradFill>
          <a:ln>
            <a:noFill/>
          </a:ln>
          <a:effectLst>
            <a:glow rad="101600">
              <a:schemeClr val="accent3">
                <a:satMod val="175000"/>
                <a:alpha val="40000"/>
              </a:schemeClr>
            </a:glo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4"/>
            </p:custDataLst>
          </p:nvPr>
        </p:nvSpPr>
        <p:spPr>
          <a:xfrm>
            <a:off x="9439910" y="3124200"/>
            <a:ext cx="402590" cy="377825"/>
          </a:xfrm>
          <a:prstGeom prst="ellipse">
            <a:avLst/>
          </a:prstGeom>
          <a:gradFill flip="none" rotWithShape="1">
            <a:gsLst>
              <a:gs pos="0">
                <a:schemeClr val="accent1">
                  <a:lumMod val="5000"/>
                  <a:lumOff val="95000"/>
                </a:schemeClr>
              </a:gs>
              <a:gs pos="44000">
                <a:schemeClr val="accent1"/>
              </a:gs>
              <a:gs pos="83000">
                <a:schemeClr val="accent1"/>
              </a:gs>
              <a:gs pos="100000">
                <a:schemeClr val="accent1"/>
              </a:gs>
            </a:gsLst>
            <a:path path="shape">
              <a:fillToRect l="50000" t="50000" r="50000" b="50000"/>
            </a:path>
            <a:tileRect/>
          </a:gradFill>
          <a:ln>
            <a:noFill/>
          </a:ln>
          <a:effectLst>
            <a:glow rad="101600">
              <a:schemeClr val="accent3">
                <a:satMod val="175000"/>
                <a:alpha val="40000"/>
              </a:schemeClr>
            </a:glo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折角 62"/>
          <p:cNvSpPr/>
          <p:nvPr>
            <p:custDataLst>
              <p:tags r:id="rId5"/>
            </p:custDataLst>
          </p:nvPr>
        </p:nvSpPr>
        <p:spPr>
          <a:xfrm>
            <a:off x="1049020" y="4119880"/>
            <a:ext cx="3063875" cy="2061845"/>
          </a:xfrm>
          <a:prstGeom prst="foldedCorne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一个圆顶角，剪去另一个顶角 63"/>
          <p:cNvSpPr/>
          <p:nvPr>
            <p:custDataLst>
              <p:tags r:id="rId6"/>
            </p:custDataLst>
          </p:nvPr>
        </p:nvSpPr>
        <p:spPr>
          <a:xfrm>
            <a:off x="1038860" y="3762375"/>
            <a:ext cx="2903220" cy="519430"/>
          </a:xfrm>
          <a:prstGeom prst="snipRoundRect">
            <a:avLst>
              <a:gd name="adj1" fmla="val 50000"/>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rPr>
              <a:t>改进一</a:t>
            </a:r>
            <a:endParaRPr lang="zh-CN" altLang="en-US"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endParaRPr>
          </a:p>
        </p:txBody>
      </p:sp>
      <p:sp>
        <p:nvSpPr>
          <p:cNvPr id="68" name="矩形: 折角 67"/>
          <p:cNvSpPr/>
          <p:nvPr>
            <p:custDataLst>
              <p:tags r:id="rId7"/>
            </p:custDataLst>
          </p:nvPr>
        </p:nvSpPr>
        <p:spPr>
          <a:xfrm>
            <a:off x="4581525" y="4081145"/>
            <a:ext cx="3063875" cy="2061845"/>
          </a:xfrm>
          <a:prstGeom prst="foldedCorne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一个圆顶角，剪去另一个顶角 68"/>
          <p:cNvSpPr/>
          <p:nvPr>
            <p:custDataLst>
              <p:tags r:id="rId8"/>
            </p:custDataLst>
          </p:nvPr>
        </p:nvSpPr>
        <p:spPr>
          <a:xfrm>
            <a:off x="4571365" y="3723640"/>
            <a:ext cx="2903220" cy="519430"/>
          </a:xfrm>
          <a:prstGeom prst="snipRoundRect">
            <a:avLst>
              <a:gd name="adj1" fmla="val 50000"/>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rPr>
              <a:t>改进二</a:t>
            </a:r>
            <a:endParaRPr lang="zh-CN" altLang="en-US"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endParaRPr>
          </a:p>
        </p:txBody>
      </p:sp>
      <p:sp>
        <p:nvSpPr>
          <p:cNvPr id="71" name="矩形: 折角 70"/>
          <p:cNvSpPr/>
          <p:nvPr>
            <p:custDataLst>
              <p:tags r:id="rId9"/>
            </p:custDataLst>
          </p:nvPr>
        </p:nvSpPr>
        <p:spPr>
          <a:xfrm>
            <a:off x="8114030" y="4078605"/>
            <a:ext cx="3063875" cy="2061845"/>
          </a:xfrm>
          <a:prstGeom prst="foldedCorne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一个圆顶角，剪去另一个顶角 71"/>
          <p:cNvSpPr/>
          <p:nvPr>
            <p:custDataLst>
              <p:tags r:id="rId10"/>
            </p:custDataLst>
          </p:nvPr>
        </p:nvSpPr>
        <p:spPr>
          <a:xfrm>
            <a:off x="8103870" y="3721100"/>
            <a:ext cx="2903220" cy="519430"/>
          </a:xfrm>
          <a:prstGeom prst="snipRoundRect">
            <a:avLst>
              <a:gd name="adj1" fmla="val 50000"/>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rPr>
              <a:t>改进三</a:t>
            </a:r>
            <a:endParaRPr lang="zh-CN" altLang="en-US"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endParaRPr>
          </a:p>
        </p:txBody>
      </p:sp>
      <p:sp>
        <p:nvSpPr>
          <p:cNvPr id="73" name="矩形 72"/>
          <p:cNvSpPr/>
          <p:nvPr>
            <p:custDataLst>
              <p:tags r:id="rId11"/>
            </p:custDataLst>
          </p:nvPr>
        </p:nvSpPr>
        <p:spPr>
          <a:xfrm flipH="1">
            <a:off x="1049655" y="4311650"/>
            <a:ext cx="3063875" cy="1337945"/>
          </a:xfrm>
          <a:prstGeom prst="rect">
            <a:avLst/>
          </a:prstGeom>
          <a:ln>
            <a:noFill/>
          </a:ln>
        </p:spPr>
        <p:txBody>
          <a:bodyPr wrap="square" lIns="91440" tIns="45720" rIns="91440" bIns="45720" anchor="t">
            <a:spAutoFit/>
          </a:bodyPr>
          <a:lstStyle/>
          <a:p>
            <a:pPr algn="just">
              <a:lnSpc>
                <a:spcPct val="150000"/>
              </a:lnSpc>
            </a:pPr>
            <a:r>
              <a:rPr lang="zh-CN" altLang="en-US" dirty="0">
                <a:latin typeface="微软雅黑" panose="020B0503020204020204" charset="-122"/>
                <a:ea typeface="微软雅黑" panose="020B0503020204020204" charset="-122"/>
                <a:cs typeface="微软雅黑" panose="020B0503020204020204" charset="-122"/>
              </a:rPr>
              <a:t>引</a:t>
            </a:r>
            <a:r>
              <a:rPr lang="zh-CN" altLang="en-US" dirty="0">
                <a:latin typeface="微软雅黑" panose="020B0503020204020204" charset="-122"/>
                <a:ea typeface="微软雅黑" panose="020B0503020204020204" charset="-122"/>
                <a:cs typeface="微软雅黑" panose="020B0503020204020204" charset="-122"/>
              </a:rPr>
              <a:t>入结构化思维链（</a:t>
            </a:r>
            <a:r>
              <a:rPr lang="en-US" altLang="zh-CN" dirty="0">
                <a:latin typeface="微软雅黑" panose="020B0503020204020204" charset="-122"/>
                <a:ea typeface="微软雅黑" panose="020B0503020204020204" charset="-122"/>
                <a:cs typeface="微软雅黑" panose="020B0503020204020204" charset="-122"/>
              </a:rPr>
              <a:t>CoT</a:t>
            </a:r>
            <a:r>
              <a:rPr lang="zh-CN" altLang="en-US" dirty="0">
                <a:latin typeface="微软雅黑" panose="020B0503020204020204" charset="-122"/>
                <a:ea typeface="微软雅黑" panose="020B0503020204020204" charset="-122"/>
                <a:cs typeface="微软雅黑" panose="020B0503020204020204" charset="-122"/>
              </a:rPr>
              <a:t>）模块，将文本</a:t>
            </a:r>
            <a:r>
              <a:rPr lang="zh-CN" altLang="en-US" dirty="0">
                <a:latin typeface="微软雅黑" panose="020B0503020204020204" charset="-122"/>
                <a:ea typeface="微软雅黑" panose="020B0503020204020204" charset="-122"/>
                <a:cs typeface="微软雅黑" panose="020B0503020204020204" charset="-122"/>
              </a:rPr>
              <a:t>生成任务转化为结构化的</a:t>
            </a:r>
            <a:r>
              <a:rPr lang="en-US" altLang="zh-CN" dirty="0">
                <a:latin typeface="微软雅黑" panose="020B0503020204020204" charset="-122"/>
                <a:ea typeface="微软雅黑" panose="020B0503020204020204" charset="-122"/>
                <a:cs typeface="微软雅黑" panose="020B0503020204020204" charset="-122"/>
              </a:rPr>
              <a:t>JSON</a:t>
            </a:r>
            <a:r>
              <a:rPr lang="zh-CN" altLang="en-US" dirty="0">
                <a:latin typeface="微软雅黑" panose="020B0503020204020204" charset="-122"/>
                <a:ea typeface="微软雅黑" panose="020B0503020204020204" charset="-122"/>
                <a:cs typeface="微软雅黑" panose="020B0503020204020204" charset="-122"/>
              </a:rPr>
              <a:t>格式输出。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74" name="矩形 73"/>
          <p:cNvSpPr/>
          <p:nvPr>
            <p:custDataLst>
              <p:tags r:id="rId12"/>
            </p:custDataLst>
          </p:nvPr>
        </p:nvSpPr>
        <p:spPr>
          <a:xfrm flipH="1">
            <a:off x="4591685" y="4311650"/>
            <a:ext cx="3063875" cy="1337945"/>
          </a:xfrm>
          <a:prstGeom prst="rect">
            <a:avLst/>
          </a:prstGeom>
          <a:ln>
            <a:noFill/>
          </a:ln>
        </p:spPr>
        <p:txBody>
          <a:bodyPr wrap="square" lIns="91440" tIns="45720" rIns="91440" bIns="45720" anchor="t">
            <a:spAutoFit/>
          </a:bodyPr>
          <a:lstStyle/>
          <a:p>
            <a:pPr algn="just">
              <a:lnSpc>
                <a:spcPct val="150000"/>
              </a:lnSpc>
            </a:pPr>
            <a:r>
              <a:rPr lang="zh-CN" altLang="en-US" dirty="0">
                <a:latin typeface="微软雅黑" panose="020B0503020204020204" charset="-122"/>
                <a:ea typeface="微软雅黑" panose="020B0503020204020204" charset="-122"/>
                <a:cs typeface="微软雅黑" panose="020B0503020204020204" charset="-122"/>
              </a:rPr>
              <a:t>对</a:t>
            </a:r>
            <a:r>
              <a:rPr lang="en-US" altLang="zh-CN" dirty="0">
                <a:latin typeface="微软雅黑" panose="020B0503020204020204" charset="-122"/>
                <a:ea typeface="微软雅黑" panose="020B0503020204020204" charset="-122"/>
                <a:cs typeface="微软雅黑" panose="020B0503020204020204" charset="-122"/>
              </a:rPr>
              <a:t>DPO</a:t>
            </a:r>
            <a:r>
              <a:rPr lang="zh-CN" altLang="en-US" dirty="0">
                <a:latin typeface="微软雅黑" panose="020B0503020204020204" charset="-122"/>
                <a:ea typeface="微软雅黑" panose="020B0503020204020204" charset="-122"/>
                <a:cs typeface="微软雅黑" panose="020B0503020204020204" charset="-122"/>
              </a:rPr>
              <a:t>偏好对齐模块进</a:t>
            </a:r>
            <a:r>
              <a:rPr lang="zh-CN" altLang="en-US" dirty="0">
                <a:latin typeface="微软雅黑" panose="020B0503020204020204" charset="-122"/>
                <a:ea typeface="微软雅黑" panose="020B0503020204020204" charset="-122"/>
                <a:cs typeface="微软雅黑" panose="020B0503020204020204" charset="-122"/>
              </a:rPr>
              <a:t>行了优化，使其适应我们</a:t>
            </a:r>
            <a:r>
              <a:rPr lang="zh-CN" altLang="en-US" dirty="0">
                <a:latin typeface="微软雅黑" panose="020B0503020204020204" charset="-122"/>
                <a:ea typeface="微软雅黑" panose="020B0503020204020204" charset="-122"/>
                <a:cs typeface="微软雅黑" panose="020B0503020204020204" charset="-122"/>
              </a:rPr>
              <a:t>自定义的数据集和训练需求。</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75" name="矩形 74"/>
          <p:cNvSpPr/>
          <p:nvPr>
            <p:custDataLst>
              <p:tags r:id="rId13"/>
            </p:custDataLst>
          </p:nvPr>
        </p:nvSpPr>
        <p:spPr>
          <a:xfrm flipH="1">
            <a:off x="8141970" y="4281805"/>
            <a:ext cx="3063875" cy="1337945"/>
          </a:xfrm>
          <a:prstGeom prst="rect">
            <a:avLst/>
          </a:prstGeom>
          <a:ln>
            <a:noFill/>
          </a:ln>
        </p:spPr>
        <p:txBody>
          <a:bodyPr wrap="square" lIns="91440" tIns="45720" rIns="91440" bIns="45720" anchor="t">
            <a:spAutoFit/>
          </a:bodyPr>
          <a:lstStyle/>
          <a:p>
            <a:pPr algn="just">
              <a:lnSpc>
                <a:spcPct val="150000"/>
              </a:lnSpc>
            </a:pPr>
            <a:r>
              <a:rPr lang="zh-CN" altLang="en-US" dirty="0">
                <a:latin typeface="微软雅黑" panose="020B0503020204020204" charset="-122"/>
                <a:ea typeface="微软雅黑" panose="020B0503020204020204" charset="-122"/>
                <a:cs typeface="微软雅黑" panose="020B0503020204020204" charset="-122"/>
              </a:rPr>
              <a:t>在模型训练和评估部分增加了针对</a:t>
            </a:r>
            <a:r>
              <a:rPr lang="en-US" altLang="zh-CN" dirty="0">
                <a:latin typeface="微软雅黑" panose="020B0503020204020204" charset="-122"/>
                <a:ea typeface="微软雅黑" panose="020B0503020204020204" charset="-122"/>
                <a:cs typeface="微软雅黑" panose="020B0503020204020204" charset="-122"/>
              </a:rPr>
              <a:t>7B</a:t>
            </a:r>
            <a:r>
              <a:rPr lang="zh-CN" altLang="en-US" dirty="0">
                <a:latin typeface="微软雅黑" panose="020B0503020204020204" charset="-122"/>
                <a:ea typeface="微软雅黑" panose="020B0503020204020204" charset="-122"/>
                <a:cs typeface="微软雅黑" panose="020B0503020204020204" charset="-122"/>
              </a:rPr>
              <a:t>模型的显存和计算资源优化。</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3" name="圆角矩形 22"/>
          <p:cNvSpPr/>
          <p:nvPr/>
        </p:nvSpPr>
        <p:spPr>
          <a:xfrm>
            <a:off x="685165" y="1292225"/>
            <a:ext cx="10604500" cy="1570990"/>
          </a:xfrm>
          <a:prstGeom prst="roundRect">
            <a:avLst>
              <a:gd name="adj" fmla="val 0"/>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1089025" y="1826895"/>
            <a:ext cx="9918065" cy="922020"/>
          </a:xfrm>
          <a:prstGeom prst="rect">
            <a:avLst/>
          </a:prstGeom>
          <a:noFill/>
        </p:spPr>
        <p:txBody>
          <a:bodyPr wrap="square" rtlCol="0" anchor="t">
            <a:spAutoFit/>
          </a:bodyPr>
          <a:p>
            <a:pPr algn="ctr">
              <a:lnSpc>
                <a:spcPct val="150000"/>
              </a:lnSpc>
            </a:pPr>
            <a:r>
              <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我们在本轮决赛中参考了</a:t>
            </a:r>
            <a:r>
              <a:rPr lang="en-US" altLang="zh-CN"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Qwen3-VL</a:t>
            </a:r>
            <a:r>
              <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和</a:t>
            </a:r>
            <a:r>
              <a:rPr lang="en-US" altLang="zh-CN"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 LLaMA Factory</a:t>
            </a:r>
            <a:r>
              <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的开源训练框架，</a:t>
            </a:r>
            <a:endPar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做了</a:t>
            </a:r>
            <a:r>
              <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一些</a:t>
            </a:r>
            <a:r>
              <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整合：</a:t>
            </a:r>
            <a:endParaRPr lang="zh-CN" altLang="en-US" sz="1800" b="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矩形 33"/>
          <p:cNvSpPr/>
          <p:nvPr/>
        </p:nvSpPr>
        <p:spPr>
          <a:xfrm>
            <a:off x="191135" y="981075"/>
            <a:ext cx="11839575" cy="5217795"/>
          </a:xfrm>
          <a:prstGeom prst="rect">
            <a:avLst/>
          </a:prstGeom>
          <a:noFill/>
          <a:ln w="12700">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矩形 17"/>
          <p:cNvSpPr/>
          <p:nvPr/>
        </p:nvSpPr>
        <p:spPr>
          <a:xfrm>
            <a:off x="318135" y="1108075"/>
            <a:ext cx="11541125" cy="5217795"/>
          </a:xfrm>
          <a:prstGeom prst="rect">
            <a:avLst/>
          </a:prstGeom>
          <a:noFill/>
          <a:ln w="12700">
            <a:solidFill>
              <a:schemeClr val="accent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标题"/>
          <p:cNvSpPr/>
          <p:nvPr>
            <p:custDataLst>
              <p:tags r:id="rId14"/>
            </p:custDataLst>
          </p:nvPr>
        </p:nvSpPr>
        <p:spPr>
          <a:xfrm>
            <a:off x="4113530" y="1291590"/>
            <a:ext cx="3990340" cy="494030"/>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sz="2000" b="1" dirty="0">
                <a:solidFill>
                  <a:srgbClr val="FFFFFF"/>
                </a:solidFill>
                <a:uFillTx/>
                <a:latin typeface="微软雅黑" panose="020B0503020204020204" charset="-122"/>
                <a:ea typeface="微软雅黑" panose="020B0503020204020204" charset="-122"/>
                <a:cs typeface="+mn-ea"/>
                <a:sym typeface="+mn-ea"/>
              </a:rPr>
              <a:t>3 </a:t>
            </a:r>
            <a:r>
              <a:rPr lang="en-US" altLang="en-US" sz="2000" b="1" dirty="0">
                <a:solidFill>
                  <a:srgbClr val="FFFFFF"/>
                </a:solidFill>
                <a:uFillTx/>
                <a:latin typeface="微软雅黑" panose="020B0503020204020204" charset="-122"/>
                <a:ea typeface="微软雅黑" panose="020B0503020204020204" charset="-122"/>
                <a:cs typeface="+mn-ea"/>
                <a:sym typeface="+mn-ea"/>
              </a:rPr>
              <a:t>⼯</a:t>
            </a:r>
            <a:r>
              <a:rPr lang="zh-CN" altLang="en-US" sz="2000" b="1" dirty="0">
                <a:solidFill>
                  <a:srgbClr val="FFFFFF"/>
                </a:solidFill>
                <a:uFillTx/>
                <a:latin typeface="微软雅黑" panose="020B0503020204020204" charset="-122"/>
                <a:ea typeface="微软雅黑" panose="020B0503020204020204" charset="-122"/>
                <a:cs typeface="+mn-ea"/>
                <a:sym typeface="+mn-ea"/>
              </a:rPr>
              <a:t>程基线：</a:t>
            </a:r>
            <a:r>
              <a:rPr lang="en-US" altLang="zh-CN" sz="2000" b="1" dirty="0">
                <a:solidFill>
                  <a:srgbClr val="FFFFFF"/>
                </a:solidFill>
                <a:uFillTx/>
                <a:latin typeface="微软雅黑" panose="020B0503020204020204" charset="-122"/>
                <a:ea typeface="微软雅黑" panose="020B0503020204020204" charset="-122"/>
                <a:cs typeface="+mn-ea"/>
                <a:sym typeface="+mn-ea"/>
              </a:rPr>
              <a:t>Qwen3-VL</a:t>
            </a:r>
            <a:endParaRPr lang="en-US" altLang="zh-CN" sz="2000" b="1" dirty="0">
              <a:solidFill>
                <a:srgbClr val="FFFFFF"/>
              </a:solidFill>
              <a:uFillTx/>
              <a:latin typeface="微软雅黑" panose="020B0503020204020204" charset="-122"/>
              <a:ea typeface="微软雅黑" panose="020B0503020204020204" charset="-122"/>
              <a:cs typeface="+mn-ea"/>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542798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训练</a:t>
            </a:r>
            <a:r>
              <a:rPr lang="en-US" altLang="zh-CN" sz="2000" b="1" dirty="0">
                <a:solidFill>
                  <a:schemeClr val="bg1"/>
                </a:solidFill>
                <a:latin typeface="微软雅黑" panose="020B0503020204020204" charset="-122"/>
                <a:ea typeface="微软雅黑" panose="020B0503020204020204" charset="-122"/>
              </a:rPr>
              <a:t>&amp;</a:t>
            </a:r>
            <a:r>
              <a:rPr lang="zh-CN" altLang="en-US" sz="2000" b="1" dirty="0">
                <a:solidFill>
                  <a:schemeClr val="bg1"/>
                </a:solidFill>
                <a:latin typeface="微软雅黑" panose="020B0503020204020204" charset="-122"/>
                <a:ea typeface="微软雅黑" panose="020B0503020204020204" charset="-122"/>
              </a:rPr>
              <a:t>效果</a:t>
            </a:r>
            <a:endParaRPr lang="zh-CN" altLang="en-US" sz="2000" b="1" dirty="0">
              <a:solidFill>
                <a:schemeClr val="bg1"/>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1135" y="2936875"/>
            <a:ext cx="11839575" cy="3460115"/>
          </a:xfrm>
          <a:prstGeom prst="rect">
            <a:avLst/>
          </a:prstGeom>
          <a:noFill/>
          <a:ln w="12700">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8" name="组合 37"/>
          <p:cNvGrpSpPr/>
          <p:nvPr/>
        </p:nvGrpSpPr>
        <p:grpSpPr>
          <a:xfrm>
            <a:off x="424815" y="1093470"/>
            <a:ext cx="11557000" cy="1739900"/>
            <a:chOff x="490" y="1661"/>
            <a:chExt cx="18200" cy="3304"/>
          </a:xfrm>
        </p:grpSpPr>
        <p:sp>
          <p:nvSpPr>
            <p:cNvPr id="39" name="矩形 38"/>
            <p:cNvSpPr/>
            <p:nvPr/>
          </p:nvSpPr>
          <p:spPr>
            <a:xfrm>
              <a:off x="490" y="2087"/>
              <a:ext cx="18200" cy="2878"/>
            </a:xfrm>
            <a:prstGeom prst="rect">
              <a:avLst/>
            </a:prstGeom>
            <a:solidFill>
              <a:schemeClr val="bg2"/>
            </a:solidFill>
            <a:ln w="0">
              <a:solidFill>
                <a:schemeClr val="tx1">
                  <a:lumMod val="50000"/>
                  <a:lumOff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p>
          </p:txBody>
        </p:sp>
        <p:sp>
          <p:nvSpPr>
            <p:cNvPr id="40" name="标题"/>
            <p:cNvSpPr/>
            <p:nvPr>
              <p:custDataLst>
                <p:tags r:id="rId2"/>
              </p:custDataLst>
            </p:nvPr>
          </p:nvSpPr>
          <p:spPr>
            <a:xfrm>
              <a:off x="5588" y="1661"/>
              <a:ext cx="8624" cy="920"/>
            </a:xfrm>
            <a:prstGeom prst="roundRect">
              <a:avLst>
                <a:gd name="adj" fmla="val 14333"/>
              </a:avLst>
            </a:prstGeom>
            <a:gradFill flip="none">
              <a:gsLst>
                <a:gs pos="50000">
                  <a:schemeClr val="accent1"/>
                </a:gs>
                <a:gs pos="0">
                  <a:schemeClr val="accent1">
                    <a:lumMod val="25000"/>
                    <a:lumOff val="75000"/>
                  </a:schemeClr>
                </a:gs>
                <a:gs pos="100000">
                  <a:schemeClr val="accent1">
                    <a:lumMod val="85000"/>
                  </a:schemeClr>
                </a:gs>
              </a:gsLst>
              <a:lin ang="10380000" scaled="1"/>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3.1</a:t>
              </a:r>
              <a:r>
                <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训练路线</a:t>
              </a:r>
              <a:endPar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endParaRPr>
            </a:p>
          </p:txBody>
        </p:sp>
        <p:sp>
          <p:nvSpPr>
            <p:cNvPr id="41" name="矩形"/>
            <p:cNvSpPr/>
            <p:nvPr/>
          </p:nvSpPr>
          <p:spPr>
            <a:xfrm>
              <a:off x="796" y="2392"/>
              <a:ext cx="17491" cy="1570"/>
            </a:xfrm>
            <a:prstGeom prst="rect">
              <a:avLst/>
            </a:prstGeom>
            <a:noFill/>
            <a:ln w="12700" cap="flat" cmpd="sng">
              <a:noFill/>
              <a:prstDash val="solid"/>
              <a:miter/>
            </a:ln>
          </p:spPr>
          <p:txBody>
            <a:bodyPr vert="horz" wrap="square" lIns="91440" tIns="45720" rIns="91440" bIns="45720" anchor="t" anchorCtr="0"/>
            <a:lstStyle/>
            <a:p>
              <a:pPr marL="0" indent="0" algn="l">
                <a:lnSpc>
                  <a:spcPct val="150000"/>
                </a:lnSpc>
                <a:spcBef>
                  <a:spcPts val="0"/>
                </a:spcBef>
                <a:spcAft>
                  <a:spcPts val="0"/>
                </a:spcAft>
                <a:buNone/>
              </a:pPr>
              <a:endPar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p:txBody>
        </p:sp>
      </p:grpSp>
      <p:grpSp>
        <p:nvGrpSpPr>
          <p:cNvPr id="12" name="组合 11"/>
          <p:cNvGrpSpPr/>
          <p:nvPr/>
        </p:nvGrpSpPr>
        <p:grpSpPr>
          <a:xfrm>
            <a:off x="548005" y="2132091"/>
            <a:ext cx="10658116" cy="4160759"/>
            <a:chOff x="809" y="2723"/>
            <a:chExt cx="12546" cy="5825"/>
          </a:xfrm>
        </p:grpSpPr>
        <p:sp>
          <p:nvSpPr>
            <p:cNvPr id="13" name="任意多边形 12"/>
            <p:cNvSpPr/>
            <p:nvPr/>
          </p:nvSpPr>
          <p:spPr bwMode="white">
            <a:xfrm>
              <a:off x="809" y="4247"/>
              <a:ext cx="3351" cy="2764"/>
            </a:xfrm>
            <a:custGeom>
              <a:avLst/>
              <a:gdLst>
                <a:gd name="connisteX0" fmla="*/ 0 w 3350"/>
                <a:gd name="connsiteY0" fmla="*/ 0 h 2763"/>
                <a:gd name="connisteX1" fmla="*/ 276 w 3350"/>
                <a:gd name="connsiteY1" fmla="*/ 0 h 2763"/>
                <a:gd name="connisteX2" fmla="*/ 1675 w 3350"/>
                <a:gd name="connsiteY2" fmla="*/ 0 h 2763"/>
                <a:gd name="connisteX3" fmla="*/ 0 w 3350"/>
                <a:gd name="connsiteY3" fmla="*/ 1381 h 2763"/>
                <a:gd name="connisteX4" fmla="*/ 1675 w 3350"/>
                <a:gd name="connsiteY4" fmla="*/ 2763 h 2763"/>
                <a:gd name="connisteX5" fmla="*/ 3350 w 3350"/>
                <a:gd name="connsiteY5" fmla="*/ 1381 h 27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351" h="2764">
                  <a:moveTo>
                    <a:pt x="0" y="276"/>
                  </a:moveTo>
                  <a:cubicBezTo>
                    <a:pt x="0" y="124"/>
                    <a:pt x="124" y="0"/>
                    <a:pt x="276" y="0"/>
                  </a:cubicBezTo>
                  <a:lnTo>
                    <a:pt x="3074" y="0"/>
                  </a:lnTo>
                  <a:cubicBezTo>
                    <a:pt x="3227" y="0"/>
                    <a:pt x="3351" y="124"/>
                    <a:pt x="3351" y="276"/>
                  </a:cubicBezTo>
                  <a:lnTo>
                    <a:pt x="3351" y="2487"/>
                  </a:lnTo>
                  <a:cubicBezTo>
                    <a:pt x="3351" y="2640"/>
                    <a:pt x="3227" y="2764"/>
                    <a:pt x="3074" y="2764"/>
                  </a:cubicBezTo>
                  <a:lnTo>
                    <a:pt x="276" y="2764"/>
                  </a:lnTo>
                  <a:cubicBezTo>
                    <a:pt x="124" y="2764"/>
                    <a:pt x="0" y="2640"/>
                    <a:pt x="0" y="2487"/>
                  </a:cubicBezTo>
                  <a:lnTo>
                    <a:pt x="0" y="276"/>
                  </a:lnTo>
                </a:path>
              </a:pathLst>
            </a:custGeom>
            <a:solidFill>
              <a:schemeClr val="bg2">
                <a:alpha val="90000"/>
              </a:schemeClr>
            </a:solidFill>
            <a:ln>
              <a:solidFill>
                <a:schemeClr val="accent1"/>
              </a:solidFill>
              <a:prstDash val="dash"/>
            </a:ln>
          </p:spPr>
          <p:style>
            <a:lnRef idx="2">
              <a:schemeClr val="accent1"/>
            </a:lnRef>
            <a:fillRef idx="1">
              <a:schemeClr val="lt1">
                <a:alpha val="90000"/>
              </a:schemeClr>
            </a:fillRef>
            <a:effectRef idx="0">
              <a:scrgbClr r="0" g="0" b="0"/>
            </a:effectRef>
            <a:fontRef idx="minor"/>
          </p:style>
          <p:txBody>
            <a:bodyPr vert="horz" wrap="square" lIns="70865" tIns="70865" rIns="70864" bIns="446916" anchor="t">
              <a:noAutofit/>
            </a:bodyP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endParaRPr lang="zh-CN" altLang="en-US" sz="1600" b="0" i="0" dirty="0">
                <a:solidFill>
                  <a:schemeClr val="dk1"/>
                </a:solidFill>
                <a:latin typeface="微软雅黑" panose="020B0503020204020204" charset="-122"/>
                <a:ea typeface="微软雅黑" panose="020B0503020204020204" charset="-122"/>
                <a:cs typeface="Alibaba PuHuiTi" pitchFamily="18" charset="-122"/>
              </a:endParaRPr>
            </a:p>
          </p:txBody>
        </p:sp>
        <p:sp>
          <p:nvSpPr>
            <p:cNvPr id="14" name="任意多边形 13"/>
            <p:cNvSpPr/>
            <p:nvPr/>
          </p:nvSpPr>
          <p:spPr bwMode="white">
            <a:xfrm>
              <a:off x="5330" y="4176"/>
              <a:ext cx="3469" cy="3395"/>
            </a:xfrm>
            <a:custGeom>
              <a:avLst/>
              <a:gdLst>
                <a:gd name="connisteX0" fmla="*/ 0 w 3468"/>
                <a:gd name="connsiteY0" fmla="*/ 0 h 2860"/>
                <a:gd name="connisteX1" fmla="*/ 286 w 3468"/>
                <a:gd name="connsiteY1" fmla="*/ 0 h 2860"/>
                <a:gd name="connisteX2" fmla="*/ 1734 w 3468"/>
                <a:gd name="connsiteY2" fmla="*/ 0 h 2860"/>
                <a:gd name="connisteX3" fmla="*/ 0 w 3468"/>
                <a:gd name="connsiteY3" fmla="*/ 1430 h 2860"/>
                <a:gd name="connisteX4" fmla="*/ 1734 w 3468"/>
                <a:gd name="connsiteY4" fmla="*/ 2860 h 2860"/>
                <a:gd name="connisteX5" fmla="*/ 3468 w 3468"/>
                <a:gd name="connsiteY5" fmla="*/ 1430 h 286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469" h="2861">
                  <a:moveTo>
                    <a:pt x="0" y="286"/>
                  </a:moveTo>
                  <a:cubicBezTo>
                    <a:pt x="0" y="128"/>
                    <a:pt x="128" y="0"/>
                    <a:pt x="286" y="0"/>
                  </a:cubicBezTo>
                  <a:lnTo>
                    <a:pt x="3182" y="0"/>
                  </a:lnTo>
                  <a:cubicBezTo>
                    <a:pt x="3340" y="0"/>
                    <a:pt x="3469" y="128"/>
                    <a:pt x="3469" y="286"/>
                  </a:cubicBezTo>
                  <a:lnTo>
                    <a:pt x="3469" y="2575"/>
                  </a:lnTo>
                  <a:cubicBezTo>
                    <a:pt x="3469" y="2733"/>
                    <a:pt x="3340" y="2861"/>
                    <a:pt x="3182" y="2861"/>
                  </a:cubicBezTo>
                  <a:lnTo>
                    <a:pt x="286" y="2861"/>
                  </a:lnTo>
                  <a:cubicBezTo>
                    <a:pt x="128" y="2861"/>
                    <a:pt x="0" y="2733"/>
                    <a:pt x="0" y="2575"/>
                  </a:cubicBezTo>
                  <a:lnTo>
                    <a:pt x="0" y="286"/>
                  </a:lnTo>
                </a:path>
              </a:pathLst>
            </a:custGeom>
            <a:solidFill>
              <a:schemeClr val="bg2">
                <a:alpha val="90000"/>
              </a:schemeClr>
            </a:solidFill>
            <a:ln>
              <a:solidFill>
                <a:schemeClr val="accent1"/>
              </a:solidFill>
              <a:prstDash val="dash"/>
            </a:ln>
          </p:spPr>
          <p:style>
            <a:lnRef idx="2">
              <a:schemeClr val="accent1"/>
            </a:lnRef>
            <a:fillRef idx="1">
              <a:schemeClr val="lt1">
                <a:alpha val="90000"/>
              </a:schemeClr>
            </a:fillRef>
            <a:effectRef idx="0">
              <a:scrgbClr r="0" g="0" b="0"/>
            </a:effectRef>
            <a:fontRef idx="minor"/>
          </p:style>
          <p:txBody>
            <a:bodyPr vert="horz" wrap="square" lIns="72285" tIns="423889" rIns="72284" bIns="109956" anchor="t">
              <a:noAutofit/>
            </a:bodyP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just">
                <a:lnSpc>
                  <a:spcPct val="100000"/>
                </a:lnSpc>
                <a:spcBef>
                  <a:spcPct val="0"/>
                </a:spcBef>
                <a:spcAft>
                  <a:spcPct val="15000"/>
                </a:spcAft>
                <a:buChar char="•"/>
              </a:pPr>
              <a:r>
                <a:rPr lang="zh-CN" altLang="en-US" sz="1400" b="0" i="0" dirty="0">
                  <a:solidFill>
                    <a:schemeClr val="dk1"/>
                  </a:solidFill>
                  <a:latin typeface="微软雅黑" panose="020B0503020204020204" charset="-122"/>
                  <a:ea typeface="微软雅黑" panose="020B0503020204020204" charset="-122"/>
                  <a:cs typeface="Alibaba PuHuiTi" pitchFamily="18" charset="-122"/>
                </a:rPr>
                <a:t>在上述样本上增加 JSON 结构标注（如前置条件检查、步骤拆解、下⼀步动作），让模型学会输出可执</a:t>
              </a:r>
              <a:r>
                <a:rPr lang="zh-CN" altLang="en-US" sz="1400" b="0" i="0" dirty="0">
                  <a:solidFill>
                    <a:schemeClr val="dk1"/>
                  </a:solidFill>
                  <a:latin typeface="微软雅黑" panose="020B0503020204020204" charset="-122"/>
                  <a:ea typeface="微软雅黑" panose="020B0503020204020204" charset="-122"/>
                  <a:cs typeface="Alibaba PuHuiTi" pitchFamily="18" charset="-122"/>
                </a:rPr>
                <a:t>行的思维链。</a:t>
              </a:r>
              <a:endParaRPr lang="zh-CN" altLang="en-US" sz="1400" b="0" i="0" dirty="0">
                <a:solidFill>
                  <a:schemeClr val="dk1"/>
                </a:solidFill>
                <a:latin typeface="微软雅黑" panose="020B0503020204020204" charset="-122"/>
                <a:ea typeface="微软雅黑" panose="020B0503020204020204" charset="-122"/>
                <a:cs typeface="Alibaba PuHuiTi" pitchFamily="18" charset="-122"/>
              </a:endParaRPr>
            </a:p>
            <a:p>
              <a:pPr marL="114300" lvl="1" indent="-114300">
                <a:lnSpc>
                  <a:spcPct val="100000"/>
                </a:lnSpc>
                <a:spcBef>
                  <a:spcPct val="0"/>
                </a:spcBef>
                <a:spcAft>
                  <a:spcPct val="15000"/>
                </a:spcAft>
                <a:buChar char="•"/>
              </a:pPr>
              <a:endParaRPr lang="zh-CN" altLang="en-US" sz="1200" b="0" i="0" dirty="0">
                <a:solidFill>
                  <a:schemeClr val="dk1"/>
                </a:solidFill>
                <a:latin typeface="微软雅黑" panose="020B0503020204020204" charset="-122"/>
                <a:ea typeface="微软雅黑" panose="020B0503020204020204" charset="-122"/>
                <a:cs typeface="Alibaba PuHuiTi" pitchFamily="18" charset="-122"/>
              </a:endParaRPr>
            </a:p>
            <a:p>
              <a:pPr marL="114300" lvl="1" indent="-114300">
                <a:lnSpc>
                  <a:spcPct val="100000"/>
                </a:lnSpc>
                <a:spcBef>
                  <a:spcPct val="0"/>
                </a:spcBef>
                <a:spcAft>
                  <a:spcPct val="15000"/>
                </a:spcAft>
                <a:buChar char="•"/>
              </a:pPr>
              <a:endParaRPr lang="zh-CN" altLang="en-US" sz="1200" b="0" i="0" dirty="0">
                <a:solidFill>
                  <a:schemeClr val="dk1"/>
                </a:solidFill>
                <a:latin typeface="微软雅黑" panose="020B0503020204020204" charset="-122"/>
                <a:ea typeface="微软雅黑" panose="020B0503020204020204" charset="-122"/>
                <a:cs typeface="Alibaba PuHuiTi" pitchFamily="18" charset="-122"/>
              </a:endParaRPr>
            </a:p>
          </p:txBody>
        </p:sp>
        <p:sp>
          <p:nvSpPr>
            <p:cNvPr id="15" name="环形箭头 14"/>
            <p:cNvSpPr/>
            <p:nvPr/>
          </p:nvSpPr>
          <p:spPr bwMode="white">
            <a:xfrm rot="21180000">
              <a:off x="7602" y="2723"/>
              <a:ext cx="4824" cy="4824"/>
            </a:xfrm>
            <a:prstGeom prst="circularArrow">
              <a:avLst>
                <a:gd name="adj1" fmla="val 5000"/>
                <a:gd name="adj2" fmla="val 360000"/>
                <a:gd name="adj3" fmla="val 20181700"/>
                <a:gd name="adj4" fmla="val 13292722"/>
                <a:gd name="adj5" fmla="val 5500"/>
              </a:avLst>
            </a:prstGeom>
            <a:solidFill>
              <a:schemeClr val="accent4"/>
            </a:solidFill>
          </p:spPr>
          <p:style>
            <a:lnRef idx="0">
              <a:schemeClr val="accent1">
                <a:tint val="60000"/>
              </a:schemeClr>
            </a:lnRef>
            <a:fillRef idx="1">
              <a:schemeClr val="accent1">
                <a:tint val="60000"/>
              </a:schemeClr>
            </a:fillRef>
            <a:effectRef idx="0">
              <a:scrgbClr r="0" g="0" b="0"/>
            </a:effectRef>
            <a:fontRef idx="minor">
              <a:schemeClr val="lt1"/>
            </a:fontRef>
          </p:style>
        </p:sp>
        <p:sp>
          <p:nvSpPr>
            <p:cNvPr id="16" name="任意多边形 15"/>
            <p:cNvSpPr/>
            <p:nvPr/>
          </p:nvSpPr>
          <p:spPr bwMode="white">
            <a:xfrm>
              <a:off x="5534" y="2872"/>
              <a:ext cx="3083" cy="1226"/>
            </a:xfrm>
            <a:custGeom>
              <a:avLst/>
              <a:gdLst>
                <a:gd name="connisteX0" fmla="*/ 0 w 3083"/>
                <a:gd name="connsiteY0" fmla="*/ 0 h 1226"/>
                <a:gd name="connisteX1" fmla="*/ 122 w 3083"/>
                <a:gd name="connsiteY1" fmla="*/ 0 h 1226"/>
                <a:gd name="connisteX2" fmla="*/ 1541 w 3083"/>
                <a:gd name="connsiteY2" fmla="*/ 0 h 1226"/>
                <a:gd name="connisteX3" fmla="*/ 0 w 3083"/>
                <a:gd name="connsiteY3" fmla="*/ 613 h 1226"/>
                <a:gd name="connisteX4" fmla="*/ 1541 w 3083"/>
                <a:gd name="connsiteY4" fmla="*/ 1226 h 1226"/>
                <a:gd name="connisteX5" fmla="*/ 3083 w 3083"/>
                <a:gd name="connsiteY5" fmla="*/ 613 h 122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083" h="1226">
                  <a:moveTo>
                    <a:pt x="0" y="123"/>
                  </a:moveTo>
                  <a:cubicBezTo>
                    <a:pt x="0" y="55"/>
                    <a:pt x="55" y="0"/>
                    <a:pt x="123" y="0"/>
                  </a:cubicBezTo>
                  <a:lnTo>
                    <a:pt x="2961" y="0"/>
                  </a:lnTo>
                  <a:cubicBezTo>
                    <a:pt x="3028" y="0"/>
                    <a:pt x="3083" y="55"/>
                    <a:pt x="3083" y="123"/>
                  </a:cubicBezTo>
                  <a:lnTo>
                    <a:pt x="3083" y="1103"/>
                  </a:lnTo>
                  <a:cubicBezTo>
                    <a:pt x="3083" y="1171"/>
                    <a:pt x="3028" y="1226"/>
                    <a:pt x="2961" y="1226"/>
                  </a:cubicBezTo>
                  <a:lnTo>
                    <a:pt x="123" y="1226"/>
                  </a:lnTo>
                  <a:cubicBezTo>
                    <a:pt x="55" y="1226"/>
                    <a:pt x="0" y="1171"/>
                    <a:pt x="0" y="1103"/>
                  </a:cubicBezTo>
                  <a:lnTo>
                    <a:pt x="0" y="123"/>
                  </a:lnTo>
                </a:path>
              </a:pathLst>
            </a:custGeom>
          </p:spPr>
          <p:style>
            <a:lnRef idx="2">
              <a:schemeClr val="lt1"/>
            </a:lnRef>
            <a:fillRef idx="1">
              <a:schemeClr val="accent1"/>
            </a:fillRef>
            <a:effectRef idx="0">
              <a:scrgbClr r="0" g="0" b="0"/>
            </a:effectRef>
            <a:fontRef idx="minor">
              <a:schemeClr val="lt1"/>
            </a:fontRef>
          </p:style>
          <p:txBody>
            <a:bodyPr vert="horz" wrap="square" lIns="60902" tIns="48202" rIns="60902" bIns="48202" anchor="ctr">
              <a:noAutofit/>
            </a:bodyP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sz="2000" b="1" i="0" dirty="0">
                  <a:latin typeface="微软雅黑" panose="020B0503020204020204" charset="-122"/>
                  <a:ea typeface="微软雅黑" panose="020B0503020204020204" charset="-122"/>
                  <a:cs typeface="Alibaba PuHuiTi" pitchFamily="18" charset="-122"/>
                </a:rPr>
                <a:t>结构化</a:t>
              </a:r>
              <a:r>
                <a:rPr lang="en-US" altLang="zh-CN" sz="2000" b="1" i="0" dirty="0">
                  <a:latin typeface="微软雅黑" panose="020B0503020204020204" charset="-122"/>
                  <a:ea typeface="微软雅黑" panose="020B0503020204020204" charset="-122"/>
                  <a:cs typeface="Alibaba PuHuiTi" pitchFamily="18" charset="-122"/>
                </a:rPr>
                <a:t>CoT </a:t>
              </a:r>
              <a:r>
                <a:rPr lang="zh-CN" altLang="en-US" sz="2000" b="1" i="0" dirty="0">
                  <a:latin typeface="微软雅黑" panose="020B0503020204020204" charset="-122"/>
                  <a:ea typeface="微软雅黑" panose="020B0503020204020204" charset="-122"/>
                  <a:cs typeface="Alibaba PuHuiTi" pitchFamily="18" charset="-122"/>
                </a:rPr>
                <a:t>阶段</a:t>
              </a:r>
              <a:endParaRPr lang="zh-CN" altLang="en-US" sz="2000" b="1" i="0" dirty="0">
                <a:latin typeface="微软雅黑" panose="020B0503020204020204" charset="-122"/>
                <a:ea typeface="微软雅黑" panose="020B0503020204020204" charset="-122"/>
                <a:cs typeface="Alibaba PuHuiTi" pitchFamily="18" charset="-122"/>
              </a:endParaRPr>
            </a:p>
          </p:txBody>
        </p:sp>
        <p:sp>
          <p:nvSpPr>
            <p:cNvPr id="18" name="任意多边形 17"/>
            <p:cNvSpPr/>
            <p:nvPr/>
          </p:nvSpPr>
          <p:spPr bwMode="white">
            <a:xfrm>
              <a:off x="10004" y="4247"/>
              <a:ext cx="3351" cy="2764"/>
            </a:xfrm>
            <a:custGeom>
              <a:avLst/>
              <a:gdLst>
                <a:gd name="connisteX0" fmla="*/ 0 w 3350"/>
                <a:gd name="connsiteY0" fmla="*/ 0 h 2763"/>
                <a:gd name="connisteX1" fmla="*/ 276 w 3350"/>
                <a:gd name="connsiteY1" fmla="*/ 0 h 2763"/>
                <a:gd name="connisteX2" fmla="*/ 1675 w 3350"/>
                <a:gd name="connsiteY2" fmla="*/ 0 h 2763"/>
                <a:gd name="connisteX3" fmla="*/ 0 w 3350"/>
                <a:gd name="connsiteY3" fmla="*/ 1381 h 2763"/>
                <a:gd name="connisteX4" fmla="*/ 1675 w 3350"/>
                <a:gd name="connsiteY4" fmla="*/ 2763 h 2763"/>
                <a:gd name="connisteX5" fmla="*/ 3350 w 3350"/>
                <a:gd name="connsiteY5" fmla="*/ 1381 h 27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351" h="2764">
                  <a:moveTo>
                    <a:pt x="0" y="276"/>
                  </a:moveTo>
                  <a:cubicBezTo>
                    <a:pt x="0" y="124"/>
                    <a:pt x="124" y="0"/>
                    <a:pt x="276" y="0"/>
                  </a:cubicBezTo>
                  <a:lnTo>
                    <a:pt x="3074" y="0"/>
                  </a:lnTo>
                  <a:cubicBezTo>
                    <a:pt x="3227" y="0"/>
                    <a:pt x="3351" y="124"/>
                    <a:pt x="3351" y="276"/>
                  </a:cubicBezTo>
                  <a:lnTo>
                    <a:pt x="3351" y="2487"/>
                  </a:lnTo>
                  <a:cubicBezTo>
                    <a:pt x="3351" y="2640"/>
                    <a:pt x="3227" y="2764"/>
                    <a:pt x="3074" y="2764"/>
                  </a:cubicBezTo>
                  <a:lnTo>
                    <a:pt x="276" y="2764"/>
                  </a:lnTo>
                  <a:cubicBezTo>
                    <a:pt x="124" y="2764"/>
                    <a:pt x="0" y="2640"/>
                    <a:pt x="0" y="2487"/>
                  </a:cubicBezTo>
                  <a:lnTo>
                    <a:pt x="0" y="276"/>
                  </a:lnTo>
                </a:path>
              </a:pathLst>
            </a:custGeom>
            <a:solidFill>
              <a:srgbClr val="EBF0F5"/>
            </a:solidFill>
            <a:ln>
              <a:solidFill>
                <a:srgbClr val="0C4DA2"/>
              </a:solidFill>
              <a:prstDash val="dash"/>
            </a:ln>
          </p:spPr>
          <p:style>
            <a:lnRef idx="2">
              <a:schemeClr val="accent1"/>
            </a:lnRef>
            <a:fillRef idx="1">
              <a:schemeClr val="lt1">
                <a:alpha val="90000"/>
              </a:schemeClr>
            </a:fillRef>
            <a:effectRef idx="0">
              <a:scrgbClr r="0" g="0" b="0"/>
            </a:effectRef>
            <a:fontRef idx="minor"/>
          </p:style>
          <p:txBody>
            <a:bodyPr vert="horz" wrap="square" lIns="70865" tIns="70865" rIns="70864" bIns="446916" anchor="t">
              <a:noAutofit/>
            </a:bodyP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just">
                <a:lnSpc>
                  <a:spcPct val="100000"/>
                </a:lnSpc>
                <a:spcBef>
                  <a:spcPct val="0"/>
                </a:spcBef>
                <a:spcAft>
                  <a:spcPct val="15000"/>
                </a:spcAft>
                <a:buChar char="•"/>
              </a:pPr>
              <a:endParaRPr lang="zh-CN" altLang="en-US" sz="1400" b="0" i="0" dirty="0">
                <a:solidFill>
                  <a:schemeClr val="dk1"/>
                </a:solidFill>
                <a:latin typeface="微软雅黑" panose="020B0503020204020204" charset="-122"/>
                <a:ea typeface="微软雅黑" panose="020B0503020204020204" charset="-122"/>
                <a:cs typeface="Alibaba PuHuiTi" pitchFamily="18" charset="-122"/>
              </a:endParaRPr>
            </a:p>
          </p:txBody>
        </p:sp>
        <p:sp>
          <p:nvSpPr>
            <p:cNvPr id="19" name="任意多边形 18"/>
            <p:cNvSpPr/>
            <p:nvPr/>
          </p:nvSpPr>
          <p:spPr bwMode="white">
            <a:xfrm>
              <a:off x="10205" y="6387"/>
              <a:ext cx="2978" cy="1184"/>
            </a:xfrm>
            <a:custGeom>
              <a:avLst/>
              <a:gdLst>
                <a:gd name="connisteX0" fmla="*/ 0 w 2978"/>
                <a:gd name="connsiteY0" fmla="*/ 0 h 1184"/>
                <a:gd name="connisteX1" fmla="*/ 118 w 2978"/>
                <a:gd name="connsiteY1" fmla="*/ 0 h 1184"/>
                <a:gd name="connisteX2" fmla="*/ 1489 w 2978"/>
                <a:gd name="connsiteY2" fmla="*/ 0 h 1184"/>
                <a:gd name="connisteX3" fmla="*/ 0 w 2978"/>
                <a:gd name="connsiteY3" fmla="*/ 592 h 1184"/>
                <a:gd name="connisteX4" fmla="*/ 1489 w 2978"/>
                <a:gd name="connsiteY4" fmla="*/ 1184 h 1184"/>
                <a:gd name="connisteX5" fmla="*/ 2978 w 2978"/>
                <a:gd name="connsiteY5" fmla="*/ 592 h 118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978" h="1184">
                  <a:moveTo>
                    <a:pt x="0" y="118"/>
                  </a:moveTo>
                  <a:cubicBezTo>
                    <a:pt x="0" y="53"/>
                    <a:pt x="53" y="0"/>
                    <a:pt x="118" y="0"/>
                  </a:cubicBezTo>
                  <a:lnTo>
                    <a:pt x="2860" y="0"/>
                  </a:lnTo>
                  <a:cubicBezTo>
                    <a:pt x="2925" y="0"/>
                    <a:pt x="2978" y="53"/>
                    <a:pt x="2978" y="118"/>
                  </a:cubicBezTo>
                  <a:lnTo>
                    <a:pt x="2978" y="1066"/>
                  </a:lnTo>
                  <a:cubicBezTo>
                    <a:pt x="2978" y="1131"/>
                    <a:pt x="2925" y="1184"/>
                    <a:pt x="2860" y="1184"/>
                  </a:cubicBezTo>
                  <a:lnTo>
                    <a:pt x="118" y="1184"/>
                  </a:lnTo>
                  <a:cubicBezTo>
                    <a:pt x="53" y="1184"/>
                    <a:pt x="0" y="1131"/>
                    <a:pt x="0" y="1066"/>
                  </a:cubicBezTo>
                  <a:lnTo>
                    <a:pt x="0" y="118"/>
                  </a:lnTo>
                </a:path>
              </a:pathLst>
            </a:custGeom>
            <a:solidFill>
              <a:srgbClr val="0C4DA2"/>
            </a:solidFill>
          </p:spPr>
          <p:style>
            <a:lnRef idx="2">
              <a:schemeClr val="lt1"/>
            </a:lnRef>
            <a:fillRef idx="1">
              <a:schemeClr val="accent1"/>
            </a:fillRef>
            <a:effectRef idx="0">
              <a:scrgbClr r="0" g="0" b="0"/>
            </a:effectRef>
            <a:fontRef idx="minor">
              <a:schemeClr val="lt1"/>
            </a:fontRef>
          </p:style>
          <p:txBody>
            <a:bodyPr vert="horz" wrap="square" lIns="60128" tIns="47428" rIns="60127" bIns="47428" anchor="ctr">
              <a:noAutofit/>
            </a:bodyP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buNone/>
              </a:pPr>
              <a:r>
                <a:rPr lang="en-US" altLang="zh-CN" sz="2000" b="1" i="0" dirty="0">
                  <a:solidFill>
                    <a:schemeClr val="bg1"/>
                  </a:solidFill>
                  <a:latin typeface="微软雅黑" panose="020B0503020204020204" charset="-122"/>
                  <a:ea typeface="微软雅黑" panose="020B0503020204020204" charset="-122"/>
                  <a:cs typeface="Alibaba PuHuiTi" pitchFamily="18" charset="-122"/>
                </a:rPr>
                <a:t>DPO</a:t>
              </a:r>
              <a:r>
                <a:rPr lang="zh-CN" altLang="en-US" sz="2000" b="1" i="0" dirty="0">
                  <a:solidFill>
                    <a:schemeClr val="bg1"/>
                  </a:solidFill>
                  <a:latin typeface="微软雅黑" panose="020B0503020204020204" charset="-122"/>
                  <a:ea typeface="微软雅黑" panose="020B0503020204020204" charset="-122"/>
                  <a:cs typeface="Alibaba PuHuiTi" pitchFamily="18" charset="-122"/>
                </a:rPr>
                <a:t>阶段</a:t>
              </a:r>
              <a:endParaRPr lang="zh-CN" altLang="en-US" sz="2000" b="1" i="0" dirty="0">
                <a:solidFill>
                  <a:schemeClr val="bg1"/>
                </a:solidFill>
                <a:latin typeface="微软雅黑" panose="020B0503020204020204" charset="-122"/>
                <a:ea typeface="微软雅黑" panose="020B0503020204020204" charset="-122"/>
                <a:cs typeface="Alibaba PuHuiTi" pitchFamily="18" charset="-122"/>
              </a:endParaRPr>
            </a:p>
          </p:txBody>
        </p:sp>
        <p:sp>
          <p:nvSpPr>
            <p:cNvPr id="23" name="形状 22"/>
            <p:cNvSpPr/>
            <p:nvPr/>
          </p:nvSpPr>
          <p:spPr bwMode="white">
            <a:xfrm>
              <a:off x="2606" y="4324"/>
              <a:ext cx="4224" cy="4224"/>
            </a:xfrm>
            <a:prstGeom prst="leftCircularArrow">
              <a:avLst>
                <a:gd name="adj1" fmla="val 5000"/>
                <a:gd name="adj2" fmla="val -360000"/>
                <a:gd name="adj3" fmla="val 2306577"/>
                <a:gd name="adj4" fmla="val 9195555"/>
                <a:gd name="adj5" fmla="val 5500"/>
              </a:avLst>
            </a:prstGeom>
            <a:solidFill>
              <a:schemeClr val="accent4"/>
            </a:solidFill>
          </p:spPr>
          <p:style>
            <a:lnRef idx="0">
              <a:schemeClr val="accent1">
                <a:tint val="60000"/>
              </a:schemeClr>
            </a:lnRef>
            <a:fillRef idx="1">
              <a:schemeClr val="accent1">
                <a:tint val="60000"/>
              </a:schemeClr>
            </a:fillRef>
            <a:effectRef idx="0">
              <a:scrgbClr r="0" g="0" b="0"/>
            </a:effectRef>
            <a:fontRef idx="minor">
              <a:schemeClr val="lt1"/>
            </a:fontRef>
          </p:style>
        </p:sp>
        <p:sp>
          <p:nvSpPr>
            <p:cNvPr id="27" name="任意多边形 26"/>
            <p:cNvSpPr/>
            <p:nvPr/>
          </p:nvSpPr>
          <p:spPr bwMode="white">
            <a:xfrm>
              <a:off x="996" y="6383"/>
              <a:ext cx="2978" cy="1184"/>
            </a:xfrm>
            <a:custGeom>
              <a:avLst/>
              <a:gdLst>
                <a:gd name="connisteX0" fmla="*/ 0 w 2978"/>
                <a:gd name="connsiteY0" fmla="*/ 0 h 1184"/>
                <a:gd name="connisteX1" fmla="*/ 118 w 2978"/>
                <a:gd name="connsiteY1" fmla="*/ 0 h 1184"/>
                <a:gd name="connisteX2" fmla="*/ 1489 w 2978"/>
                <a:gd name="connsiteY2" fmla="*/ 0 h 1184"/>
                <a:gd name="connisteX3" fmla="*/ 0 w 2978"/>
                <a:gd name="connsiteY3" fmla="*/ 592 h 1184"/>
                <a:gd name="connisteX4" fmla="*/ 1489 w 2978"/>
                <a:gd name="connsiteY4" fmla="*/ 1184 h 1184"/>
                <a:gd name="connisteX5" fmla="*/ 2978 w 2978"/>
                <a:gd name="connsiteY5" fmla="*/ 592 h 118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978" h="1184">
                  <a:moveTo>
                    <a:pt x="0" y="118"/>
                  </a:moveTo>
                  <a:cubicBezTo>
                    <a:pt x="0" y="53"/>
                    <a:pt x="53" y="0"/>
                    <a:pt x="118" y="0"/>
                  </a:cubicBezTo>
                  <a:lnTo>
                    <a:pt x="2860" y="0"/>
                  </a:lnTo>
                  <a:cubicBezTo>
                    <a:pt x="2925" y="0"/>
                    <a:pt x="2978" y="53"/>
                    <a:pt x="2978" y="118"/>
                  </a:cubicBezTo>
                  <a:lnTo>
                    <a:pt x="2978" y="1066"/>
                  </a:lnTo>
                  <a:cubicBezTo>
                    <a:pt x="2978" y="1131"/>
                    <a:pt x="2925" y="1184"/>
                    <a:pt x="2860" y="1184"/>
                  </a:cubicBezTo>
                  <a:lnTo>
                    <a:pt x="118" y="1184"/>
                  </a:lnTo>
                  <a:cubicBezTo>
                    <a:pt x="53" y="1184"/>
                    <a:pt x="0" y="1131"/>
                    <a:pt x="0" y="1066"/>
                  </a:cubicBezTo>
                  <a:lnTo>
                    <a:pt x="0" y="118"/>
                  </a:lnTo>
                </a:path>
              </a:pathLst>
            </a:custGeom>
          </p:spPr>
          <p:style>
            <a:lnRef idx="2">
              <a:schemeClr val="lt1"/>
            </a:lnRef>
            <a:fillRef idx="1">
              <a:schemeClr val="accent1"/>
            </a:fillRef>
            <a:effectRef idx="0">
              <a:scrgbClr r="0" g="0" b="0"/>
            </a:effectRef>
            <a:fontRef idx="minor">
              <a:schemeClr val="lt1"/>
            </a:fontRef>
          </p:style>
          <p:txBody>
            <a:bodyPr vert="horz" wrap="square" lIns="84893" tIns="63938" rIns="84892" bIns="63938" anchor="ctr">
              <a:noAutofit/>
            </a:bodyP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sz="2000" b="1" dirty="0">
                  <a:latin typeface="微软雅黑" panose="020B0503020204020204" charset="-122"/>
                  <a:ea typeface="微软雅黑" panose="020B0503020204020204" charset="-122"/>
                  <a:cs typeface="Alibaba PuHuiTi" pitchFamily="18" charset="-122"/>
                </a:rPr>
                <a:t>SFT阶段</a:t>
              </a:r>
              <a:endParaRPr lang="zh-CN" altLang="en-US" sz="2000" b="1" dirty="0">
                <a:latin typeface="微软雅黑" panose="020B0503020204020204" charset="-122"/>
                <a:ea typeface="微软雅黑" panose="020B0503020204020204" charset="-122"/>
                <a:cs typeface="Alibaba PuHuiTi" pitchFamily="18" charset="-122"/>
              </a:endParaRPr>
            </a:p>
          </p:txBody>
        </p:sp>
      </p:grpSp>
      <p:sp>
        <p:nvSpPr>
          <p:cNvPr id="29" name="文本框 28"/>
          <p:cNvSpPr txBox="1"/>
          <p:nvPr/>
        </p:nvSpPr>
        <p:spPr>
          <a:xfrm>
            <a:off x="616585" y="3271520"/>
            <a:ext cx="2559050" cy="1383665"/>
          </a:xfrm>
          <a:prstGeom prst="rect">
            <a:avLst/>
          </a:prstGeom>
          <a:noFill/>
        </p:spPr>
        <p:txBody>
          <a:bodyPr wrap="square" rtlCol="0" anchor="t">
            <a:spAutoFit/>
          </a:bodyPr>
          <a:p>
            <a:pPr marL="171450" lvl="1" indent="-171450" algn="just" latinLnBrk="1">
              <a:lnSpc>
                <a:spcPct val="100000"/>
              </a:lnSpc>
              <a:spcBef>
                <a:spcPct val="0"/>
              </a:spcBef>
              <a:spcAft>
                <a:spcPts val="0"/>
              </a:spcAft>
              <a:buChar char="•"/>
            </a:pP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主要使用</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VG</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LVIS/PACO-LVIS</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EPIC-KITCHENS</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Ego4D</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BridgeData V2 </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ShareRobot</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子集</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等训练基础感知、空间推理与多步指令理解。</a:t>
            </a:r>
            <a:endPar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endParaRPr>
          </a:p>
        </p:txBody>
      </p:sp>
      <p:sp>
        <p:nvSpPr>
          <p:cNvPr id="30" name="文本框 29"/>
          <p:cNvSpPr txBox="1"/>
          <p:nvPr/>
        </p:nvSpPr>
        <p:spPr>
          <a:xfrm>
            <a:off x="8583295" y="3453765"/>
            <a:ext cx="2622550" cy="953135"/>
          </a:xfrm>
          <a:prstGeom prst="rect">
            <a:avLst/>
          </a:prstGeom>
          <a:noFill/>
        </p:spPr>
        <p:txBody>
          <a:bodyPr wrap="square" rtlCol="0" anchor="t">
            <a:spAutoFit/>
          </a:bodyPr>
          <a:p>
            <a:pPr marL="171450" lvl="1" indent="-171450" algn="just">
              <a:lnSpc>
                <a:spcPct val="100000"/>
              </a:lnSpc>
              <a:spcBef>
                <a:spcPct val="0"/>
              </a:spcBef>
              <a:spcAft>
                <a:spcPct val="15000"/>
              </a:spcAft>
              <a:buChar char="•"/>
            </a:pP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重点使用 AI2-THOR</a:t>
            </a:r>
            <a:r>
              <a:rPr lang="en-US" altLang="zh-CN" sz="1400" dirty="0">
                <a:solidFill>
                  <a:schemeClr val="dk1"/>
                </a:solidFill>
                <a:latin typeface="微软雅黑" panose="020B0503020204020204" charset="-122"/>
                <a:ea typeface="微软雅黑" panose="020B0503020204020204" charset="-122"/>
                <a:cs typeface="Alibaba PuHuiTi" pitchFamily="18" charset="-122"/>
                <a:sym typeface="+mn-ea"/>
              </a:rPr>
              <a:t> </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中的“成功→</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扰动”轨迹对，以及部分指令偏好样本，进</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行轻量偏好对</a:t>
            </a:r>
            <a:r>
              <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rPr>
              <a:t>齐。</a:t>
            </a:r>
            <a:endParaRPr lang="zh-CN" altLang="en-US" sz="1400" dirty="0">
              <a:solidFill>
                <a:schemeClr val="dk1"/>
              </a:solidFill>
              <a:latin typeface="微软雅黑" panose="020B0503020204020204" charset="-122"/>
              <a:ea typeface="微软雅黑" panose="020B0503020204020204" charset="-122"/>
              <a:cs typeface="Alibaba PuHuiTi" pitchFamily="18"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542798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训练</a:t>
            </a:r>
            <a:r>
              <a:rPr lang="en-US" altLang="zh-CN" sz="2000" b="1" dirty="0">
                <a:solidFill>
                  <a:schemeClr val="bg1"/>
                </a:solidFill>
                <a:latin typeface="微软雅黑" panose="020B0503020204020204" charset="-122"/>
                <a:ea typeface="微软雅黑" panose="020B0503020204020204" charset="-122"/>
              </a:rPr>
              <a:t>&amp;</a:t>
            </a:r>
            <a:r>
              <a:rPr lang="zh-CN" altLang="en-US" sz="2000" b="1" dirty="0">
                <a:solidFill>
                  <a:schemeClr val="bg1"/>
                </a:solidFill>
                <a:latin typeface="微软雅黑" panose="020B0503020204020204" charset="-122"/>
                <a:ea typeface="微软雅黑" panose="020B0503020204020204" charset="-122"/>
              </a:rPr>
              <a:t>效果</a:t>
            </a:r>
            <a:endParaRPr lang="zh-CN" altLang="en-US" sz="2000" b="1" dirty="0">
              <a:solidFill>
                <a:schemeClr val="bg1"/>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1135" y="2738755"/>
            <a:ext cx="11839575" cy="3460115"/>
          </a:xfrm>
          <a:prstGeom prst="rect">
            <a:avLst/>
          </a:prstGeom>
          <a:noFill/>
          <a:ln w="12700">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圆角 5"/>
          <p:cNvSpPr/>
          <p:nvPr/>
        </p:nvSpPr>
        <p:spPr>
          <a:xfrm>
            <a:off x="6311265" y="3183890"/>
            <a:ext cx="5520055" cy="3324225"/>
          </a:xfrm>
          <a:prstGeom prst="roundRect">
            <a:avLst>
              <a:gd name="adj" fmla="val 1288"/>
            </a:avLst>
          </a:prstGeom>
          <a:solidFill>
            <a:schemeClr val="bg1">
              <a:lumMod val="95000"/>
            </a:schemeClr>
          </a:solidFill>
          <a:ln w="12700">
            <a:solidFill>
              <a:srgbClr val="0C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panose="020B0502040204020203" charset="-122"/>
              <a:cs typeface="+mn-cs"/>
            </a:endParaRPr>
          </a:p>
        </p:txBody>
      </p:sp>
      <p:sp>
        <p:nvSpPr>
          <p:cNvPr id="20" name="矩形: 圆角 5"/>
          <p:cNvSpPr/>
          <p:nvPr/>
        </p:nvSpPr>
        <p:spPr>
          <a:xfrm>
            <a:off x="387985" y="3183890"/>
            <a:ext cx="5520055" cy="3324225"/>
          </a:xfrm>
          <a:prstGeom prst="roundRect">
            <a:avLst>
              <a:gd name="adj" fmla="val 1288"/>
            </a:avLst>
          </a:prstGeom>
          <a:solidFill>
            <a:schemeClr val="bg1">
              <a:lumMod val="95000"/>
            </a:schemeClr>
          </a:solidFill>
          <a:ln w="12700">
            <a:solidFill>
              <a:srgbClr val="0C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panose="020B0502040204020203" charset="-122"/>
              <a:cs typeface="+mn-cs"/>
            </a:endParaRPr>
          </a:p>
        </p:txBody>
      </p:sp>
      <p:sp>
        <p:nvSpPr>
          <p:cNvPr id="21" name="标题"/>
          <p:cNvSpPr/>
          <p:nvPr>
            <p:custDataLst>
              <p:tags r:id="rId2"/>
            </p:custDataLst>
          </p:nvPr>
        </p:nvSpPr>
        <p:spPr>
          <a:xfrm>
            <a:off x="950595" y="2985135"/>
            <a:ext cx="4359910" cy="516255"/>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sz="2000" b="1" dirty="0">
                <a:solidFill>
                  <a:srgbClr val="FFFFFF"/>
                </a:solidFill>
                <a:uFillTx/>
                <a:latin typeface="微软雅黑" panose="020B0503020204020204" charset="-122"/>
                <a:ea typeface="微软雅黑" panose="020B0503020204020204" charset="-122"/>
                <a:cs typeface="+mn-ea"/>
                <a:sym typeface="+mn-ea"/>
              </a:rPr>
              <a:t>SFT-Align (</a:t>
            </a:r>
            <a:r>
              <a:rPr lang="zh-CN" altLang="en-US" sz="2000" b="1" dirty="0">
                <a:solidFill>
                  <a:srgbClr val="FFFFFF"/>
                </a:solidFill>
                <a:uFillTx/>
                <a:latin typeface="微软雅黑" panose="020B0503020204020204" charset="-122"/>
                <a:ea typeface="微软雅黑" panose="020B0503020204020204" charset="-122"/>
                <a:cs typeface="+mn-ea"/>
                <a:sym typeface="+mn-ea"/>
              </a:rPr>
              <a:t>阶段</a:t>
            </a:r>
            <a:r>
              <a:rPr lang="en-US" altLang="zh-CN" sz="2000" b="1" dirty="0">
                <a:solidFill>
                  <a:srgbClr val="FFFFFF"/>
                </a:solidFill>
                <a:uFillTx/>
                <a:latin typeface="微软雅黑" panose="020B0503020204020204" charset="-122"/>
                <a:ea typeface="微软雅黑" panose="020B0503020204020204" charset="-122"/>
                <a:cs typeface="+mn-ea"/>
                <a:sym typeface="+mn-ea"/>
              </a:rPr>
              <a:t> 1)</a:t>
            </a:r>
            <a:endParaRPr lang="en-US" altLang="zh-CN" sz="2000" b="1" dirty="0">
              <a:solidFill>
                <a:srgbClr val="FFFFFF"/>
              </a:solidFill>
              <a:uFillTx/>
              <a:latin typeface="微软雅黑" panose="020B0503020204020204" charset="-122"/>
              <a:ea typeface="微软雅黑" panose="020B0503020204020204" charset="-122"/>
              <a:cs typeface="+mn-ea"/>
              <a:sym typeface="+mn-ea"/>
            </a:endParaRPr>
          </a:p>
        </p:txBody>
      </p:sp>
      <p:sp>
        <p:nvSpPr>
          <p:cNvPr id="25" name="标题"/>
          <p:cNvSpPr/>
          <p:nvPr>
            <p:custDataLst>
              <p:tags r:id="rId3"/>
            </p:custDataLst>
          </p:nvPr>
        </p:nvSpPr>
        <p:spPr>
          <a:xfrm>
            <a:off x="6959600" y="2984500"/>
            <a:ext cx="4359910" cy="516255"/>
          </a:xfrm>
          <a:prstGeom prst="roundRect">
            <a:avLst>
              <a:gd name="adj" fmla="val 33396"/>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sz="2000" b="1" dirty="0">
                <a:solidFill>
                  <a:srgbClr val="FFFFFF"/>
                </a:solidFill>
                <a:uFillTx/>
                <a:latin typeface="微软雅黑" panose="020B0503020204020204" charset="-122"/>
                <a:ea typeface="微软雅黑" panose="020B0503020204020204" charset="-122"/>
                <a:cs typeface="+mn-ea"/>
                <a:sym typeface="+mn-ea"/>
              </a:rPr>
              <a:t>SFT-Inject (阶段 2)</a:t>
            </a:r>
            <a:endParaRPr lang="en-US" altLang="zh-CN" sz="2000" b="1" dirty="0">
              <a:solidFill>
                <a:srgbClr val="FFFFFF"/>
              </a:solidFill>
              <a:uFillTx/>
              <a:latin typeface="微软雅黑" panose="020B0503020204020204" charset="-122"/>
              <a:ea typeface="微软雅黑" panose="020B0503020204020204" charset="-122"/>
              <a:cs typeface="+mn-ea"/>
              <a:sym typeface="+mn-ea"/>
            </a:endParaRPr>
          </a:p>
        </p:txBody>
      </p:sp>
      <p:grpSp>
        <p:nvGrpSpPr>
          <p:cNvPr id="38" name="组合 37"/>
          <p:cNvGrpSpPr/>
          <p:nvPr/>
        </p:nvGrpSpPr>
        <p:grpSpPr>
          <a:xfrm>
            <a:off x="311150" y="1054735"/>
            <a:ext cx="11557000" cy="1739900"/>
            <a:chOff x="490" y="1661"/>
            <a:chExt cx="18200" cy="3304"/>
          </a:xfrm>
        </p:grpSpPr>
        <p:sp>
          <p:nvSpPr>
            <p:cNvPr id="39" name="矩形 38"/>
            <p:cNvSpPr/>
            <p:nvPr/>
          </p:nvSpPr>
          <p:spPr>
            <a:xfrm>
              <a:off x="490" y="2087"/>
              <a:ext cx="18200" cy="2878"/>
            </a:xfrm>
            <a:prstGeom prst="rect">
              <a:avLst/>
            </a:prstGeom>
            <a:solidFill>
              <a:schemeClr val="bg2"/>
            </a:solidFill>
            <a:ln w="0">
              <a:solidFill>
                <a:schemeClr val="tx1">
                  <a:lumMod val="50000"/>
                  <a:lumOff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p>
          </p:txBody>
        </p:sp>
        <p:sp>
          <p:nvSpPr>
            <p:cNvPr id="40" name="标题"/>
            <p:cNvSpPr/>
            <p:nvPr>
              <p:custDataLst>
                <p:tags r:id="rId4"/>
              </p:custDataLst>
            </p:nvPr>
          </p:nvSpPr>
          <p:spPr>
            <a:xfrm>
              <a:off x="5588" y="1661"/>
              <a:ext cx="8624" cy="920"/>
            </a:xfrm>
            <a:prstGeom prst="roundRect">
              <a:avLst>
                <a:gd name="adj" fmla="val 14333"/>
              </a:avLst>
            </a:prstGeom>
            <a:gradFill flip="none">
              <a:gsLst>
                <a:gs pos="50000">
                  <a:schemeClr val="accent1"/>
                </a:gs>
                <a:gs pos="0">
                  <a:schemeClr val="accent1">
                    <a:lumMod val="25000"/>
                    <a:lumOff val="75000"/>
                  </a:schemeClr>
                </a:gs>
                <a:gs pos="100000">
                  <a:schemeClr val="accent1">
                    <a:lumMod val="85000"/>
                  </a:schemeClr>
                </a:gs>
              </a:gsLst>
              <a:lin ang="10380000" scaled="1"/>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3.2 </a:t>
              </a:r>
              <a:r>
                <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rPr>
                <a:t>训练路线</a:t>
              </a:r>
              <a:endParaRPr lang="zh-CN" altLang="en-US" sz="2000" b="1"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sym typeface="+mn-ea"/>
              </a:endParaRPr>
            </a:p>
          </p:txBody>
        </p:sp>
        <p:sp>
          <p:nvSpPr>
            <p:cNvPr id="41" name="矩形"/>
            <p:cNvSpPr/>
            <p:nvPr/>
          </p:nvSpPr>
          <p:spPr>
            <a:xfrm>
              <a:off x="796" y="2392"/>
              <a:ext cx="17491" cy="1570"/>
            </a:xfrm>
            <a:prstGeom prst="rect">
              <a:avLst/>
            </a:prstGeom>
            <a:noFill/>
            <a:ln w="12700" cap="flat" cmpd="sng">
              <a:noFill/>
              <a:prstDash val="solid"/>
              <a:miter/>
            </a:ln>
          </p:spPr>
          <p:txBody>
            <a:bodyPr vert="horz" wrap="square" lIns="91440" tIns="45720" rIns="91440" bIns="45720" anchor="t" anchorCtr="0"/>
            <a:lstStyle/>
            <a:p>
              <a:pPr marL="0" indent="0" algn="l">
                <a:lnSpc>
                  <a:spcPct val="150000"/>
                </a:lnSpc>
                <a:spcBef>
                  <a:spcPts val="0"/>
                </a:spcBef>
                <a:spcAft>
                  <a:spcPts val="0"/>
                </a:spcAft>
                <a:buNone/>
              </a:pPr>
              <a:r>
                <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为确保在</a:t>
              </a:r>
              <a:r>
                <a:rPr lang="en-US" altLang="zh-CN"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14</a:t>
              </a:r>
              <a:r>
                <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天内实现可行的训练目标，我们选择了三阶段训练方案，其中包括</a:t>
              </a:r>
              <a:r>
                <a:rPr lang="en-US" altLang="zh-CN"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SFT</a:t>
              </a:r>
              <a:r>
                <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训练、结构化</a:t>
              </a:r>
              <a:r>
                <a:rPr lang="en-US" altLang="zh-CN"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CoT</a:t>
              </a:r>
              <a:r>
                <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嵌入以及</a:t>
              </a:r>
              <a:r>
                <a:rPr lang="en-US" altLang="zh-CN"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DPO</a:t>
              </a:r>
              <a:r>
                <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偏好对</a:t>
              </a:r>
              <a:r>
                <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齐。通过分阶段训练，我们能在较短时间内逐步提升模型性能，并确保每个阶段的效果可验证、可量化。</a:t>
              </a:r>
              <a:endParaRPr lang="zh-CN" altLang="en-US" b="1" i="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p:txBody>
        </p:sp>
      </p:grpSp>
      <p:sp>
        <p:nvSpPr>
          <p:cNvPr id="42" name="文本框 41"/>
          <p:cNvSpPr txBox="1"/>
          <p:nvPr/>
        </p:nvSpPr>
        <p:spPr>
          <a:xfrm>
            <a:off x="690245" y="3879215"/>
            <a:ext cx="4730115" cy="2168525"/>
          </a:xfrm>
          <a:prstGeom prst="rect">
            <a:avLst/>
          </a:prstGeom>
          <a:noFill/>
        </p:spPr>
        <p:txBody>
          <a:bodyPr wrap="square" rtlCol="0" anchor="t">
            <a:spAutoFit/>
          </a:bodyPr>
          <a:p>
            <a:pPr algn="just">
              <a:lnSpc>
                <a:spcPct val="150000"/>
              </a:lnSpc>
            </a:pPr>
            <a:r>
              <a:rPr lang="zh-CN" altLang="en-US">
                <a:latin typeface="微软雅黑" panose="020B0503020204020204" charset="-122"/>
                <a:ea typeface="微软雅黑" panose="020B0503020204020204" charset="-122"/>
                <a:cs typeface="微软雅黑" panose="020B0503020204020204" charset="-122"/>
              </a:rPr>
              <a:t>在这</a:t>
            </a:r>
            <a:r>
              <a:rPr lang="zh-CN" altLang="en-US">
                <a:latin typeface="微软雅黑" panose="020B0503020204020204" charset="-122"/>
                <a:ea typeface="微软雅黑" panose="020B0503020204020204" charset="-122"/>
                <a:cs typeface="微软雅黑" panose="020B0503020204020204" charset="-122"/>
              </a:rPr>
              <a:t>一阶段，我们首先对</a:t>
            </a:r>
            <a:r>
              <a:rPr lang="en-US" altLang="zh-CN">
                <a:latin typeface="微软雅黑" panose="020B0503020204020204" charset="-122"/>
                <a:ea typeface="微软雅黑" panose="020B0503020204020204" charset="-122"/>
                <a:cs typeface="微软雅黑" panose="020B0503020204020204" charset="-122"/>
              </a:rPr>
              <a:t>RoboBrain2.0-7B</a:t>
            </a:r>
            <a:r>
              <a:rPr lang="zh-CN" altLang="en-US">
                <a:latin typeface="微软雅黑" panose="020B0503020204020204" charset="-122"/>
                <a:ea typeface="微软雅黑" panose="020B0503020204020204" charset="-122"/>
                <a:cs typeface="微软雅黑" panose="020B0503020204020204" charset="-122"/>
              </a:rPr>
              <a:t>模型进行预训练微调（</a:t>
            </a:r>
            <a:r>
              <a:rPr lang="en-US" altLang="zh-CN">
                <a:latin typeface="微软雅黑" panose="020B0503020204020204" charset="-122"/>
                <a:ea typeface="微软雅黑" panose="020B0503020204020204" charset="-122"/>
                <a:cs typeface="微软雅黑" panose="020B0503020204020204" charset="-122"/>
              </a:rPr>
              <a:t>SFT</a:t>
            </a:r>
            <a:r>
              <a:rPr lang="zh-CN" altLang="en-US">
                <a:latin typeface="微软雅黑" panose="020B0503020204020204" charset="-122"/>
                <a:ea typeface="微软雅黑" panose="020B0503020204020204" charset="-122"/>
                <a:cs typeface="微软雅黑" panose="020B0503020204020204" charset="-122"/>
              </a:rPr>
              <a:t>），确保其在视觉理解和语言生成上具有基本的能力。在这个过程中，我们使</a:t>
            </a:r>
            <a:r>
              <a:rPr lang="zh-CN" altLang="en-US">
                <a:latin typeface="微软雅黑" panose="020B0503020204020204" charset="-122"/>
                <a:ea typeface="微软雅黑" panose="020B0503020204020204" charset="-122"/>
                <a:cs typeface="微软雅黑" panose="020B0503020204020204" charset="-122"/>
              </a:rPr>
              <a:t>用标准的监督学习</a:t>
            </a:r>
            <a:r>
              <a:rPr lang="zh-CN" altLang="en-US">
                <a:latin typeface="微软雅黑" panose="020B0503020204020204" charset="-122"/>
                <a:ea typeface="微软雅黑" panose="020B0503020204020204" charset="-122"/>
                <a:cs typeface="微软雅黑" panose="020B0503020204020204" charset="-122"/>
              </a:rPr>
              <a:t>方法，结合适当的学习率和</a:t>
            </a:r>
            <a:r>
              <a:rPr lang="en-US" altLang="zh-CN">
                <a:latin typeface="微软雅黑" panose="020B0503020204020204" charset="-122"/>
                <a:ea typeface="微软雅黑" panose="020B0503020204020204" charset="-122"/>
                <a:cs typeface="微软雅黑" panose="020B0503020204020204" charset="-122"/>
              </a:rPr>
              <a:t>batch size</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6532245" y="3879215"/>
            <a:ext cx="5080000" cy="2168525"/>
          </a:xfrm>
          <a:prstGeom prst="rect">
            <a:avLst/>
          </a:prstGeom>
        </p:spPr>
        <p:txBody>
          <a:bodyPr>
            <a:spAutoFit/>
          </a:bodyPr>
          <a:p>
            <a:pPr algn="just">
              <a:lnSpc>
                <a:spcPct val="150000"/>
              </a:lnSpc>
            </a:pPr>
            <a:r>
              <a:rPr lang="zh-CN" altLang="en-US" sz="1800">
                <a:latin typeface="微软雅黑" panose="020B0503020204020204" charset="-122"/>
                <a:ea typeface="微软雅黑" panose="020B0503020204020204" charset="-122"/>
                <a:cs typeface="微软雅黑" panose="020B0503020204020204" charset="-122"/>
              </a:rPr>
              <a:t>在这⼀阶段，我们引</a:t>
            </a:r>
            <a:r>
              <a:rPr lang="zh-CN" altLang="en-US" sz="1800">
                <a:latin typeface="微软雅黑" panose="020B0503020204020204" charset="-122"/>
                <a:ea typeface="微软雅黑" panose="020B0503020204020204" charset="-122"/>
                <a:cs typeface="微软雅黑" panose="020B0503020204020204" charset="-122"/>
              </a:rPr>
              <a:t>入了结构化CoT，将任务指令转化为</a:t>
            </a:r>
            <a:r>
              <a:rPr lang="zh-CN" altLang="en-US" b="1">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结构化的JSON</a:t>
            </a:r>
            <a:r>
              <a:rPr lang="zh-CN" altLang="en-US" sz="1800">
                <a:latin typeface="微软雅黑" panose="020B0503020204020204" charset="-122"/>
                <a:ea typeface="微软雅黑" panose="020B0503020204020204" charset="-122"/>
                <a:cs typeface="微软雅黑" panose="020B0503020204020204" charset="-122"/>
              </a:rPr>
              <a:t>输出。通过这种方式，我们能够使模型</a:t>
            </a:r>
            <a:r>
              <a:rPr lang="zh-CN" altLang="en-US" sz="1800">
                <a:latin typeface="微软雅黑" panose="020B0503020204020204" charset="-122"/>
                <a:ea typeface="微软雅黑" panose="020B0503020204020204" charset="-122"/>
                <a:cs typeface="微软雅黑" panose="020B0503020204020204" charset="-122"/>
              </a:rPr>
              <a:t>生成的推理过程更加可控制。在SFT-Align的基础上，进⼀步训练模型生成结构化的思维链，并进</a:t>
            </a:r>
            <a:r>
              <a:rPr lang="zh-CN" altLang="en-US" sz="1800">
                <a:latin typeface="微软雅黑" panose="020B0503020204020204" charset="-122"/>
                <a:ea typeface="微软雅黑" panose="020B0503020204020204" charset="-122"/>
                <a:cs typeface="微软雅黑" panose="020B0503020204020204" charset="-122"/>
              </a:rPr>
              <a:t>行反馈调整。</a:t>
            </a:r>
            <a:endParaRPr lang="zh-CN" altLang="en-US" sz="18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542798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训练</a:t>
            </a:r>
            <a:r>
              <a:rPr lang="en-US" altLang="zh-CN" sz="2000" b="1" dirty="0">
                <a:solidFill>
                  <a:schemeClr val="bg1"/>
                </a:solidFill>
                <a:latin typeface="微软雅黑" panose="020B0503020204020204" charset="-122"/>
                <a:ea typeface="微软雅黑" panose="020B0503020204020204" charset="-122"/>
              </a:rPr>
              <a:t>&amp;</a:t>
            </a:r>
            <a:r>
              <a:rPr lang="zh-CN" altLang="en-US" sz="2000" b="1" dirty="0">
                <a:solidFill>
                  <a:schemeClr val="bg1"/>
                </a:solidFill>
                <a:latin typeface="微软雅黑" panose="020B0503020204020204" charset="-122"/>
                <a:ea typeface="微软雅黑" panose="020B0503020204020204" charset="-122"/>
              </a:rPr>
              <a:t>效果</a:t>
            </a:r>
            <a:endParaRPr lang="zh-CN" altLang="en-US" sz="2000" b="1" dirty="0">
              <a:solidFill>
                <a:schemeClr val="bg1"/>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1135" y="2738755"/>
            <a:ext cx="11839575" cy="3460115"/>
          </a:xfrm>
          <a:prstGeom prst="rect">
            <a:avLst/>
          </a:prstGeom>
          <a:noFill/>
          <a:ln w="12700">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4" name="组合 13"/>
          <p:cNvGrpSpPr/>
          <p:nvPr/>
        </p:nvGrpSpPr>
        <p:grpSpPr>
          <a:xfrm>
            <a:off x="387985" y="1279525"/>
            <a:ext cx="11399520" cy="6772275"/>
            <a:chOff x="611" y="2015"/>
            <a:chExt cx="17952" cy="10665"/>
          </a:xfrm>
        </p:grpSpPr>
        <p:grpSp>
          <p:nvGrpSpPr>
            <p:cNvPr id="12" name="组合 11"/>
            <p:cNvGrpSpPr/>
            <p:nvPr/>
          </p:nvGrpSpPr>
          <p:grpSpPr>
            <a:xfrm>
              <a:off x="611" y="2346"/>
              <a:ext cx="17952" cy="10334"/>
              <a:chOff x="611" y="5014"/>
              <a:chExt cx="8693" cy="6846"/>
            </a:xfrm>
          </p:grpSpPr>
          <p:sp>
            <p:nvSpPr>
              <p:cNvPr id="20" name="矩形: 圆角 5"/>
              <p:cNvSpPr/>
              <p:nvPr/>
            </p:nvSpPr>
            <p:spPr>
              <a:xfrm>
                <a:off x="611" y="5014"/>
                <a:ext cx="8693" cy="5235"/>
              </a:xfrm>
              <a:prstGeom prst="roundRect">
                <a:avLst>
                  <a:gd name="adj" fmla="val 1288"/>
                </a:avLst>
              </a:prstGeom>
              <a:solidFill>
                <a:schemeClr val="bg1">
                  <a:lumMod val="95000"/>
                </a:schemeClr>
              </a:solidFill>
              <a:ln w="12700">
                <a:solidFill>
                  <a:srgbClr val="0C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panose="020B0502040204020203" charset="-122"/>
                  <a:cs typeface="+mn-cs"/>
                </a:endParaRPr>
              </a:p>
            </p:txBody>
          </p:sp>
          <p:sp>
            <p:nvSpPr>
              <p:cNvPr id="42" name="文本框 41"/>
              <p:cNvSpPr txBox="1"/>
              <p:nvPr/>
            </p:nvSpPr>
            <p:spPr>
              <a:xfrm>
                <a:off x="3700" y="11283"/>
                <a:ext cx="3006" cy="577"/>
              </a:xfrm>
              <a:prstGeom prst="rect">
                <a:avLst/>
              </a:prstGeom>
              <a:noFill/>
            </p:spPr>
            <p:txBody>
              <a:bodyPr wrap="square" rtlCol="0" anchor="t">
                <a:spAutoFit/>
              </a:bodyPr>
              <a:p>
                <a:pPr algn="just">
                  <a:lnSpc>
                    <a:spcPct val="150000"/>
                  </a:lnSpc>
                </a:pPr>
                <a:endParaRPr lang="zh-CN" altLang="en-US" sz="2000">
                  <a:latin typeface="微软雅黑" panose="020B0503020204020204" charset="-122"/>
                  <a:ea typeface="微软雅黑" panose="020B0503020204020204" charset="-122"/>
                  <a:cs typeface="微软雅黑" panose="020B0503020204020204" charset="-122"/>
                </a:endParaRPr>
              </a:p>
            </p:txBody>
          </p:sp>
        </p:grpSp>
        <p:sp>
          <p:nvSpPr>
            <p:cNvPr id="13" name="标题"/>
            <p:cNvSpPr/>
            <p:nvPr>
              <p:custDataLst>
                <p:tags r:id="rId2"/>
              </p:custDataLst>
            </p:nvPr>
          </p:nvSpPr>
          <p:spPr>
            <a:xfrm>
              <a:off x="6154" y="2015"/>
              <a:ext cx="6866" cy="813"/>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sz="2000" b="1" dirty="0">
                  <a:solidFill>
                    <a:srgbClr val="FFFFFF"/>
                  </a:solidFill>
                  <a:uFillTx/>
                  <a:latin typeface="微软雅黑" panose="020B0503020204020204" charset="-122"/>
                  <a:ea typeface="微软雅黑" panose="020B0503020204020204" charset="-122"/>
                  <a:cs typeface="+mn-ea"/>
                  <a:sym typeface="+mn-ea"/>
                </a:rPr>
                <a:t>SFT-Fuse + DPO (</a:t>
              </a:r>
              <a:r>
                <a:rPr lang="zh-CN" altLang="en-US" sz="2000" b="1" dirty="0">
                  <a:solidFill>
                    <a:srgbClr val="FFFFFF"/>
                  </a:solidFill>
                  <a:uFillTx/>
                  <a:latin typeface="微软雅黑" panose="020B0503020204020204" charset="-122"/>
                  <a:ea typeface="微软雅黑" panose="020B0503020204020204" charset="-122"/>
                  <a:cs typeface="+mn-ea"/>
                  <a:sym typeface="+mn-ea"/>
                </a:rPr>
                <a:t>阶段</a:t>
              </a:r>
              <a:r>
                <a:rPr lang="en-US" altLang="zh-CN" sz="2000" b="1" dirty="0">
                  <a:solidFill>
                    <a:srgbClr val="FFFFFF"/>
                  </a:solidFill>
                  <a:uFillTx/>
                  <a:latin typeface="微软雅黑" panose="020B0503020204020204" charset="-122"/>
                  <a:ea typeface="微软雅黑" panose="020B0503020204020204" charset="-122"/>
                  <a:cs typeface="+mn-ea"/>
                  <a:sym typeface="+mn-ea"/>
                </a:rPr>
                <a:t> 3)</a:t>
              </a:r>
              <a:endParaRPr lang="en-US" altLang="zh-CN" sz="2000" b="1" dirty="0">
                <a:solidFill>
                  <a:srgbClr val="FFFFFF"/>
                </a:solidFill>
                <a:uFillTx/>
                <a:latin typeface="微软雅黑" panose="020B0503020204020204" charset="-122"/>
                <a:ea typeface="微软雅黑" panose="020B0503020204020204" charset="-122"/>
                <a:cs typeface="+mn-ea"/>
                <a:sym typeface="+mn-ea"/>
              </a:endParaRPr>
            </a:p>
          </p:txBody>
        </p:sp>
      </p:grpSp>
      <p:graphicFrame>
        <p:nvGraphicFramePr>
          <p:cNvPr id="15" name="表格 14"/>
          <p:cNvGraphicFramePr/>
          <p:nvPr>
            <p:custDataLst>
              <p:tags r:id="rId3"/>
            </p:custDataLst>
          </p:nvPr>
        </p:nvGraphicFramePr>
        <p:xfrm>
          <a:off x="4953000" y="2012315"/>
          <a:ext cx="6464300" cy="3835400"/>
        </p:xfrm>
        <a:graphic>
          <a:graphicData uri="http://schemas.openxmlformats.org/drawingml/2006/table">
            <a:tbl>
              <a:tblPr firstRow="1">
                <a:tableStyleId>{D0504C51-2975-4DB7-A513-51D8508100D4}</a:tableStyleId>
              </a:tblPr>
              <a:tblGrid>
                <a:gridCol w="2009775"/>
                <a:gridCol w="1101090"/>
                <a:gridCol w="830580"/>
                <a:gridCol w="831850"/>
                <a:gridCol w="830580"/>
                <a:gridCol w="860425"/>
              </a:tblGrid>
              <a:tr h="463550">
                <a:tc>
                  <a:txBody>
                    <a:bodyPr/>
                    <a:p>
                      <a:pPr marL="0" indent="0" algn="ctr">
                        <a:lnSpc>
                          <a:spcPct val="120000"/>
                        </a:lnSpc>
                        <a:spcBef>
                          <a:spcPts val="0"/>
                        </a:spcBef>
                        <a:spcAft>
                          <a:spcPts val="0"/>
                        </a:spcAft>
                      </a:pPr>
                      <a:r>
                        <a:rPr lang="zh-CN" altLang="en-US" sz="1100" spc="60">
                          <a:latin typeface="微软雅黑" panose="020B0503020204020204" charset="-122"/>
                          <a:ea typeface="微软雅黑" panose="020B0503020204020204" charset="-122"/>
                        </a:rPr>
                        <a:t>指标</a:t>
                      </a:r>
                      <a:endParaRPr lang="zh-CN" altLang="en-US" sz="11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marL="0" indent="0" algn="ctr">
                        <a:lnSpc>
                          <a:spcPct val="120000"/>
                        </a:lnSpc>
                        <a:spcBef>
                          <a:spcPts val="0"/>
                        </a:spcBef>
                        <a:spcAft>
                          <a:spcPts val="0"/>
                        </a:spcAft>
                      </a:pPr>
                      <a:r>
                        <a:rPr lang="en-US" altLang="zh-CN" sz="1100" spc="60">
                          <a:latin typeface="微软雅黑" panose="020B0503020204020204" charset="-122"/>
                          <a:ea typeface="微软雅黑" panose="020B0503020204020204" charset="-122"/>
                        </a:rPr>
                        <a:t>32B_Baseline</a:t>
                      </a:r>
                      <a:endParaRPr lang="en-US" altLang="zh-CN" sz="11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marL="0" indent="0" algn="ctr">
                        <a:lnSpc>
                          <a:spcPct val="120000"/>
                        </a:lnSpc>
                        <a:spcBef>
                          <a:spcPts val="0"/>
                        </a:spcBef>
                        <a:spcAft>
                          <a:spcPts val="0"/>
                        </a:spcAft>
                      </a:pPr>
                      <a:r>
                        <a:rPr lang="en-US" altLang="zh-CN" sz="1100" spc="60">
                          <a:latin typeface="微软雅黑" panose="020B0503020204020204" charset="-122"/>
                          <a:ea typeface="微软雅黑" panose="020B0503020204020204" charset="-122"/>
                        </a:rPr>
                        <a:t>Stage 1</a:t>
                      </a:r>
                      <a:endParaRPr lang="en-US" altLang="zh-CN" sz="11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marL="0" indent="0" algn="ctr">
                        <a:lnSpc>
                          <a:spcPct val="120000"/>
                        </a:lnSpc>
                        <a:spcBef>
                          <a:spcPts val="0"/>
                        </a:spcBef>
                        <a:spcAft>
                          <a:spcPts val="0"/>
                        </a:spcAft>
                      </a:pPr>
                      <a:r>
                        <a:rPr lang="en-US" altLang="zh-CN" sz="1100" spc="60">
                          <a:latin typeface="微软雅黑" panose="020B0503020204020204" charset="-122"/>
                          <a:ea typeface="微软雅黑" panose="020B0503020204020204" charset="-122"/>
                        </a:rPr>
                        <a:t>Stage 2</a:t>
                      </a:r>
                      <a:endParaRPr lang="en-US" altLang="zh-CN" sz="11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marL="0" indent="0" algn="ctr">
                        <a:lnSpc>
                          <a:spcPct val="120000"/>
                        </a:lnSpc>
                        <a:spcBef>
                          <a:spcPts val="0"/>
                        </a:spcBef>
                        <a:spcAft>
                          <a:spcPts val="0"/>
                        </a:spcAft>
                      </a:pPr>
                      <a:r>
                        <a:rPr lang="en-US" altLang="zh-CN" sz="1100" spc="60">
                          <a:latin typeface="微软雅黑" panose="020B0503020204020204" charset="-122"/>
                          <a:ea typeface="微软雅黑" panose="020B0503020204020204" charset="-122"/>
                        </a:rPr>
                        <a:t>Stage 3</a:t>
                      </a:r>
                      <a:endParaRPr lang="en-US" altLang="zh-CN" sz="11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marL="0" indent="0" algn="ctr">
                        <a:lnSpc>
                          <a:spcPct val="120000"/>
                        </a:lnSpc>
                        <a:spcBef>
                          <a:spcPts val="0"/>
                        </a:spcBef>
                        <a:spcAft>
                          <a:spcPts val="0"/>
                        </a:spcAft>
                      </a:pPr>
                      <a:r>
                        <a:rPr lang="en-US" altLang="zh-CN" sz="1100" spc="60">
                          <a:latin typeface="微软雅黑" panose="020B0503020204020204" charset="-122"/>
                          <a:ea typeface="微软雅黑" panose="020B0503020204020204" charset="-122"/>
                        </a:rPr>
                        <a:t>7B_Baseline</a:t>
                      </a:r>
                      <a:endParaRPr lang="en-US" altLang="zh-CN" sz="11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All_Angles</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42</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47</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748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BLINK</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59</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66</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58</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65</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49</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CVBench</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83</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95</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95</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74</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Egoplan</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20</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19</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Embspatial</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88</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95</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95</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76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ERQA</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42</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70</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chemeClr val="tx1"/>
                          </a:solidFill>
                          <a:latin typeface="微软雅黑" panose="020B0503020204020204" charset="-122"/>
                          <a:ea typeface="微软雅黑" panose="020B0503020204020204" charset="-122"/>
                        </a:rPr>
                        <a:t>38</a:t>
                      </a:r>
                      <a:endParaRPr lang="en-US" altLang="zh-CN" sz="900" spc="60">
                        <a:solidFill>
                          <a:schemeClr val="tx1"/>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46</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38</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MMSI</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64</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82</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88</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27</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Omini_Spatial</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28</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75</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39</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Omini_Spatial_test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40</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27</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RealworldQA</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90</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93</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68</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Refspatial_Location</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61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20</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33</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Refspatial_Planing</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38</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42</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120">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Refspatial_Unseen</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33</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10</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38</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RoboSpatial</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50</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62</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44</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56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SAT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76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83</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solidFill>
                            <a:srgbClr val="FF0000"/>
                          </a:solidFill>
                          <a:latin typeface="微软雅黑" panose="020B0503020204020204" charset="-122"/>
                          <a:ea typeface="微软雅黑" panose="020B0503020204020204" charset="-122"/>
                        </a:rPr>
                        <a:t>77</a:t>
                      </a:r>
                      <a:endParaRPr lang="en-US" altLang="zh-CN" sz="900" spc="60">
                        <a:solidFill>
                          <a:srgbClr val="FF0000"/>
                        </a:solidFill>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63</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74</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748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VSIBench</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37</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34</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35</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40</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98755">
                <a:tc>
                  <a:txBody>
                    <a:bodyPr/>
                    <a:p>
                      <a:pPr marL="0" indent="0" algn="l">
                        <a:lnSpc>
                          <a:spcPct val="120000"/>
                        </a:lnSpc>
                        <a:spcBef>
                          <a:spcPts val="0"/>
                        </a:spcBef>
                        <a:spcAft>
                          <a:spcPts val="0"/>
                        </a:spcAft>
                      </a:pPr>
                      <a:r>
                        <a:rPr lang="en-US" altLang="zh-CN" sz="900" spc="60">
                          <a:latin typeface="微软雅黑" panose="020B0503020204020204" charset="-122"/>
                          <a:ea typeface="微软雅黑" panose="020B0503020204020204" charset="-122"/>
                        </a:rPr>
                        <a:t>Where2Place</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76</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44</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12</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13</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marL="0" indent="0" algn="ctr">
                        <a:lnSpc>
                          <a:spcPct val="120000"/>
                        </a:lnSpc>
                        <a:spcBef>
                          <a:spcPts val="0"/>
                        </a:spcBef>
                        <a:spcAft>
                          <a:spcPts val="0"/>
                        </a:spcAft>
                      </a:pPr>
                      <a:r>
                        <a:rPr lang="en-US" altLang="zh-CN" sz="900" spc="60">
                          <a:latin typeface="微软雅黑" panose="020B0503020204020204" charset="-122"/>
                          <a:ea typeface="微软雅黑" panose="020B0503020204020204" charset="-122"/>
                        </a:rPr>
                        <a:t>61</a:t>
                      </a:r>
                      <a:endParaRPr lang="en-US" altLang="zh-CN" sz="9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bl>
          </a:graphicData>
        </a:graphic>
      </p:graphicFrame>
      <p:sp>
        <p:nvSpPr>
          <p:cNvPr id="67" name="圆角矩形 66"/>
          <p:cNvSpPr/>
          <p:nvPr/>
        </p:nvSpPr>
        <p:spPr>
          <a:xfrm>
            <a:off x="4953000" y="5932170"/>
            <a:ext cx="6464935" cy="398145"/>
          </a:xfrm>
          <a:prstGeom prst="roundRect">
            <a:avLst>
              <a:gd name="adj" fmla="val 8972"/>
            </a:avLst>
          </a:prstGeom>
          <a:solidFill>
            <a:schemeClr val="bg1">
              <a:lumMod val="85000"/>
            </a:schemeClr>
          </a:solidFill>
        </p:spPr>
        <p:style>
          <a:lnRef idx="2">
            <a:schemeClr val="lt1"/>
          </a:lnRef>
          <a:fillRef idx="1">
            <a:schemeClr val="accent1"/>
          </a:fillRef>
          <a:effectRef idx="1">
            <a:schemeClr val="accent1"/>
          </a:effectRef>
          <a:fontRef idx="minor">
            <a:schemeClr val="lt1"/>
          </a:fontRef>
        </p:style>
        <p:txBody>
          <a:bodyPr rtlCol="0" anchor="ctr"/>
          <a:p>
            <a:pPr algn="ctr"/>
            <a:endParaRPr lang="zh-CN" altLang="en-US" sz="1400" b="1">
              <a:solidFill>
                <a:schemeClr val="accent1"/>
              </a:solidFill>
              <a:latin typeface="微软雅黑" panose="020B0503020204020204" charset="-122"/>
              <a:ea typeface="微软雅黑" panose="020B0503020204020204" charset="-122"/>
              <a:cs typeface="+mn-ea"/>
              <a:sym typeface="+mn-ea"/>
            </a:endParaRPr>
          </a:p>
          <a:p>
            <a:pPr algn="ctr"/>
            <a:r>
              <a:rPr lang="zh-CN" altLang="en-US" sz="1400" b="1">
                <a:solidFill>
                  <a:schemeClr val="accent1"/>
                </a:solidFill>
                <a:latin typeface="微软雅黑" panose="020B0503020204020204" charset="-122"/>
                <a:ea typeface="微软雅黑" panose="020B0503020204020204" charset="-122"/>
                <a:cs typeface="+mn-ea"/>
                <a:sym typeface="+mn-ea"/>
              </a:rPr>
              <a:t>表</a:t>
            </a:r>
            <a:r>
              <a:rPr lang="en-US" altLang="zh-CN" sz="1400" b="1">
                <a:solidFill>
                  <a:schemeClr val="accent1"/>
                </a:solidFill>
                <a:latin typeface="微软雅黑" panose="020B0503020204020204" charset="-122"/>
                <a:ea typeface="微软雅黑" panose="020B0503020204020204" charset="-122"/>
                <a:cs typeface="+mn-ea"/>
                <a:sym typeface="+mn-ea"/>
              </a:rPr>
              <a:t> 1. </a:t>
            </a:r>
            <a:r>
              <a:rPr lang="zh-CN" altLang="en-US" sz="1400" b="1">
                <a:solidFill>
                  <a:schemeClr val="accent1"/>
                </a:solidFill>
                <a:latin typeface="微软雅黑" panose="020B0503020204020204" charset="-122"/>
                <a:ea typeface="微软雅黑" panose="020B0503020204020204" charset="-122"/>
                <a:cs typeface="+mn-ea"/>
                <a:sym typeface="+mn-ea"/>
              </a:rPr>
              <a:t>不同模型在各个数据集上的</a:t>
            </a:r>
            <a:r>
              <a:rPr lang="en-US" altLang="zh-CN" sz="1400" b="1">
                <a:solidFill>
                  <a:schemeClr val="accent1"/>
                </a:solidFill>
                <a:latin typeface="微软雅黑" panose="020B0503020204020204" charset="-122"/>
                <a:ea typeface="微软雅黑" panose="020B0503020204020204" charset="-122"/>
                <a:cs typeface="+mn-ea"/>
                <a:sym typeface="+mn-ea"/>
              </a:rPr>
              <a:t> Accuracy</a:t>
            </a:r>
            <a:r>
              <a:rPr lang="zh-CN" altLang="en-US" sz="1400" b="1">
                <a:solidFill>
                  <a:schemeClr val="accent1"/>
                </a:solidFill>
                <a:latin typeface="微软雅黑" panose="020B0503020204020204" charset="-122"/>
                <a:ea typeface="微软雅黑" panose="020B0503020204020204" charset="-122"/>
                <a:cs typeface="+mn-ea"/>
                <a:sym typeface="+mn-ea"/>
              </a:rPr>
              <a:t>，单位为</a:t>
            </a:r>
            <a:r>
              <a:rPr lang="en-US" altLang="zh-CN" sz="1400" b="1">
                <a:solidFill>
                  <a:schemeClr val="accent1"/>
                </a:solidFill>
                <a:latin typeface="微软雅黑" panose="020B0503020204020204" charset="-122"/>
                <a:ea typeface="微软雅黑" panose="020B0503020204020204" charset="-122"/>
                <a:cs typeface="+mn-ea"/>
                <a:sym typeface="+mn-ea"/>
              </a:rPr>
              <a:t>%</a:t>
            </a:r>
            <a:r>
              <a:rPr lang="zh-CN" altLang="en-US" sz="1400" b="1">
                <a:solidFill>
                  <a:schemeClr val="accent1"/>
                </a:solidFill>
                <a:latin typeface="微软雅黑" panose="020B0503020204020204" charset="-122"/>
                <a:ea typeface="微软雅黑" panose="020B0503020204020204" charset="-122"/>
                <a:cs typeface="+mn-ea"/>
                <a:sym typeface="+mn-ea"/>
              </a:rPr>
              <a:t>，标</a:t>
            </a:r>
            <a:r>
              <a:rPr lang="en-US" altLang="zh-CN" sz="1400" b="1">
                <a:solidFill>
                  <a:schemeClr val="accent1"/>
                </a:solidFill>
                <a:latin typeface="微软雅黑" panose="020B0503020204020204" charset="-122"/>
                <a:ea typeface="微软雅黑" panose="020B0503020204020204" charset="-122"/>
                <a:cs typeface="+mn-ea"/>
                <a:sym typeface="+mn-ea"/>
              </a:rPr>
              <a:t> "\" </a:t>
            </a:r>
            <a:r>
              <a:rPr lang="zh-CN" altLang="en-US" sz="1400" b="1">
                <a:solidFill>
                  <a:schemeClr val="accent1"/>
                </a:solidFill>
                <a:latin typeface="微软雅黑" panose="020B0503020204020204" charset="-122"/>
                <a:ea typeface="微软雅黑" panose="020B0503020204020204" charset="-122"/>
                <a:cs typeface="+mn-ea"/>
                <a:sym typeface="+mn-ea"/>
              </a:rPr>
              <a:t>的暂时没测出</a:t>
            </a:r>
            <a:endParaRPr lang="zh-CN" altLang="en-US" sz="1400" b="1">
              <a:solidFill>
                <a:schemeClr val="accent1"/>
              </a:solidFill>
              <a:latin typeface="微软雅黑" panose="020B0503020204020204" charset="-122"/>
              <a:ea typeface="微软雅黑" panose="020B0503020204020204" charset="-122"/>
              <a:cs typeface="+mn-ea"/>
              <a:sym typeface="+mn-ea"/>
            </a:endParaRPr>
          </a:p>
          <a:p>
            <a:pPr algn="ctr"/>
            <a:endParaRPr lang="zh-CN" altLang="en-US" sz="1400" b="1">
              <a:solidFill>
                <a:schemeClr val="accent1"/>
              </a:solidFill>
              <a:latin typeface="微软雅黑" panose="020B0503020204020204" charset="-122"/>
              <a:ea typeface="微软雅黑" panose="020B0503020204020204" charset="-122"/>
              <a:cs typeface="+mn-ea"/>
              <a:sym typeface="+mn-ea"/>
            </a:endParaRPr>
          </a:p>
        </p:txBody>
      </p:sp>
      <p:sp>
        <p:nvSpPr>
          <p:cNvPr id="46" name="任意多边形 45"/>
          <p:cNvSpPr/>
          <p:nvPr/>
        </p:nvSpPr>
        <p:spPr bwMode="white">
          <a:xfrm>
            <a:off x="619125" y="2042160"/>
            <a:ext cx="3989070" cy="4074795"/>
          </a:xfrm>
          <a:custGeom>
            <a:avLst/>
            <a:gdLst>
              <a:gd name="connisteX0" fmla="*/ 0 w 3350"/>
              <a:gd name="connsiteY0" fmla="*/ 0 h 2763"/>
              <a:gd name="connisteX1" fmla="*/ 276 w 3350"/>
              <a:gd name="connsiteY1" fmla="*/ 0 h 2763"/>
              <a:gd name="connisteX2" fmla="*/ 1675 w 3350"/>
              <a:gd name="connsiteY2" fmla="*/ 0 h 2763"/>
              <a:gd name="connisteX3" fmla="*/ 0 w 3350"/>
              <a:gd name="connsiteY3" fmla="*/ 1381 h 2763"/>
              <a:gd name="connisteX4" fmla="*/ 1675 w 3350"/>
              <a:gd name="connsiteY4" fmla="*/ 2763 h 2763"/>
              <a:gd name="connisteX5" fmla="*/ 3350 w 3350"/>
              <a:gd name="connsiteY5" fmla="*/ 1381 h 27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351" h="2764">
                <a:moveTo>
                  <a:pt x="0" y="276"/>
                </a:moveTo>
                <a:cubicBezTo>
                  <a:pt x="0" y="124"/>
                  <a:pt x="124" y="0"/>
                  <a:pt x="276" y="0"/>
                </a:cubicBezTo>
                <a:lnTo>
                  <a:pt x="3074" y="0"/>
                </a:lnTo>
                <a:cubicBezTo>
                  <a:pt x="3227" y="0"/>
                  <a:pt x="3351" y="124"/>
                  <a:pt x="3351" y="276"/>
                </a:cubicBezTo>
                <a:lnTo>
                  <a:pt x="3351" y="2487"/>
                </a:lnTo>
                <a:cubicBezTo>
                  <a:pt x="3351" y="2640"/>
                  <a:pt x="3227" y="2764"/>
                  <a:pt x="3074" y="2764"/>
                </a:cubicBezTo>
                <a:lnTo>
                  <a:pt x="276" y="2764"/>
                </a:lnTo>
                <a:cubicBezTo>
                  <a:pt x="124" y="2764"/>
                  <a:pt x="0" y="2640"/>
                  <a:pt x="0" y="2487"/>
                </a:cubicBezTo>
                <a:lnTo>
                  <a:pt x="0" y="276"/>
                </a:lnTo>
              </a:path>
            </a:pathLst>
          </a:custGeom>
          <a:solidFill>
            <a:schemeClr val="bg2">
              <a:alpha val="90000"/>
            </a:schemeClr>
          </a:solidFill>
          <a:ln>
            <a:solidFill>
              <a:schemeClr val="accent1"/>
            </a:solidFill>
            <a:prstDash val="dash"/>
          </a:ln>
        </p:spPr>
        <p:style>
          <a:lnRef idx="2">
            <a:schemeClr val="accent1"/>
          </a:lnRef>
          <a:fillRef idx="1">
            <a:schemeClr val="lt1">
              <a:alpha val="90000"/>
            </a:schemeClr>
          </a:fillRef>
          <a:effectRef idx="0">
            <a:scrgbClr r="0" g="0" b="0"/>
          </a:effectRef>
          <a:fontRef idx="minor"/>
        </p:style>
        <p:txBody>
          <a:bodyPr vert="horz" wrap="square" lIns="70865" tIns="70865" rIns="70864" bIns="446916" anchor="t">
            <a:noAutofit/>
          </a:bodyP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endParaRPr lang="zh-CN" altLang="en-US" sz="1600" b="0" i="0" dirty="0">
              <a:solidFill>
                <a:schemeClr val="dk1"/>
              </a:solidFill>
              <a:latin typeface="微软雅黑" panose="020B0503020204020204" charset="-122"/>
              <a:ea typeface="微软雅黑" panose="020B0503020204020204" charset="-122"/>
              <a:cs typeface="Alibaba PuHuiTi" pitchFamily="18" charset="-122"/>
            </a:endParaRPr>
          </a:p>
        </p:txBody>
      </p:sp>
      <p:sp>
        <p:nvSpPr>
          <p:cNvPr id="27" name="文本框 26"/>
          <p:cNvSpPr txBox="1"/>
          <p:nvPr/>
        </p:nvSpPr>
        <p:spPr>
          <a:xfrm>
            <a:off x="852170" y="2172335"/>
            <a:ext cx="3585845" cy="4158615"/>
          </a:xfrm>
          <a:prstGeom prst="rect">
            <a:avLst/>
          </a:prstGeom>
          <a:noFill/>
        </p:spPr>
        <p:txBody>
          <a:bodyPr wrap="square" rtlCol="0" anchor="t">
            <a:noAutofit/>
          </a:bodyPr>
          <a:p>
            <a:pPr algn="just">
              <a:lnSpc>
                <a:spcPct val="150000"/>
              </a:lnSpc>
            </a:pPr>
            <a:r>
              <a:rPr lang="zh-CN" altLang="en-US" sz="2000">
                <a:solidFill>
                  <a:schemeClr val="tx1"/>
                </a:solidFill>
                <a:latin typeface="微软雅黑" panose="020B0503020204020204" charset="-122"/>
                <a:ea typeface="微软雅黑" panose="020B0503020204020204" charset="-122"/>
                <a:cs typeface="微软雅黑" panose="020B0503020204020204" charset="-122"/>
                <a:sym typeface="+mn-ea"/>
              </a:rPr>
              <a:t>该阶段我们将继续使用SFT训练，融入更多的任务规划能力，同时加入</a:t>
            </a:r>
            <a:r>
              <a:rPr lang="zh-CN" altLang="en-US" sz="2000" b="1">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DPO偏好对⻬</a:t>
            </a:r>
            <a:r>
              <a:rPr lang="zh-CN" altLang="en-US" sz="2000">
                <a:solidFill>
                  <a:schemeClr val="tx1"/>
                </a:solidFill>
                <a:latin typeface="微软雅黑" panose="020B0503020204020204" charset="-122"/>
                <a:ea typeface="微软雅黑" panose="020B0503020204020204" charset="-122"/>
                <a:cs typeface="微软雅黑" panose="020B0503020204020204" charset="-122"/>
                <a:sym typeface="+mn-ea"/>
              </a:rPr>
              <a:t>，通过自制的“失败→修正”数据对进行偏好学习。使用DPO算法，通过正负样本对进</a:t>
            </a:r>
            <a:r>
              <a:rPr lang="zh-CN" altLang="en-US" sz="2000">
                <a:solidFill>
                  <a:schemeClr val="tx1"/>
                </a:solidFill>
                <a:latin typeface="微软雅黑" panose="020B0503020204020204" charset="-122"/>
                <a:ea typeface="微软雅黑" panose="020B0503020204020204" charset="-122"/>
                <a:cs typeface="微软雅黑" panose="020B0503020204020204" charset="-122"/>
                <a:sym typeface="+mn-ea"/>
              </a:rPr>
              <a:t>行训练，使模型在任务规划过程中能够做出更符合期望的决策。</a:t>
            </a:r>
            <a:endParaRPr lang="zh-CN" altLang="en-US" sz="20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542798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训练</a:t>
            </a:r>
            <a:r>
              <a:rPr lang="en-US" altLang="zh-CN" sz="2000" b="1" dirty="0">
                <a:solidFill>
                  <a:schemeClr val="bg1"/>
                </a:solidFill>
                <a:latin typeface="微软雅黑" panose="020B0503020204020204" charset="-122"/>
                <a:ea typeface="微软雅黑" panose="020B0503020204020204" charset="-122"/>
              </a:rPr>
              <a:t>&amp;</a:t>
            </a:r>
            <a:r>
              <a:rPr lang="zh-CN" altLang="en-US" sz="2000" b="1" dirty="0">
                <a:solidFill>
                  <a:schemeClr val="bg1"/>
                </a:solidFill>
                <a:latin typeface="微软雅黑" panose="020B0503020204020204" charset="-122"/>
                <a:ea typeface="微软雅黑" panose="020B0503020204020204" charset="-122"/>
              </a:rPr>
              <a:t>效果</a:t>
            </a:r>
            <a:endParaRPr lang="zh-CN" altLang="en-US" sz="2000" b="1" dirty="0">
              <a:solidFill>
                <a:schemeClr val="bg1"/>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1135" y="2738755"/>
            <a:ext cx="11839575" cy="3460115"/>
          </a:xfrm>
          <a:prstGeom prst="rect">
            <a:avLst/>
          </a:prstGeom>
          <a:noFill/>
          <a:ln w="12700">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2" name="组合 11"/>
          <p:cNvGrpSpPr/>
          <p:nvPr/>
        </p:nvGrpSpPr>
        <p:grpSpPr>
          <a:xfrm>
            <a:off x="387985" y="1490021"/>
            <a:ext cx="11399520" cy="6562344"/>
            <a:chOff x="611" y="5014"/>
            <a:chExt cx="8693" cy="6846"/>
          </a:xfrm>
        </p:grpSpPr>
        <p:sp>
          <p:nvSpPr>
            <p:cNvPr id="20" name="矩形: 圆角 5"/>
            <p:cNvSpPr/>
            <p:nvPr/>
          </p:nvSpPr>
          <p:spPr>
            <a:xfrm>
              <a:off x="611" y="5014"/>
              <a:ext cx="8693" cy="5235"/>
            </a:xfrm>
            <a:prstGeom prst="roundRect">
              <a:avLst>
                <a:gd name="adj" fmla="val 1288"/>
              </a:avLst>
            </a:prstGeom>
            <a:solidFill>
              <a:schemeClr val="bg1">
                <a:lumMod val="95000"/>
              </a:schemeClr>
            </a:solidFill>
            <a:ln w="12700">
              <a:solidFill>
                <a:srgbClr val="0C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panose="020B0502040204020203" charset="-122"/>
                <a:cs typeface="+mn-cs"/>
              </a:endParaRPr>
            </a:p>
          </p:txBody>
        </p:sp>
        <p:sp>
          <p:nvSpPr>
            <p:cNvPr id="42" name="文本框 41"/>
            <p:cNvSpPr txBox="1"/>
            <p:nvPr/>
          </p:nvSpPr>
          <p:spPr>
            <a:xfrm>
              <a:off x="3700" y="11283"/>
              <a:ext cx="3006" cy="577"/>
            </a:xfrm>
            <a:prstGeom prst="rect">
              <a:avLst/>
            </a:prstGeom>
            <a:noFill/>
          </p:spPr>
          <p:txBody>
            <a:bodyPr wrap="square" rtlCol="0" anchor="t">
              <a:spAutoFit/>
            </a:bodyPr>
            <a:p>
              <a:pPr algn="just">
                <a:lnSpc>
                  <a:spcPct val="150000"/>
                </a:lnSpc>
              </a:pPr>
              <a:endParaRPr lang="zh-CN" altLang="en-US" sz="2000">
                <a:latin typeface="微软雅黑" panose="020B0503020204020204" charset="-122"/>
                <a:ea typeface="微软雅黑" panose="020B0503020204020204" charset="-122"/>
                <a:cs typeface="微软雅黑" panose="020B0503020204020204" charset="-122"/>
              </a:endParaRPr>
            </a:p>
          </p:txBody>
        </p:sp>
      </p:grpSp>
      <p:sp>
        <p:nvSpPr>
          <p:cNvPr id="13" name="标题"/>
          <p:cNvSpPr/>
          <p:nvPr>
            <p:custDataLst>
              <p:tags r:id="rId2"/>
            </p:custDataLst>
          </p:nvPr>
        </p:nvSpPr>
        <p:spPr>
          <a:xfrm>
            <a:off x="3907790" y="1279525"/>
            <a:ext cx="4359910" cy="516255"/>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sz="2000" b="1" dirty="0">
                <a:solidFill>
                  <a:srgbClr val="FFFFFF"/>
                </a:solidFill>
                <a:uFillTx/>
                <a:latin typeface="微软雅黑" panose="020B0503020204020204" charset="-122"/>
                <a:ea typeface="微软雅黑" panose="020B0503020204020204" charset="-122"/>
                <a:cs typeface="+mn-ea"/>
                <a:sym typeface="+mn-ea"/>
              </a:rPr>
              <a:t>3.3</a:t>
            </a:r>
            <a:r>
              <a:rPr lang="zh-CN" altLang="en-US" sz="2000" b="1" dirty="0">
                <a:solidFill>
                  <a:srgbClr val="FFFFFF"/>
                </a:solidFill>
                <a:uFillTx/>
                <a:latin typeface="微软雅黑" panose="020B0503020204020204" charset="-122"/>
                <a:ea typeface="微软雅黑" panose="020B0503020204020204" charset="-122"/>
                <a:cs typeface="+mn-ea"/>
                <a:sym typeface="+mn-ea"/>
              </a:rPr>
              <a:t>消融实验</a:t>
            </a:r>
            <a:r>
              <a:rPr lang="en-US" altLang="zh-CN" sz="2000" b="1" dirty="0">
                <a:solidFill>
                  <a:srgbClr val="FFFFFF"/>
                </a:solidFill>
                <a:uFillTx/>
                <a:latin typeface="微软雅黑" panose="020B0503020204020204" charset="-122"/>
                <a:ea typeface="微软雅黑" panose="020B0503020204020204" charset="-122"/>
                <a:cs typeface="+mn-ea"/>
                <a:sym typeface="+mn-ea"/>
              </a:rPr>
              <a:t> </a:t>
            </a:r>
            <a:endParaRPr lang="en-US" altLang="zh-CN" sz="2000" b="1" dirty="0">
              <a:solidFill>
                <a:srgbClr val="FFFFFF"/>
              </a:solidFill>
              <a:uFillTx/>
              <a:latin typeface="微软雅黑" panose="020B0503020204020204" charset="-122"/>
              <a:ea typeface="微软雅黑" panose="020B0503020204020204" charset="-122"/>
              <a:cs typeface="+mn-ea"/>
              <a:sym typeface="+mn-ea"/>
            </a:endParaRPr>
          </a:p>
        </p:txBody>
      </p:sp>
      <p:sp>
        <p:nvSpPr>
          <p:cNvPr id="27" name="文本框 26"/>
          <p:cNvSpPr txBox="1"/>
          <p:nvPr/>
        </p:nvSpPr>
        <p:spPr>
          <a:xfrm>
            <a:off x="852170" y="2172335"/>
            <a:ext cx="3585845" cy="4158615"/>
          </a:xfrm>
          <a:prstGeom prst="rect">
            <a:avLst/>
          </a:prstGeom>
          <a:noFill/>
        </p:spPr>
        <p:txBody>
          <a:bodyPr wrap="square" rtlCol="0" anchor="t">
            <a:noAutofit/>
          </a:bodyPr>
          <a:p>
            <a:pPr algn="just">
              <a:lnSpc>
                <a:spcPct val="150000"/>
              </a:lnSpc>
            </a:pPr>
            <a:endParaRPr lang="zh-CN" altLang="en-US" sz="20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7" name="表格 16"/>
          <p:cNvGraphicFramePr/>
          <p:nvPr>
            <p:custDataLst>
              <p:tags r:id="rId3"/>
            </p:custDataLst>
          </p:nvPr>
        </p:nvGraphicFramePr>
        <p:xfrm>
          <a:off x="850900" y="2070100"/>
          <a:ext cx="10528300" cy="3873500"/>
        </p:xfrm>
        <a:graphic>
          <a:graphicData uri="http://schemas.openxmlformats.org/drawingml/2006/table">
            <a:tbl>
              <a:tblPr firstRow="1">
                <a:tableStyleId>{90E733CF-E976-43CE-B089-666B17E008E8}</a:tableStyleId>
              </a:tblPr>
              <a:tblGrid>
                <a:gridCol w="1901190"/>
                <a:gridCol w="838835"/>
                <a:gridCol w="701040"/>
                <a:gridCol w="1144905"/>
                <a:gridCol w="1146175"/>
                <a:gridCol w="1073785"/>
                <a:gridCol w="1148715"/>
                <a:gridCol w="1103630"/>
                <a:gridCol w="1470025"/>
              </a:tblGrid>
              <a:tr h="636270">
                <a:tc>
                  <a:txBody>
                    <a:bodyPr/>
                    <a:p>
                      <a:pPr algn="ctr">
                        <a:lnSpc>
                          <a:spcPct val="120000"/>
                        </a:lnSpc>
                        <a:spcBef>
                          <a:spcPts val="0"/>
                        </a:spcBef>
                        <a:spcAft>
                          <a:spcPts val="0"/>
                        </a:spcAft>
                      </a:pPr>
                      <a:r>
                        <a:rPr lang="zh-CN" altLang="en-US" sz="1000" spc="60">
                          <a:latin typeface="微软雅黑" panose="020B0503020204020204" charset="-122"/>
                          <a:ea typeface="微软雅黑" panose="020B0503020204020204" charset="-122"/>
                        </a:rPr>
                        <a:t>指标</a:t>
                      </a:r>
                      <a:endParaRPr lang="zh-CN" altLang="en-US"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7B_Base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Stage3</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Abl-1(lr=5e-5)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Abl-2(lr=1e-5)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Abl-3(bs=16)</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Abl-4(no warmup)</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Abl-5(linear)</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Abl-6(frozen vision)</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All_Angles</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BLINK</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CVBench</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Egoplan</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Embspatial</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ERQA</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MMSI</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Omini_Spatial</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Omini_Spatial_test</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RealworldQA</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Refspatial_Location</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28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Refspatial_Planing</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Refspatial_Unseen</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RoboSpatial</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SAT</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56</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70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VSIBench</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35</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34</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38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7907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Where2Place</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61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10</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11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52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r h="180340">
                <a:tc>
                  <a:txBody>
                    <a:bodyPr/>
                    <a:p>
                      <a:pPr algn="l">
                        <a:lnSpc>
                          <a:spcPct val="120000"/>
                        </a:lnSpc>
                        <a:spcBef>
                          <a:spcPts val="0"/>
                        </a:spcBef>
                        <a:spcAft>
                          <a:spcPts val="0"/>
                        </a:spcAft>
                      </a:pPr>
                      <a:r>
                        <a:rPr lang="en-US" altLang="zh-CN" sz="800" spc="60">
                          <a:latin typeface="微软雅黑" panose="020B0503020204020204" charset="-122"/>
                          <a:ea typeface="微软雅黑" panose="020B0503020204020204" charset="-122"/>
                        </a:rPr>
                        <a:t>Average</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47.8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47.2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44.3</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45.8</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43.7</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42.1</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44.9</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c>
                  <a:txBody>
                    <a:bodyPr/>
                    <a:p>
                      <a:pPr algn="ctr">
                        <a:lnSpc>
                          <a:spcPct val="120000"/>
                        </a:lnSpc>
                        <a:spcBef>
                          <a:spcPts val="0"/>
                        </a:spcBef>
                        <a:spcAft>
                          <a:spcPts val="0"/>
                        </a:spcAft>
                      </a:pPr>
                      <a:r>
                        <a:rPr lang="en-US" altLang="zh-CN" sz="800" spc="60">
                          <a:latin typeface="微软雅黑" panose="020B0503020204020204" charset="-122"/>
                          <a:ea typeface="微软雅黑" panose="020B0503020204020204" charset="-122"/>
                        </a:rPr>
                        <a:t>49.2</a:t>
                      </a:r>
                      <a:endParaRPr lang="en-US" altLang="zh-CN" sz="8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75000"/>
                        </a:schemeClr>
                      </a:solidFill>
                      <a:prstDash val="solid"/>
                    </a:lnL>
                    <a:lnR w="12700" cmpd="sng">
                      <a:solidFill>
                        <a:schemeClr val="bg1">
                          <a:lumMod val="75000"/>
                        </a:schemeClr>
                      </a:solidFill>
                      <a:prstDash val="solid"/>
                    </a:lnR>
                    <a:lnT w="12700" cmpd="sng">
                      <a:solidFill>
                        <a:schemeClr val="bg1">
                          <a:lumMod val="75000"/>
                        </a:schemeClr>
                      </a:solidFill>
                      <a:prstDash val="solid"/>
                    </a:lnT>
                    <a:lnB w="12700" cmpd="sng">
                      <a:solidFill>
                        <a:schemeClr val="bg1">
                          <a:lumMod val="75000"/>
                        </a:schemeClr>
                      </a:solidFill>
                      <a:prstDash val="solid"/>
                    </a:lnB>
                    <a:solidFill>
                      <a:schemeClr val="bg1"/>
                    </a:solidFill>
                  </a:tcPr>
                </a:tc>
              </a:tr>
            </a:tbl>
          </a:graphicData>
        </a:graphic>
      </p:graphicFrame>
      <p:sp>
        <p:nvSpPr>
          <p:cNvPr id="67" name="圆角矩形 66"/>
          <p:cNvSpPr/>
          <p:nvPr/>
        </p:nvSpPr>
        <p:spPr>
          <a:xfrm>
            <a:off x="850900" y="6040755"/>
            <a:ext cx="10527665" cy="398145"/>
          </a:xfrm>
          <a:prstGeom prst="roundRect">
            <a:avLst>
              <a:gd name="adj" fmla="val 8972"/>
            </a:avLst>
          </a:prstGeom>
          <a:solidFill>
            <a:schemeClr val="bg1">
              <a:lumMod val="85000"/>
            </a:schemeClr>
          </a:solidFill>
        </p:spPr>
        <p:style>
          <a:lnRef idx="2">
            <a:schemeClr val="lt1"/>
          </a:lnRef>
          <a:fillRef idx="1">
            <a:schemeClr val="accent1"/>
          </a:fillRef>
          <a:effectRef idx="1">
            <a:schemeClr val="accent1"/>
          </a:effectRef>
          <a:fontRef idx="minor">
            <a:schemeClr val="lt1"/>
          </a:fontRef>
        </p:style>
        <p:txBody>
          <a:bodyPr rtlCol="0" anchor="ctr"/>
          <a:p>
            <a:pPr algn="ctr"/>
            <a:endParaRPr lang="zh-CN" altLang="en-US" sz="1400" b="1">
              <a:solidFill>
                <a:schemeClr val="accent1"/>
              </a:solidFill>
              <a:latin typeface="微软雅黑" panose="020B0503020204020204" charset="-122"/>
              <a:ea typeface="微软雅黑" panose="020B0503020204020204" charset="-122"/>
              <a:cs typeface="+mn-ea"/>
              <a:sym typeface="+mn-ea"/>
            </a:endParaRPr>
          </a:p>
          <a:p>
            <a:pPr algn="ctr"/>
            <a:r>
              <a:rPr lang="zh-CN" altLang="en-US" b="1">
                <a:solidFill>
                  <a:schemeClr val="accent1"/>
                </a:solidFill>
                <a:latin typeface="微软雅黑" panose="020B0503020204020204" charset="-122"/>
                <a:ea typeface="微软雅黑" panose="020B0503020204020204" charset="-122"/>
                <a:cs typeface="+mn-ea"/>
                <a:sym typeface="+mn-ea"/>
              </a:rPr>
              <a:t>消融实验</a:t>
            </a:r>
            <a:r>
              <a:rPr lang="en-US" altLang="zh-CN" b="1">
                <a:solidFill>
                  <a:schemeClr val="accent1"/>
                </a:solidFill>
                <a:latin typeface="微软雅黑" panose="020B0503020204020204" charset="-122"/>
                <a:ea typeface="微软雅黑" panose="020B0503020204020204" charset="-122"/>
                <a:cs typeface="+mn-ea"/>
                <a:sym typeface="+mn-ea"/>
              </a:rPr>
              <a:t>1</a:t>
            </a:r>
            <a:endParaRPr lang="en-US" altLang="zh-CN" b="1">
              <a:solidFill>
                <a:schemeClr val="accent1"/>
              </a:solidFill>
              <a:latin typeface="微软雅黑" panose="020B0503020204020204" charset="-122"/>
              <a:ea typeface="微软雅黑" panose="020B0503020204020204" charset="-122"/>
              <a:cs typeface="+mn-ea"/>
              <a:sym typeface="+mn-ea"/>
            </a:endParaRPr>
          </a:p>
          <a:p>
            <a:pPr algn="ctr"/>
            <a:endParaRPr lang="en-US" altLang="zh-CN" b="1">
              <a:solidFill>
                <a:schemeClr val="accent1"/>
              </a:solidFill>
              <a:latin typeface="微软雅黑" panose="020B0503020204020204" charset="-122"/>
              <a:ea typeface="微软雅黑" panose="020B0503020204020204" charset="-122"/>
              <a:cs typeface="+mn-ea"/>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542798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训练</a:t>
            </a:r>
            <a:r>
              <a:rPr lang="en-US" altLang="zh-CN" sz="2000" b="1" dirty="0">
                <a:solidFill>
                  <a:schemeClr val="bg1"/>
                </a:solidFill>
                <a:latin typeface="微软雅黑" panose="020B0503020204020204" charset="-122"/>
                <a:ea typeface="微软雅黑" panose="020B0503020204020204" charset="-122"/>
              </a:rPr>
              <a:t>&amp;</a:t>
            </a:r>
            <a:r>
              <a:rPr lang="zh-CN" altLang="en-US" sz="2000" b="1" dirty="0">
                <a:solidFill>
                  <a:schemeClr val="bg1"/>
                </a:solidFill>
                <a:latin typeface="微软雅黑" panose="020B0503020204020204" charset="-122"/>
                <a:ea typeface="微软雅黑" panose="020B0503020204020204" charset="-122"/>
              </a:rPr>
              <a:t>效果</a:t>
            </a:r>
            <a:endParaRPr lang="zh-CN" altLang="en-US" sz="2000" b="1" dirty="0">
              <a:solidFill>
                <a:schemeClr val="bg1"/>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关键技术点</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创新</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91135" y="2738755"/>
            <a:ext cx="11839575" cy="3460115"/>
          </a:xfrm>
          <a:prstGeom prst="rect">
            <a:avLst/>
          </a:prstGeom>
          <a:noFill/>
          <a:ln w="12700">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4438650" y="6084570"/>
            <a:ext cx="3942080" cy="422910"/>
          </a:xfrm>
          <a:prstGeom prst="rect">
            <a:avLst/>
          </a:prstGeom>
          <a:noFill/>
        </p:spPr>
        <p:txBody>
          <a:bodyPr wrap="square" rtlCol="0" anchor="t">
            <a:spAutoFit/>
          </a:bodyPr>
          <a:p>
            <a:pPr algn="just">
              <a:lnSpc>
                <a:spcPct val="150000"/>
              </a:lnSpc>
            </a:pP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852170" y="2172335"/>
            <a:ext cx="3585845" cy="4158615"/>
          </a:xfrm>
          <a:prstGeom prst="rect">
            <a:avLst/>
          </a:prstGeom>
          <a:noFill/>
        </p:spPr>
        <p:txBody>
          <a:bodyPr wrap="square" rtlCol="0" anchor="t">
            <a:noAutofit/>
          </a:bodyPr>
          <a:p>
            <a:pPr algn="just">
              <a:lnSpc>
                <a:spcPct val="150000"/>
              </a:lnSpc>
            </a:pPr>
            <a:endParaRPr lang="zh-CN" altLang="en-US" sz="20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4" name="表格 13"/>
          <p:cNvGraphicFramePr/>
          <p:nvPr>
            <p:custDataLst>
              <p:tags r:id="rId2"/>
            </p:custDataLst>
          </p:nvPr>
        </p:nvGraphicFramePr>
        <p:xfrm>
          <a:off x="600710" y="1706880"/>
          <a:ext cx="11049000" cy="2298700"/>
        </p:xfrm>
        <a:graphic>
          <a:graphicData uri="http://schemas.openxmlformats.org/drawingml/2006/table">
            <a:tbl>
              <a:tblPr firstRow="1">
                <a:tableStyleId>{2F69104E-36CB-4717-8124-222E447F26A9}</a:tableStyleId>
              </a:tblPr>
              <a:tblGrid>
                <a:gridCol w="2359660"/>
                <a:gridCol w="1450975"/>
                <a:gridCol w="1363345"/>
                <a:gridCol w="1742440"/>
                <a:gridCol w="1602740"/>
                <a:gridCol w="1421765"/>
                <a:gridCol w="1108075"/>
              </a:tblGrid>
              <a:tr h="688975">
                <a:tc>
                  <a:txBody>
                    <a:bodyPr/>
                    <a:p>
                      <a:pPr algn="ctr">
                        <a:lnSpc>
                          <a:spcPct val="120000"/>
                        </a:lnSpc>
                        <a:spcBef>
                          <a:spcPts val="0"/>
                        </a:spcBef>
                        <a:spcAft>
                          <a:spcPts val="0"/>
                        </a:spcAft>
                      </a:pPr>
                      <a:r>
                        <a:rPr lang="zh-CN" altLang="en-US" sz="1200" spc="120">
                          <a:latin typeface="微软雅黑" panose="020B0503020204020204" charset="-122"/>
                          <a:ea typeface="微软雅黑" panose="020B0503020204020204" charset="-122"/>
                        </a:rPr>
                        <a:t>实验配置</a:t>
                      </a:r>
                      <a:endParaRPr lang="zh-CN" altLang="en-US"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200" spc="120">
                          <a:latin typeface="微软雅黑" panose="020B0503020204020204" charset="-122"/>
                          <a:ea typeface="微软雅黑" panose="020B0503020204020204" charset="-122"/>
                        </a:rPr>
                        <a:t>Learning Rate</a:t>
                      </a:r>
                      <a:endParaRPr lang="en-US" altLang="zh-CN"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200" spc="120">
                          <a:latin typeface="微软雅黑" panose="020B0503020204020204" charset="-122"/>
                          <a:ea typeface="微软雅黑" panose="020B0503020204020204" charset="-122"/>
                        </a:rPr>
                        <a:t>Batch Size</a:t>
                      </a:r>
                      <a:endParaRPr lang="en-US" altLang="zh-CN"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200" spc="120">
                          <a:latin typeface="微软雅黑" panose="020B0503020204020204" charset="-122"/>
                          <a:ea typeface="微软雅黑" panose="020B0503020204020204" charset="-122"/>
                        </a:rPr>
                        <a:t>Warmup Steps</a:t>
                      </a:r>
                      <a:endParaRPr lang="en-US" altLang="zh-CN"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200" spc="120">
                          <a:latin typeface="微软雅黑" panose="020B0503020204020204" charset="-122"/>
                          <a:ea typeface="微软雅黑" panose="020B0503020204020204" charset="-122"/>
                        </a:rPr>
                        <a:t>LR Scheduler</a:t>
                      </a:r>
                      <a:endParaRPr lang="en-US" altLang="zh-CN"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200" spc="120">
                          <a:latin typeface="微软雅黑" panose="020B0503020204020204" charset="-122"/>
                          <a:ea typeface="微软雅黑" panose="020B0503020204020204" charset="-122"/>
                        </a:rPr>
                        <a:t>Vision Frozen</a:t>
                      </a:r>
                      <a:endParaRPr lang="en-US" altLang="zh-CN"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c>
                  <a:txBody>
                    <a:bodyPr/>
                    <a:p>
                      <a:pPr algn="ctr">
                        <a:lnSpc>
                          <a:spcPct val="120000"/>
                        </a:lnSpc>
                        <a:spcBef>
                          <a:spcPts val="0"/>
                        </a:spcBef>
                        <a:spcAft>
                          <a:spcPts val="0"/>
                        </a:spcAft>
                      </a:pPr>
                      <a:r>
                        <a:rPr lang="en-US" altLang="zh-CN" sz="1200" spc="120">
                          <a:latin typeface="微软雅黑" panose="020B0503020204020204" charset="-122"/>
                          <a:ea typeface="微软雅黑" panose="020B0503020204020204" charset="-122"/>
                        </a:rPr>
                        <a:t>Avg Score</a:t>
                      </a:r>
                      <a:endParaRPr lang="en-US" altLang="zh-CN" sz="1200" spc="12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gradFill>
                      <a:gsLst>
                        <a:gs pos="50000">
                          <a:schemeClr val="accent1"/>
                        </a:gs>
                        <a:gs pos="0">
                          <a:schemeClr val="accent1">
                            <a:lumMod val="25000"/>
                            <a:lumOff val="75000"/>
                          </a:schemeClr>
                        </a:gs>
                        <a:gs pos="100000">
                          <a:schemeClr val="accent1">
                            <a:lumMod val="85000"/>
                          </a:schemeClr>
                        </a:gs>
                      </a:gsLst>
                      <a:lin ang="10380000" scaled="0"/>
                    </a:gradFill>
                  </a:tcPr>
                </a:tc>
              </a:tr>
              <a:tr h="201295">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7B_Baseline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47.8</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1295">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Stage 3 (Ours)</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2e-5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32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80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cosine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No</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47.2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1295">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Ablation-1</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5e-5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32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80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cosine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No</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44.3</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0660">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Ablation-2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1e-5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32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80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cosine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No</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45.8</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1930">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Ablation-3</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2e-5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16</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80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cosine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No</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43.7</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0660">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Ablation-4</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2e-5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32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cosine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No</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42.1</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1930">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Ablation-5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2e-5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32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80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linear</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No</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44.9</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r h="200660">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Ablation-6</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2e-5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32</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80</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cosine</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Yes</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c>
                  <a:txBody>
                    <a:bodyPr/>
                    <a:p>
                      <a:pPr algn="ctr">
                        <a:lnSpc>
                          <a:spcPct val="120000"/>
                        </a:lnSpc>
                        <a:spcBef>
                          <a:spcPts val="0"/>
                        </a:spcBef>
                        <a:spcAft>
                          <a:spcPts val="0"/>
                        </a:spcAft>
                      </a:pPr>
                      <a:r>
                        <a:rPr lang="en-US" altLang="zh-CN" sz="1000" spc="60">
                          <a:latin typeface="微软雅黑" panose="020B0503020204020204" charset="-122"/>
                          <a:ea typeface="微软雅黑" panose="020B0503020204020204" charset="-122"/>
                        </a:rPr>
                        <a:t>41.5</a:t>
                      </a:r>
                      <a:endParaRPr lang="en-US" altLang="zh-CN" sz="1000" spc="60">
                        <a:latin typeface="微软雅黑" panose="020B0503020204020204" charset="-122"/>
                        <a:ea typeface="微软雅黑" panose="020B0503020204020204" charset="-122"/>
                      </a:endParaRPr>
                    </a:p>
                  </a:txBody>
                  <a:tcPr marL="25400" marR="25400" marT="6350" marB="6350" anchor="ctr" anchorCtr="0">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tcPr>
                </a:tc>
              </a:tr>
            </a:tbl>
          </a:graphicData>
        </a:graphic>
      </p:graphicFrame>
      <p:sp>
        <p:nvSpPr>
          <p:cNvPr id="38" name="矩形 37"/>
          <p:cNvSpPr/>
          <p:nvPr/>
        </p:nvSpPr>
        <p:spPr>
          <a:xfrm>
            <a:off x="191135" y="1191260"/>
            <a:ext cx="11799570" cy="5313680"/>
          </a:xfrm>
          <a:prstGeom prst="rect">
            <a:avLst/>
          </a:prstGeom>
          <a:noFill/>
          <a:ln w="12700">
            <a:solidFill>
              <a:schemeClr val="accent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标题"/>
          <p:cNvSpPr/>
          <p:nvPr>
            <p:custDataLst>
              <p:tags r:id="rId3"/>
            </p:custDataLst>
          </p:nvPr>
        </p:nvSpPr>
        <p:spPr>
          <a:xfrm>
            <a:off x="3945255" y="1008380"/>
            <a:ext cx="4359910" cy="516255"/>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en-US" altLang="zh-CN" sz="2000" b="1" dirty="0">
                <a:solidFill>
                  <a:srgbClr val="FFFFFF"/>
                </a:solidFill>
                <a:uFillTx/>
                <a:latin typeface="微软雅黑" panose="020B0503020204020204" charset="-122"/>
                <a:ea typeface="微软雅黑" panose="020B0503020204020204" charset="-122"/>
                <a:cs typeface="+mn-ea"/>
                <a:sym typeface="+mn-ea"/>
              </a:rPr>
              <a:t>3.3</a:t>
            </a:r>
            <a:r>
              <a:rPr lang="zh-CN" altLang="en-US" sz="2000" b="1" dirty="0">
                <a:solidFill>
                  <a:srgbClr val="FFFFFF"/>
                </a:solidFill>
                <a:uFillTx/>
                <a:latin typeface="微软雅黑" panose="020B0503020204020204" charset="-122"/>
                <a:ea typeface="微软雅黑" panose="020B0503020204020204" charset="-122"/>
                <a:cs typeface="+mn-ea"/>
                <a:sym typeface="+mn-ea"/>
              </a:rPr>
              <a:t>消融实验</a:t>
            </a:r>
            <a:r>
              <a:rPr lang="en-US" altLang="zh-CN" sz="2000" b="1" dirty="0">
                <a:solidFill>
                  <a:srgbClr val="FFFFFF"/>
                </a:solidFill>
                <a:uFillTx/>
                <a:latin typeface="微软雅黑" panose="020B0503020204020204" charset="-122"/>
                <a:ea typeface="微软雅黑" panose="020B0503020204020204" charset="-122"/>
                <a:cs typeface="+mn-ea"/>
                <a:sym typeface="+mn-ea"/>
              </a:rPr>
              <a:t> </a:t>
            </a:r>
            <a:endParaRPr lang="en-US" altLang="zh-CN" sz="2000" b="1" dirty="0">
              <a:solidFill>
                <a:srgbClr val="FFFFFF"/>
              </a:solidFill>
              <a:uFillTx/>
              <a:latin typeface="微软雅黑" panose="020B0503020204020204" charset="-122"/>
              <a:ea typeface="微软雅黑" panose="020B0503020204020204" charset="-122"/>
              <a:cs typeface="+mn-ea"/>
              <a:sym typeface="+mn-ea"/>
            </a:endParaRPr>
          </a:p>
        </p:txBody>
      </p:sp>
      <p:grpSp>
        <p:nvGrpSpPr>
          <p:cNvPr id="44" name="组合 43"/>
          <p:cNvGrpSpPr/>
          <p:nvPr>
            <p:custDataLst>
              <p:tags r:id="rId4"/>
            </p:custDataLst>
          </p:nvPr>
        </p:nvGrpSpPr>
        <p:grpSpPr>
          <a:xfrm>
            <a:off x="600710" y="4612640"/>
            <a:ext cx="11048982" cy="1723390"/>
            <a:chOff x="449" y="7264"/>
            <a:chExt cx="17897" cy="2714"/>
          </a:xfrm>
        </p:grpSpPr>
        <p:sp>
          <p:nvSpPr>
            <p:cNvPr id="15" name="矩形: 圆角 2"/>
            <p:cNvSpPr/>
            <p:nvPr>
              <p:custDataLst>
                <p:tags r:id="rId5"/>
              </p:custDataLst>
            </p:nvPr>
          </p:nvSpPr>
          <p:spPr>
            <a:xfrm>
              <a:off x="449" y="7669"/>
              <a:ext cx="3247" cy="205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pPr algn="l"/>
              <a:endParaRPr lang="zh-CN" altLang="en-US" sz="1440">
                <a:solidFill>
                  <a:schemeClr val="bg1"/>
                </a:solidFill>
                <a:latin typeface="+mj-ea"/>
                <a:ea typeface="+mj-ea"/>
              </a:endParaRPr>
            </a:p>
          </p:txBody>
        </p:sp>
        <p:sp>
          <p:nvSpPr>
            <p:cNvPr id="16" name="矩形 15"/>
            <p:cNvSpPr/>
            <p:nvPr>
              <p:custDataLst>
                <p:tags r:id="rId6"/>
              </p:custDataLst>
            </p:nvPr>
          </p:nvSpPr>
          <p:spPr>
            <a:xfrm>
              <a:off x="888" y="7897"/>
              <a:ext cx="2606" cy="2081"/>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学习率消融</a:t>
              </a: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(Abl-1, Abl-2) 2e-5 (Ours): </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最优平衡点</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0" name="圆角矩形 59"/>
            <p:cNvSpPr/>
            <p:nvPr>
              <p:custDataLst>
                <p:tags r:id="rId7"/>
              </p:custDataLst>
            </p:nvPr>
          </p:nvSpPr>
          <p:spPr>
            <a:xfrm>
              <a:off x="888" y="7278"/>
              <a:ext cx="1094" cy="622"/>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dirty="0">
                  <a:solidFill>
                    <a:srgbClr val="FFFFFF"/>
                  </a:solidFill>
                  <a:latin typeface="+mn-ea"/>
                  <a:cs typeface="+mn-ea"/>
                  <a:sym typeface="+mn-ea"/>
                </a:rPr>
                <a:t>01</a:t>
              </a:r>
              <a:endParaRPr lang="en-US" altLang="zh-CN" sz="2000" b="1" dirty="0">
                <a:solidFill>
                  <a:srgbClr val="FFFFFF"/>
                </a:solidFill>
                <a:latin typeface="+mn-ea"/>
                <a:cs typeface="+mn-ea"/>
                <a:sym typeface="+mn-ea"/>
              </a:endParaRPr>
            </a:p>
          </p:txBody>
        </p:sp>
        <p:sp>
          <p:nvSpPr>
            <p:cNvPr id="21" name="矩形: 圆角 2"/>
            <p:cNvSpPr/>
            <p:nvPr>
              <p:custDataLst>
                <p:tags r:id="rId8"/>
              </p:custDataLst>
            </p:nvPr>
          </p:nvSpPr>
          <p:spPr>
            <a:xfrm>
              <a:off x="4112" y="7684"/>
              <a:ext cx="3247" cy="205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pPr algn="l"/>
              <a:endParaRPr lang="zh-CN" altLang="en-US" sz="1440">
                <a:solidFill>
                  <a:schemeClr val="bg1"/>
                </a:solidFill>
                <a:latin typeface="+mj-ea"/>
                <a:ea typeface="+mj-ea"/>
              </a:endParaRPr>
            </a:p>
          </p:txBody>
        </p:sp>
        <p:sp>
          <p:nvSpPr>
            <p:cNvPr id="23" name="矩形 22"/>
            <p:cNvSpPr/>
            <p:nvPr>
              <p:custDataLst>
                <p:tags r:id="rId9"/>
              </p:custDataLst>
            </p:nvPr>
          </p:nvSpPr>
          <p:spPr>
            <a:xfrm>
              <a:off x="4551" y="7937"/>
              <a:ext cx="2522" cy="1911"/>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Batchsize </a:t>
              </a: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消融</a:t>
              </a: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(Abl-3)  32 (Ours): </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更稳定优化</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Bef>
                  <a:spcPct val="0"/>
                </a:spcBef>
                <a:spcAft>
                  <a:spcPct val="0"/>
                </a:spcAft>
              </a:pP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0" name="圆角矩形 39"/>
            <p:cNvSpPr/>
            <p:nvPr>
              <p:custDataLst>
                <p:tags r:id="rId10"/>
              </p:custDataLst>
            </p:nvPr>
          </p:nvSpPr>
          <p:spPr>
            <a:xfrm>
              <a:off x="4551" y="7264"/>
              <a:ext cx="1094" cy="623"/>
            </a:xfrm>
            <a:prstGeom prst="roundRect">
              <a:avLst>
                <a:gd name="adj" fmla="val 0"/>
              </a:avLst>
            </a:prstGeom>
            <a:solidFill>
              <a:schemeClr val="accent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dirty="0">
                  <a:solidFill>
                    <a:srgbClr val="FFFFFF"/>
                  </a:solidFill>
                  <a:latin typeface="+mn-ea"/>
                  <a:cs typeface="+mn-ea"/>
                  <a:sym typeface="+mn-ea"/>
                </a:rPr>
                <a:t>02</a:t>
              </a:r>
              <a:endParaRPr lang="en-US" altLang="zh-CN" sz="2000" b="1" dirty="0">
                <a:solidFill>
                  <a:srgbClr val="FFFFFF"/>
                </a:solidFill>
                <a:latin typeface="+mn-ea"/>
                <a:cs typeface="+mn-ea"/>
                <a:sym typeface="+mn-ea"/>
              </a:endParaRPr>
            </a:p>
          </p:txBody>
        </p:sp>
        <p:sp>
          <p:nvSpPr>
            <p:cNvPr id="63" name="矩形: 圆角 2"/>
            <p:cNvSpPr/>
            <p:nvPr>
              <p:custDataLst>
                <p:tags r:id="rId11"/>
              </p:custDataLst>
            </p:nvPr>
          </p:nvSpPr>
          <p:spPr>
            <a:xfrm>
              <a:off x="7774" y="7680"/>
              <a:ext cx="3247" cy="205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pPr algn="l"/>
              <a:endParaRPr lang="zh-CN" altLang="en-US" sz="1440">
                <a:solidFill>
                  <a:schemeClr val="bg1"/>
                </a:solidFill>
                <a:latin typeface="+mj-ea"/>
                <a:ea typeface="+mj-ea"/>
              </a:endParaRPr>
            </a:p>
          </p:txBody>
        </p:sp>
        <p:sp>
          <p:nvSpPr>
            <p:cNvPr id="28" name="矩形 27"/>
            <p:cNvSpPr/>
            <p:nvPr>
              <p:custDataLst>
                <p:tags r:id="rId12"/>
              </p:custDataLst>
            </p:nvPr>
          </p:nvSpPr>
          <p:spPr>
            <a:xfrm>
              <a:off x="8113" y="7880"/>
              <a:ext cx="2808" cy="188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预热策略消融</a:t>
              </a: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(Abl-4)  80 </a:t>
              </a: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步预热</a:t>
              </a: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(Ours): </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平滑启动训练</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Bef>
                  <a:spcPct val="0"/>
                </a:spcBef>
                <a:spcAft>
                  <a:spcPct val="0"/>
                </a:spcAft>
              </a:pP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5" name="圆角矩形 64"/>
            <p:cNvSpPr/>
            <p:nvPr>
              <p:custDataLst>
                <p:tags r:id="rId13"/>
              </p:custDataLst>
            </p:nvPr>
          </p:nvSpPr>
          <p:spPr>
            <a:xfrm>
              <a:off x="8213" y="7267"/>
              <a:ext cx="1094" cy="623"/>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dirty="0">
                  <a:solidFill>
                    <a:srgbClr val="FFFFFF"/>
                  </a:solidFill>
                  <a:latin typeface="+mn-ea"/>
                  <a:cs typeface="+mn-ea"/>
                  <a:sym typeface="+mn-ea"/>
                </a:rPr>
                <a:t>03</a:t>
              </a:r>
              <a:endParaRPr lang="en-US" altLang="zh-CN" sz="2000" b="1" dirty="0">
                <a:solidFill>
                  <a:srgbClr val="FFFFFF"/>
                </a:solidFill>
                <a:latin typeface="+mn-ea"/>
                <a:cs typeface="+mn-ea"/>
                <a:sym typeface="+mn-ea"/>
              </a:endParaRPr>
            </a:p>
          </p:txBody>
        </p:sp>
        <p:sp>
          <p:nvSpPr>
            <p:cNvPr id="69" name="矩形: 圆角 2"/>
            <p:cNvSpPr/>
            <p:nvPr>
              <p:custDataLst>
                <p:tags r:id="rId14"/>
              </p:custDataLst>
            </p:nvPr>
          </p:nvSpPr>
          <p:spPr>
            <a:xfrm>
              <a:off x="11437" y="7680"/>
              <a:ext cx="3247" cy="205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pPr algn="l"/>
              <a:endParaRPr lang="zh-CN" altLang="en-US" sz="1440">
                <a:solidFill>
                  <a:schemeClr val="bg1"/>
                </a:solidFill>
                <a:latin typeface="+mj-ea"/>
                <a:ea typeface="+mj-ea"/>
              </a:endParaRPr>
            </a:p>
          </p:txBody>
        </p:sp>
        <p:sp>
          <p:nvSpPr>
            <p:cNvPr id="30" name="矩形 29"/>
            <p:cNvSpPr/>
            <p:nvPr>
              <p:custDataLst>
                <p:tags r:id="rId15"/>
              </p:custDataLst>
            </p:nvPr>
          </p:nvSpPr>
          <p:spPr>
            <a:xfrm>
              <a:off x="11876" y="7913"/>
              <a:ext cx="2617" cy="1881"/>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学习率调度消融</a:t>
              </a: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(Abl-5)  Cosine (Ours): </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更好的收敛特性</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71" name="圆角矩形 70"/>
            <p:cNvSpPr/>
            <p:nvPr>
              <p:custDataLst>
                <p:tags r:id="rId16"/>
              </p:custDataLst>
            </p:nvPr>
          </p:nvSpPr>
          <p:spPr>
            <a:xfrm>
              <a:off x="11876" y="7267"/>
              <a:ext cx="1094" cy="623"/>
            </a:xfrm>
            <a:prstGeom prst="roundRect">
              <a:avLst>
                <a:gd name="adj" fmla="val 0"/>
              </a:avLst>
            </a:prstGeom>
            <a:solidFill>
              <a:schemeClr val="accent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04</a:t>
              </a:r>
              <a:endParaRPr lang="en-US" altLang="zh-CN" sz="2000" b="1" dirty="0">
                <a:solidFill>
                  <a:srgbClr val="FFFFFF"/>
                </a:solidFill>
                <a:latin typeface="+mn-ea"/>
                <a:cs typeface="+mn-ea"/>
                <a:sym typeface="+mn-ea"/>
              </a:endParaRPr>
            </a:p>
          </p:txBody>
        </p:sp>
        <p:sp>
          <p:nvSpPr>
            <p:cNvPr id="35" name="矩形: 圆角 2"/>
            <p:cNvSpPr/>
            <p:nvPr>
              <p:custDataLst>
                <p:tags r:id="rId17"/>
              </p:custDataLst>
            </p:nvPr>
          </p:nvSpPr>
          <p:spPr>
            <a:xfrm>
              <a:off x="15099" y="7680"/>
              <a:ext cx="3247" cy="205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pPr algn="l"/>
              <a:endParaRPr lang="zh-CN" altLang="en-US" sz="1440">
                <a:solidFill>
                  <a:schemeClr val="bg1"/>
                </a:solidFill>
                <a:latin typeface="+mj-ea"/>
                <a:ea typeface="+mj-ea"/>
              </a:endParaRPr>
            </a:p>
          </p:txBody>
        </p:sp>
        <p:sp>
          <p:nvSpPr>
            <p:cNvPr id="36" name="矩形 35"/>
            <p:cNvSpPr/>
            <p:nvPr>
              <p:custDataLst>
                <p:tags r:id="rId18"/>
              </p:custDataLst>
            </p:nvPr>
          </p:nvSpPr>
          <p:spPr>
            <a:xfrm>
              <a:off x="15538" y="7909"/>
              <a:ext cx="2614" cy="1881"/>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视觉模块冻结消融</a:t>
              </a:r>
              <a:r>
                <a:rPr lang="en-US" altLang="zh-CN"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(Abl-6)  </a:t>
              </a: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冻结视觉</a:t>
              </a:r>
              <a:r>
                <a:rPr lang="zh-CN" altLang="en-US" sz="1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模块：</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平均分更高</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just" latinLnBrk="1">
                <a:lnSpc>
                  <a:spcPct val="150000"/>
                </a:lnSpc>
                <a:spcBef>
                  <a:spcPct val="0"/>
                </a:spcBef>
                <a:spcAft>
                  <a:spcPct val="0"/>
                </a:spcAft>
              </a:pP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37" name="圆角矩形 36"/>
            <p:cNvSpPr/>
            <p:nvPr>
              <p:custDataLst>
                <p:tags r:id="rId19"/>
              </p:custDataLst>
            </p:nvPr>
          </p:nvSpPr>
          <p:spPr>
            <a:xfrm>
              <a:off x="15538" y="7267"/>
              <a:ext cx="1094" cy="623"/>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05</a:t>
              </a:r>
              <a:endParaRPr lang="en-US" altLang="zh-CN" sz="2000" b="1" dirty="0">
                <a:solidFill>
                  <a:srgbClr val="FFFFFF"/>
                </a:solidFill>
                <a:latin typeface="+mn-ea"/>
                <a:cs typeface="+mn-ea"/>
                <a:sym typeface="+mn-ea"/>
              </a:endParaRPr>
            </a:p>
          </p:txBody>
        </p:sp>
      </p:grpSp>
      <p:sp>
        <p:nvSpPr>
          <p:cNvPr id="67" name="圆角矩形 66"/>
          <p:cNvSpPr/>
          <p:nvPr/>
        </p:nvSpPr>
        <p:spPr>
          <a:xfrm>
            <a:off x="600710" y="4110355"/>
            <a:ext cx="11049000" cy="370205"/>
          </a:xfrm>
          <a:prstGeom prst="roundRect">
            <a:avLst>
              <a:gd name="adj" fmla="val 8972"/>
            </a:avLst>
          </a:prstGeom>
          <a:solidFill>
            <a:schemeClr val="bg1">
              <a:lumMod val="85000"/>
            </a:schemeClr>
          </a:solidFill>
        </p:spPr>
        <p:style>
          <a:lnRef idx="2">
            <a:schemeClr val="lt1"/>
          </a:lnRef>
          <a:fillRef idx="1">
            <a:schemeClr val="accent1"/>
          </a:fillRef>
          <a:effectRef idx="1">
            <a:schemeClr val="accent1"/>
          </a:effectRef>
          <a:fontRef idx="minor">
            <a:schemeClr val="lt1"/>
          </a:fontRef>
        </p:style>
        <p:txBody>
          <a:bodyPr rtlCol="0" anchor="ctr"/>
          <a:p>
            <a:pPr algn="ctr"/>
            <a:endParaRPr lang="zh-CN" altLang="en-US" sz="1400" b="1">
              <a:solidFill>
                <a:schemeClr val="accent1"/>
              </a:solidFill>
              <a:latin typeface="微软雅黑" panose="020B0503020204020204" charset="-122"/>
              <a:ea typeface="微软雅黑" panose="020B0503020204020204" charset="-122"/>
              <a:cs typeface="+mn-ea"/>
              <a:sym typeface="+mn-ea"/>
            </a:endParaRPr>
          </a:p>
          <a:p>
            <a:pPr algn="ctr"/>
            <a:r>
              <a:rPr lang="zh-CN" altLang="en-US" sz="1600" b="1">
                <a:solidFill>
                  <a:schemeClr val="accent1"/>
                </a:solidFill>
                <a:latin typeface="微软雅黑" panose="020B0503020204020204" charset="-122"/>
                <a:ea typeface="微软雅黑" panose="020B0503020204020204" charset="-122"/>
                <a:cs typeface="+mn-ea"/>
                <a:sym typeface="+mn-ea"/>
              </a:rPr>
              <a:t>消融实验设置</a:t>
            </a:r>
            <a:r>
              <a:rPr lang="en-US" altLang="zh-CN" sz="1600" b="1">
                <a:solidFill>
                  <a:schemeClr val="accent1"/>
                </a:solidFill>
                <a:latin typeface="微软雅黑" panose="020B0503020204020204" charset="-122"/>
                <a:ea typeface="微软雅黑" panose="020B0503020204020204" charset="-122"/>
                <a:cs typeface="+mn-ea"/>
                <a:sym typeface="+mn-ea"/>
              </a:rPr>
              <a:t>2</a:t>
            </a:r>
            <a:endParaRPr lang="en-US" altLang="zh-CN" sz="1600" b="1">
              <a:solidFill>
                <a:schemeClr val="accent1"/>
              </a:solidFill>
              <a:latin typeface="微软雅黑" panose="020B0503020204020204" charset="-122"/>
              <a:ea typeface="微软雅黑" panose="020B0503020204020204" charset="-122"/>
              <a:cs typeface="+mn-ea"/>
              <a:sym typeface="+mn-ea"/>
            </a:endParaRPr>
          </a:p>
          <a:p>
            <a:pPr algn="ctr"/>
            <a:endParaRPr lang="en-US" altLang="zh-CN" sz="1600" b="1">
              <a:solidFill>
                <a:schemeClr val="accent1"/>
              </a:solidFill>
              <a:latin typeface="微软雅黑" panose="020B0503020204020204" charset="-122"/>
              <a:ea typeface="微软雅黑" panose="020B0503020204020204" charset="-122"/>
              <a:cs typeface="+mn-ea"/>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702056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关键技术点 &amp; 创新</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839725" y="2597400"/>
            <a:ext cx="2089800" cy="2089800"/>
          </a:xfrm>
          <a:prstGeom prst="ellipse">
            <a:avLst/>
          </a:prstGeom>
          <a:gradFill>
            <a:gsLst>
              <a:gs pos="50000">
                <a:schemeClr val="accent1"/>
              </a:gs>
              <a:gs pos="0">
                <a:schemeClr val="accent1">
                  <a:lumMod val="25000"/>
                  <a:lumOff val="75000"/>
                </a:schemeClr>
              </a:gs>
              <a:gs pos="100000">
                <a:schemeClr val="accent1">
                  <a:lumMod val="85000"/>
                </a:schemeClr>
              </a:gs>
            </a:gsLst>
            <a:lin ang="8100000" scaled="0"/>
          </a:gradFill>
          <a:ln>
            <a:noFill/>
          </a:ln>
          <a:effectLst>
            <a:outerShdw blurRad="1270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charset="-122"/>
                <a:ea typeface="微软雅黑" panose="020B0503020204020204" charset="-122"/>
              </a:rPr>
              <a:t>关键技术</a:t>
            </a:r>
            <a:endParaRPr lang="zh-CN" altLang="en-US" sz="2400" b="1" dirty="0">
              <a:latin typeface="微软雅黑" panose="020B0503020204020204" charset="-122"/>
              <a:ea typeface="微软雅黑" panose="020B0503020204020204" charset="-122"/>
            </a:endParaRPr>
          </a:p>
        </p:txBody>
      </p:sp>
      <p:sp>
        <p:nvSpPr>
          <p:cNvPr id="13" name="椭圆 12"/>
          <p:cNvSpPr/>
          <p:nvPr/>
        </p:nvSpPr>
        <p:spPr>
          <a:xfrm>
            <a:off x="1726932" y="5580321"/>
            <a:ext cx="220579" cy="220579"/>
          </a:xfrm>
          <a:prstGeom prst="ellipse">
            <a:avLst/>
          </a:prstGeom>
          <a:ln>
            <a:noFill/>
          </a:ln>
          <a:effectLst>
            <a:outerShdw blurRad="1270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767037" y="5972634"/>
            <a:ext cx="140368" cy="140368"/>
          </a:xfrm>
          <a:prstGeom prst="ellipse">
            <a:avLst/>
          </a:prstGeom>
          <a:ln>
            <a:noFill/>
          </a:ln>
          <a:effectLst>
            <a:outerShdw blurRad="1270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695940" y="5126025"/>
            <a:ext cx="282562" cy="282562"/>
          </a:xfrm>
          <a:prstGeom prst="ellipse">
            <a:avLst/>
          </a:prstGeom>
          <a:ln>
            <a:noFill/>
          </a:ln>
          <a:effectLst>
            <a:outerShdw blurRad="1270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5"/>
          <p:cNvSpPr/>
          <p:nvPr/>
        </p:nvSpPr>
        <p:spPr>
          <a:xfrm>
            <a:off x="3490595" y="1627505"/>
            <a:ext cx="2032000" cy="568960"/>
          </a:xfrm>
          <a:prstGeom prst="roundRect">
            <a:avLst>
              <a:gd name="adj"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结构化</a:t>
            </a:r>
            <a:r>
              <a:rPr lang="en-US" altLang="zh-CN" b="1" dirty="0">
                <a:solidFill>
                  <a:schemeClr val="tx1"/>
                </a:solidFill>
                <a:latin typeface="微软雅黑" panose="020B0503020204020204" charset="-122"/>
                <a:ea typeface="微软雅黑" panose="020B0503020204020204" charset="-122"/>
              </a:rPr>
              <a:t>CoT</a:t>
            </a:r>
            <a:endParaRPr lang="en-US" altLang="zh-CN" b="1" dirty="0">
              <a:solidFill>
                <a:schemeClr val="tx1"/>
              </a:solidFill>
              <a:latin typeface="微软雅黑" panose="020B0503020204020204" charset="-122"/>
              <a:ea typeface="微软雅黑" panose="020B0503020204020204" charset="-122"/>
            </a:endParaRPr>
          </a:p>
        </p:txBody>
      </p:sp>
      <p:cxnSp>
        <p:nvCxnSpPr>
          <p:cNvPr id="18" name="连接符: 曲线 14"/>
          <p:cNvCxnSpPr/>
          <p:nvPr/>
        </p:nvCxnSpPr>
        <p:spPr>
          <a:xfrm rot="5400000" flipH="1" flipV="1">
            <a:off x="2850782" y="2156337"/>
            <a:ext cx="1730700" cy="1242496"/>
          </a:xfrm>
          <a:prstGeom prst="curved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连接符: 曲线 16"/>
          <p:cNvCxnSpPr/>
          <p:nvPr/>
        </p:nvCxnSpPr>
        <p:spPr>
          <a:xfrm rot="16200000" flipH="1">
            <a:off x="3245898" y="3887526"/>
            <a:ext cx="1732949" cy="1242495"/>
          </a:xfrm>
          <a:prstGeom prst="curved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连接符: 曲线 18"/>
          <p:cNvCxnSpPr>
            <a:stCxn id="12" idx="6"/>
          </p:cNvCxnSpPr>
          <p:nvPr/>
        </p:nvCxnSpPr>
        <p:spPr>
          <a:xfrm>
            <a:off x="2929525" y="3642300"/>
            <a:ext cx="1804095" cy="6553"/>
          </a:xfrm>
          <a:prstGeom prst="curvedConnector3">
            <a:avLst/>
          </a:prstGeom>
          <a:ln w="12700">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表格 20"/>
          <p:cNvGraphicFramePr>
            <a:graphicFrameLocks noGrp="1"/>
          </p:cNvGraphicFramePr>
          <p:nvPr/>
        </p:nvGraphicFramePr>
        <p:xfrm>
          <a:off x="5651700" y="1681538"/>
          <a:ext cx="5032800" cy="1158240"/>
        </p:xfrm>
        <a:graphic>
          <a:graphicData uri="http://schemas.openxmlformats.org/drawingml/2006/table">
            <a:tbl>
              <a:tblPr firstRow="1" bandRow="1">
                <a:tableStyleId>{5C22544A-7EE6-4342-B048-85BDC9FD1C3A}</a:tableStyleId>
              </a:tblPr>
              <a:tblGrid>
                <a:gridCol w="5032800"/>
              </a:tblGrid>
              <a:tr h="370840">
                <a:tc>
                  <a:txBody>
                    <a:bodyPr/>
                    <a:lstStyle/>
                    <a:p>
                      <a:pPr marL="0" indent="0" algn="just" eaLnBrk="1" fontAlgn="auto" latinLnBrk="1" hangingPunct="1"/>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从</a:t>
                      </a:r>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相关原始数据提取字段生成旁路</a:t>
                      </a:r>
                      <a:r>
                        <a:rPr lang="en-US" altLang="zh-CN" sz="1600" b="0" dirty="0">
                          <a:solidFill>
                            <a:schemeClr val="tx1"/>
                          </a:solidFill>
                          <a:latin typeface="微软雅黑" panose="020B0503020204020204" charset="-122"/>
                          <a:ea typeface="微软雅黑" panose="020B0503020204020204" charset="-122"/>
                          <a:cs typeface="微软雅黑" panose="020B0503020204020204" charset="-122"/>
                        </a:rPr>
                        <a:t> JSONL</a:t>
                      </a:r>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，将</a:t>
                      </a:r>
                      <a:r>
                        <a:rPr lang="en-US" altLang="zh-CN" sz="1600" b="0"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看、做、期望</a:t>
                      </a:r>
                      <a:r>
                        <a:rPr lang="en-US" altLang="zh-CN" sz="1600" b="0"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写为可执行步骤，显著提升</a:t>
                      </a:r>
                      <a:r>
                        <a:rPr lang="en-US" altLang="zh-CN" sz="1600" b="0" dirty="0">
                          <a:solidFill>
                            <a:schemeClr val="tx1"/>
                          </a:solidFill>
                          <a:latin typeface="微软雅黑" panose="020B0503020204020204" charset="-122"/>
                          <a:ea typeface="微软雅黑" panose="020B0503020204020204" charset="-122"/>
                          <a:cs typeface="微软雅黑" panose="020B0503020204020204" charset="-122"/>
                        </a:rPr>
                        <a:t> EmbSpatial </a:t>
                      </a:r>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等空间推理和多图整合基准表现。</a:t>
                      </a:r>
                      <a:endParaRPr lang="zh-CN" altLang="en-US" sz="1600" b="0" dirty="0">
                        <a:solidFill>
                          <a:schemeClr val="tx1"/>
                        </a:solidFill>
                        <a:latin typeface="微软雅黑" panose="020B0503020204020204" charset="-122"/>
                        <a:ea typeface="微软雅黑" panose="020B0503020204020204" charset="-122"/>
                        <a:cs typeface="微软雅黑" panose="020B0503020204020204" charset="-122"/>
                      </a:endParaRPr>
                    </a:p>
                  </a:txBody>
                  <a:tcPr>
                    <a:lnB w="12700" cap="flat" cmpd="sng" algn="ctr">
                      <a:solidFill>
                        <a:schemeClr val="accent1"/>
                      </a:solidFill>
                      <a:prstDash val="solid"/>
                      <a:round/>
                      <a:headEnd type="none" w="med" len="med"/>
                      <a:tailEnd type="none" w="med" len="med"/>
                    </a:lnB>
                    <a:noFill/>
                  </a:tcPr>
                </a:tc>
              </a:tr>
              <a:tr h="370840">
                <a:tc>
                  <a:txBody>
                    <a:bodyPr/>
                    <a:lstStyle/>
                    <a:p>
                      <a:endParaRPr lang="zh-CN" altLang="en-US" sz="1600" dirty="0">
                        <a:solidFill>
                          <a:schemeClr val="tx1"/>
                        </a:solidFill>
                        <a:latin typeface="微软雅黑 Light" panose="020B0502040204020203" charset="-122"/>
                        <a:ea typeface="微软雅黑 Light" panose="020B0502040204020203" charset="-122"/>
                      </a:endParaRPr>
                    </a:p>
                  </a:txBody>
                  <a:tcPr>
                    <a:lnT w="12700" cap="flat" cmpd="sng" algn="ctr">
                      <a:solidFill>
                        <a:schemeClr val="accent1"/>
                      </a:solidFill>
                      <a:prstDash val="solid"/>
                      <a:round/>
                      <a:headEnd type="none" w="med" len="med"/>
                      <a:tailEnd type="none" w="med" len="med"/>
                    </a:lnT>
                    <a:noFill/>
                  </a:tcPr>
                </a:tc>
              </a:tr>
            </a:tbl>
          </a:graphicData>
        </a:graphic>
      </p:graphicFrame>
      <p:sp>
        <p:nvSpPr>
          <p:cNvPr id="25" name="矩形: 圆角 24"/>
          <p:cNvSpPr/>
          <p:nvPr/>
        </p:nvSpPr>
        <p:spPr>
          <a:xfrm>
            <a:off x="3490595" y="5069840"/>
            <a:ext cx="2032000" cy="568960"/>
          </a:xfrm>
          <a:prstGeom prst="roundRect">
            <a:avLst>
              <a:gd name="adj"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charset="-122"/>
                <a:ea typeface="微软雅黑" panose="020B0503020204020204" charset="-122"/>
              </a:rPr>
              <a:t>DPO</a:t>
            </a:r>
            <a:r>
              <a:rPr lang="zh-CN" altLang="en-US" b="1" dirty="0">
                <a:solidFill>
                  <a:schemeClr val="tx1"/>
                </a:solidFill>
                <a:latin typeface="微软雅黑" panose="020B0503020204020204" charset="-122"/>
                <a:ea typeface="微软雅黑" panose="020B0503020204020204" charset="-122"/>
              </a:rPr>
              <a:t>偏好对</a:t>
            </a:r>
            <a:r>
              <a:rPr lang="zh-CN" altLang="en-US" b="1" dirty="0">
                <a:solidFill>
                  <a:schemeClr val="tx1"/>
                </a:solidFill>
                <a:latin typeface="微软雅黑" panose="020B0503020204020204" charset="-122"/>
                <a:ea typeface="微软雅黑" panose="020B0503020204020204" charset="-122"/>
              </a:rPr>
              <a:t>齐</a:t>
            </a:r>
            <a:endParaRPr lang="zh-CN" altLang="en-US" b="1" dirty="0">
              <a:solidFill>
                <a:schemeClr val="tx1"/>
              </a:solidFill>
              <a:latin typeface="微软雅黑" panose="020B0503020204020204" charset="-122"/>
              <a:ea typeface="微软雅黑" panose="020B0503020204020204" charset="-122"/>
            </a:endParaRPr>
          </a:p>
        </p:txBody>
      </p:sp>
      <p:sp>
        <p:nvSpPr>
          <p:cNvPr id="27" name="矩形: 圆角 25"/>
          <p:cNvSpPr/>
          <p:nvPr/>
        </p:nvSpPr>
        <p:spPr>
          <a:xfrm>
            <a:off x="3490595" y="3387090"/>
            <a:ext cx="2032000" cy="568960"/>
          </a:xfrm>
          <a:prstGeom prst="roundRect">
            <a:avLst>
              <a:gd name="adj"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charset="-122"/>
                <a:ea typeface="微软雅黑" panose="020B0503020204020204" charset="-122"/>
              </a:rPr>
              <a:t>Prompt</a:t>
            </a:r>
            <a:r>
              <a:rPr lang="zh-CN" altLang="en-US" b="1" dirty="0">
                <a:solidFill>
                  <a:schemeClr val="tx1"/>
                </a:solidFill>
                <a:latin typeface="微软雅黑" panose="020B0503020204020204" charset="-122"/>
                <a:ea typeface="微软雅黑" panose="020B0503020204020204" charset="-122"/>
              </a:rPr>
              <a:t>优化</a:t>
            </a:r>
            <a:endParaRPr lang="zh-CN" altLang="en-US" b="1" dirty="0">
              <a:solidFill>
                <a:schemeClr val="tx1"/>
              </a:solidFill>
              <a:latin typeface="微软雅黑" panose="020B0503020204020204" charset="-122"/>
              <a:ea typeface="微软雅黑" panose="020B0503020204020204" charset="-122"/>
            </a:endParaRPr>
          </a:p>
        </p:txBody>
      </p:sp>
      <p:graphicFrame>
        <p:nvGraphicFramePr>
          <p:cNvPr id="29" name="表格 28"/>
          <p:cNvGraphicFramePr>
            <a:graphicFrameLocks noGrp="1"/>
          </p:cNvGraphicFramePr>
          <p:nvPr/>
        </p:nvGraphicFramePr>
        <p:xfrm>
          <a:off x="5651700" y="3461049"/>
          <a:ext cx="5032800" cy="1158240"/>
        </p:xfrm>
        <a:graphic>
          <a:graphicData uri="http://schemas.openxmlformats.org/drawingml/2006/table">
            <a:tbl>
              <a:tblPr firstRow="1" bandRow="1">
                <a:tableStyleId>{5C22544A-7EE6-4342-B048-85BDC9FD1C3A}</a:tableStyleId>
              </a:tblPr>
              <a:tblGrid>
                <a:gridCol w="5032800"/>
              </a:tblGrid>
              <a:tr h="370840">
                <a:tc>
                  <a:txBody>
                    <a:bodyPr/>
                    <a:lstStyle/>
                    <a:p>
                      <a:pPr algn="just"/>
                      <a:r>
                        <a:rPr lang="zh-CN" altLang="en-US" sz="1600" b="0" dirty="0">
                          <a:solidFill>
                            <a:schemeClr val="tx1"/>
                          </a:solidFill>
                          <a:latin typeface="微软雅黑" panose="020B0503020204020204" charset="-122"/>
                          <a:ea typeface="微软雅黑" panose="020B0503020204020204" charset="-122"/>
                          <a:cs typeface="微软雅黑" panose="020B0503020204020204" charset="-122"/>
                        </a:rPr>
                        <a:t>从</a:t>
                      </a:r>
                      <a:r>
                        <a:rPr lang="en-US" altLang="zh-CN" sz="1600" b="0" dirty="0">
                          <a:solidFill>
                            <a:schemeClr val="tx1"/>
                          </a:solidFill>
                          <a:latin typeface="微软雅黑" panose="020B0503020204020204" charset="-122"/>
                          <a:ea typeface="微软雅黑" panose="020B0503020204020204" charset="-122"/>
                          <a:cs typeface="微软雅黑" panose="020B0503020204020204" charset="-122"/>
                        </a:rPr>
                        <a:t> AI2-THOR episode 压缩 3-5 步高层计划，适配 7B 处理能力，在 EgoPlan 等规划 / 多视角任务上收益可观。</a:t>
                      </a:r>
                      <a:endParaRPr lang="en-US" altLang="zh-CN" sz="1600" b="0" dirty="0">
                        <a:solidFill>
                          <a:schemeClr val="tx1"/>
                        </a:solidFill>
                        <a:latin typeface="微软雅黑" panose="020B0503020204020204" charset="-122"/>
                        <a:ea typeface="微软雅黑" panose="020B0503020204020204" charset="-122"/>
                        <a:cs typeface="微软雅黑" panose="020B0503020204020204" charset="-122"/>
                      </a:endParaRPr>
                    </a:p>
                  </a:txBody>
                  <a:tcPr>
                    <a:lnB w="12700" cap="flat" cmpd="sng" algn="ctr">
                      <a:solidFill>
                        <a:schemeClr val="accent1"/>
                      </a:solidFill>
                      <a:prstDash val="solid"/>
                      <a:round/>
                      <a:headEnd type="none" w="med" len="med"/>
                      <a:tailEnd type="none" w="med" len="med"/>
                    </a:lnB>
                    <a:noFill/>
                  </a:tcPr>
                </a:tc>
              </a:tr>
              <a:tr h="370840">
                <a:tc>
                  <a:txBody>
                    <a:bodyPr/>
                    <a:lstStyle/>
                    <a:p>
                      <a:endParaRPr lang="zh-CN" altLang="en-US" sz="1600" dirty="0">
                        <a:solidFill>
                          <a:schemeClr val="tx1"/>
                        </a:solidFill>
                        <a:latin typeface="微软雅黑 Light" panose="020B0502040204020203" charset="-122"/>
                        <a:ea typeface="微软雅黑 Light" panose="020B0502040204020203" charset="-122"/>
                      </a:endParaRPr>
                    </a:p>
                  </a:txBody>
                  <a:tcPr>
                    <a:lnT w="12700" cap="flat" cmpd="sng" algn="ctr">
                      <a:solidFill>
                        <a:schemeClr val="accent1"/>
                      </a:solidFill>
                      <a:prstDash val="solid"/>
                      <a:round/>
                      <a:headEnd type="none" w="med" len="med"/>
                      <a:tailEnd type="none" w="med" len="med"/>
                    </a:lnT>
                    <a:noFill/>
                  </a:tcPr>
                </a:tc>
              </a:tr>
            </a:tbl>
          </a:graphicData>
        </a:graphic>
      </p:graphicFrame>
      <p:graphicFrame>
        <p:nvGraphicFramePr>
          <p:cNvPr id="30" name="表格 29"/>
          <p:cNvGraphicFramePr>
            <a:graphicFrameLocks noGrp="1"/>
          </p:cNvGraphicFramePr>
          <p:nvPr/>
        </p:nvGraphicFramePr>
        <p:xfrm>
          <a:off x="5651700" y="5133480"/>
          <a:ext cx="5032800" cy="1158240"/>
        </p:xfrm>
        <a:graphic>
          <a:graphicData uri="http://schemas.openxmlformats.org/drawingml/2006/table">
            <a:tbl>
              <a:tblPr firstRow="1" bandRow="1">
                <a:tableStyleId>{5C22544A-7EE6-4342-B048-85BDC9FD1C3A}</a:tableStyleId>
              </a:tblPr>
              <a:tblGrid>
                <a:gridCol w="5032800"/>
              </a:tblGrid>
              <a:tr h="370840">
                <a:tc>
                  <a:txBody>
                    <a:bodyPr/>
                    <a:lstStyle/>
                    <a:p>
                      <a:pPr algn="just"/>
                      <a:r>
                        <a:rPr lang="en-US" altLang="zh-CN" sz="1600" b="0" dirty="0">
                          <a:solidFill>
                            <a:schemeClr val="tx1"/>
                          </a:solidFill>
                          <a:latin typeface="微软雅黑" panose="020B0503020204020204" charset="-122"/>
                          <a:ea typeface="微软雅黑" panose="020B0503020204020204" charset="-122"/>
                          <a:cs typeface="微软雅黑" panose="020B0503020204020204" charset="-122"/>
                        </a:rPr>
                        <a:t>在结构化计划上做偏好学习，使模型更贴近人类偏好完成任务，对多选 / 干扰题型（RealWorldQA 等）帮助明显。</a:t>
                      </a:r>
                      <a:endParaRPr lang="en-US" altLang="zh-CN" sz="1600" b="0" dirty="0">
                        <a:solidFill>
                          <a:schemeClr val="tx1"/>
                        </a:solidFill>
                        <a:latin typeface="微软雅黑" panose="020B0503020204020204" charset="-122"/>
                        <a:ea typeface="微软雅黑" panose="020B0503020204020204" charset="-122"/>
                        <a:cs typeface="微软雅黑" panose="020B0503020204020204" charset="-122"/>
                      </a:endParaRPr>
                    </a:p>
                  </a:txBody>
                  <a:tcPr>
                    <a:lnB w="12700" cap="flat" cmpd="sng" algn="ctr">
                      <a:solidFill>
                        <a:schemeClr val="accent1"/>
                      </a:solidFill>
                      <a:prstDash val="solid"/>
                      <a:round/>
                      <a:headEnd type="none" w="med" len="med"/>
                      <a:tailEnd type="none" w="med" len="med"/>
                    </a:lnB>
                    <a:noFill/>
                  </a:tcPr>
                </a:tc>
              </a:tr>
              <a:tr h="370840">
                <a:tc>
                  <a:txBody>
                    <a:bodyPr/>
                    <a:lstStyle/>
                    <a:p>
                      <a:endParaRPr lang="zh-CN" altLang="en-US" sz="1600" dirty="0">
                        <a:solidFill>
                          <a:schemeClr val="tx1"/>
                        </a:solidFill>
                        <a:latin typeface="微软雅黑 Light" panose="020B0502040204020203" charset="-122"/>
                        <a:ea typeface="微软雅黑 Light" panose="020B0502040204020203" charset="-122"/>
                      </a:endParaRPr>
                    </a:p>
                  </a:txBody>
                  <a:tcPr>
                    <a:lnT w="12700" cap="flat" cmpd="sng" algn="ctr">
                      <a:solidFill>
                        <a:schemeClr val="accent1"/>
                      </a:solidFill>
                      <a:prstDash val="solid"/>
                      <a:round/>
                      <a:headEnd type="none" w="med" len="med"/>
                      <a:tailEnd type="none" w="med" len="med"/>
                    </a:lnT>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7020560" y="0"/>
            <a:ext cx="155257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2286000" y="210820"/>
            <a:ext cx="153606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54202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45255" y="217805"/>
            <a:ext cx="1475105" cy="709930"/>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700461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5481955" y="210820"/>
            <a:ext cx="1475105" cy="40259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858893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关键技术点 &amp; 创新</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0173261"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1859186" y="253294"/>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0311130" y="210820"/>
            <a:ext cx="1475105" cy="710565"/>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74930" y="107950"/>
            <a:ext cx="2213610" cy="566420"/>
          </a:xfrm>
          <a:prstGeom prst="rect">
            <a:avLst/>
          </a:prstGeom>
        </p:spPr>
      </p:pic>
      <p:cxnSp>
        <p:nvCxnSpPr>
          <p:cNvPr id="11" name="直接连接符 10"/>
          <p:cNvCxnSpPr/>
          <p:nvPr/>
        </p:nvCxnSpPr>
        <p:spPr>
          <a:xfrm>
            <a:off x="3969311" y="28948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91135" y="1099820"/>
            <a:ext cx="11799570" cy="5507990"/>
          </a:xfrm>
          <a:prstGeom prst="rect">
            <a:avLst/>
          </a:prstGeom>
          <a:noFill/>
          <a:ln w="12700">
            <a:solidFill>
              <a:schemeClr val="accent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圆角矩形 71"/>
          <p:cNvSpPr/>
          <p:nvPr/>
        </p:nvSpPr>
        <p:spPr>
          <a:xfrm>
            <a:off x="379730" y="1550670"/>
            <a:ext cx="11405870" cy="1617980"/>
          </a:xfrm>
          <a:prstGeom prst="roundRect">
            <a:avLst>
              <a:gd name="adj" fmla="val 0"/>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标题"/>
          <p:cNvSpPr/>
          <p:nvPr>
            <p:custDataLst>
              <p:tags r:id="rId2"/>
            </p:custDataLst>
          </p:nvPr>
        </p:nvSpPr>
        <p:spPr>
          <a:xfrm>
            <a:off x="379730" y="1271905"/>
            <a:ext cx="4312285" cy="448310"/>
          </a:xfrm>
          <a:prstGeom prst="roundRect">
            <a:avLst>
              <a:gd name="adj" fmla="val 17400"/>
            </a:avLst>
          </a:prstGeom>
          <a:gradFill>
            <a:gsLst>
              <a:gs pos="50000">
                <a:schemeClr val="accent1"/>
              </a:gs>
              <a:gs pos="0">
                <a:schemeClr val="accent1">
                  <a:lumMod val="25000"/>
                  <a:lumOff val="75000"/>
                </a:schemeClr>
              </a:gs>
              <a:gs pos="100000">
                <a:schemeClr val="accent1">
                  <a:lumMod val="85000"/>
                </a:schemeClr>
              </a:gs>
            </a:gsLst>
            <a:lin ang="10800000" scaled="0"/>
          </a:gra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spcBef>
                <a:spcPct val="0"/>
              </a:spcBef>
              <a:spcAft>
                <a:spcPct val="0"/>
              </a:spcAft>
            </a:pPr>
            <a:endParaRPr lang="zh-CN" altLang="en-US" b="1">
              <a:solidFill>
                <a:srgbClr val="FFFFFF"/>
              </a:solidFill>
              <a:uFillTx/>
              <a:latin typeface="微软雅黑" panose="020B0503020204020204" charset="-122"/>
              <a:ea typeface="微软雅黑" panose="020B0503020204020204" charset="-122"/>
              <a:cs typeface="+mn-ea"/>
              <a:sym typeface="+mn-ea"/>
            </a:endParaRPr>
          </a:p>
        </p:txBody>
      </p:sp>
      <p:sp>
        <p:nvSpPr>
          <p:cNvPr id="74" name="文本框 73"/>
          <p:cNvSpPr txBox="1"/>
          <p:nvPr/>
        </p:nvSpPr>
        <p:spPr>
          <a:xfrm>
            <a:off x="518160" y="1333500"/>
            <a:ext cx="2103120" cy="337185"/>
          </a:xfrm>
          <a:prstGeom prst="rect">
            <a:avLst/>
          </a:prstGeom>
          <a:noFill/>
        </p:spPr>
        <p:txBody>
          <a:bodyPr wrap="square" rtlCol="0" anchor="t">
            <a:spAutoFit/>
          </a:bodyPr>
          <a:p>
            <a:pPr algn="l">
              <a:spcBef>
                <a:spcPct val="0"/>
              </a:spcBef>
              <a:spcAft>
                <a:spcPct val="0"/>
              </a:spcAft>
            </a:pPr>
            <a:r>
              <a:rPr lang="zh-CN" altLang="en-US" sz="1600" b="1">
                <a:solidFill>
                  <a:srgbClr val="FFFFFF"/>
                </a:solidFill>
                <a:uFillTx/>
                <a:latin typeface="微软雅黑" panose="020B0503020204020204" charset="-122"/>
                <a:ea typeface="微软雅黑" panose="020B0503020204020204" charset="-122"/>
                <a:cs typeface="+mn-ea"/>
                <a:sym typeface="+mn-ea"/>
              </a:rPr>
              <a:t>偏好对从哪⾥来？</a:t>
            </a:r>
            <a:endParaRPr lang="zh-CN" altLang="en-US" sz="1600" b="1">
              <a:solidFill>
                <a:srgbClr val="FFFFFF"/>
              </a:solidFill>
              <a:uFillTx/>
              <a:latin typeface="微软雅黑" panose="020B0503020204020204" charset="-122"/>
              <a:ea typeface="微软雅黑" panose="020B0503020204020204" charset="-122"/>
              <a:cs typeface="+mn-ea"/>
              <a:sym typeface="+mn-ea"/>
            </a:endParaRPr>
          </a:p>
        </p:txBody>
      </p:sp>
      <p:sp>
        <p:nvSpPr>
          <p:cNvPr id="77" name="文本框 76"/>
          <p:cNvSpPr txBox="1"/>
          <p:nvPr/>
        </p:nvSpPr>
        <p:spPr>
          <a:xfrm>
            <a:off x="560705" y="1844040"/>
            <a:ext cx="6219190" cy="1026160"/>
          </a:xfrm>
          <a:prstGeom prst="rect">
            <a:avLst/>
          </a:prstGeom>
          <a:noFill/>
        </p:spPr>
        <p:txBody>
          <a:bodyPr wrap="square" rtlCol="0" anchor="t">
            <a:noAutofit/>
          </a:bodyPr>
          <a:p>
            <a:pPr marL="285750" indent="-285750" algn="just" eaLnBrk="1" latinLnBrk="0" hangingPunct="1">
              <a:lnSpc>
                <a:spcPct val="120000"/>
              </a:lnSpc>
              <a:buClrTx/>
              <a:buSzTx/>
              <a:buFont typeface="Arial" panose="020B0604020202020204" pitchFamily="34" charset="0"/>
              <a:buChar char="•"/>
            </a:pPr>
            <a:r>
              <a:rPr lang="zh-CN" altLang="en-US" sz="1200">
                <a:latin typeface="微软雅黑" panose="020B0503020204020204" charset="-122"/>
                <a:ea typeface="微软雅黑" panose="020B0503020204020204" charset="-122"/>
                <a:cs typeface="微软雅黑" panose="020B0503020204020204" charset="-122"/>
                <a:sym typeface="+mn-ea"/>
              </a:rPr>
              <a:t>基于</a:t>
            </a:r>
            <a:r>
              <a:rPr lang="en-US" altLang="zh-CN" sz="1200">
                <a:latin typeface="微软雅黑" panose="020B0503020204020204" charset="-122"/>
                <a:ea typeface="微软雅黑" panose="020B0503020204020204" charset="-122"/>
                <a:cs typeface="微软雅黑" panose="020B0503020204020204" charset="-122"/>
                <a:sym typeface="+mn-ea"/>
              </a:rPr>
              <a:t>ai2thor_plan.jsonl</a:t>
            </a:r>
            <a:r>
              <a:rPr lang="zh-CN" altLang="en-US" sz="1200">
                <a:latin typeface="微软雅黑" panose="020B0503020204020204" charset="-122"/>
                <a:ea typeface="微软雅黑" panose="020B0503020204020204" charset="-122"/>
                <a:cs typeface="微软雅黑" panose="020B0503020204020204" charset="-122"/>
                <a:sym typeface="+mn-ea"/>
              </a:rPr>
              <a:t>，用</a:t>
            </a:r>
            <a:r>
              <a:rPr lang="en-US" altLang="zh-CN" sz="1200">
                <a:latin typeface="微软雅黑" panose="020B0503020204020204" charset="-122"/>
                <a:ea typeface="微软雅黑" panose="020B0503020204020204" charset="-122"/>
                <a:cs typeface="微软雅黑" panose="020B0503020204020204" charset="-122"/>
                <a:sym typeface="+mn-ea"/>
              </a:rPr>
              <a:t>make_dpo_pairs.py</a:t>
            </a:r>
            <a:r>
              <a:rPr lang="zh-CN" altLang="en-US" sz="1200">
                <a:latin typeface="微软雅黑" panose="020B0503020204020204" charset="-122"/>
                <a:ea typeface="微软雅黑" panose="020B0503020204020204" charset="-122"/>
                <a:cs typeface="微软雅黑" panose="020B0503020204020204" charset="-122"/>
                <a:sym typeface="+mn-ea"/>
              </a:rPr>
              <a:t>在</a:t>
            </a:r>
            <a:r>
              <a:rPr lang="en-US" altLang="zh-CN" sz="1200">
                <a:latin typeface="微软雅黑" panose="020B0503020204020204" charset="-122"/>
                <a:ea typeface="微软雅黑" panose="020B0503020204020204" charset="-122"/>
                <a:cs typeface="微软雅黑" panose="020B0503020204020204" charset="-122"/>
                <a:sym typeface="+mn-ea"/>
              </a:rPr>
              <a:t>AI2-THOR</a:t>
            </a:r>
            <a:r>
              <a:rPr lang="zh-CN" altLang="en-US" sz="1200">
                <a:latin typeface="微软雅黑" panose="020B0503020204020204" charset="-122"/>
                <a:ea typeface="微软雅黑" panose="020B0503020204020204" charset="-122"/>
                <a:cs typeface="微软雅黑" panose="020B0503020204020204" charset="-122"/>
                <a:sym typeface="+mn-ea"/>
              </a:rPr>
              <a:t>为每条指令构造好坏计划对：</a:t>
            </a:r>
            <a:r>
              <a:rPr lang="en-US" altLang="zh-CN" sz="1200">
                <a:latin typeface="微软雅黑" panose="020B0503020204020204" charset="-122"/>
                <a:ea typeface="微软雅黑" panose="020B0503020204020204" charset="-122"/>
                <a:cs typeface="微软雅黑" panose="020B0503020204020204" charset="-122"/>
                <a:sym typeface="+mn-ea"/>
              </a:rPr>
              <a:t>chosen</a:t>
            </a:r>
            <a:r>
              <a:rPr lang="zh-CN" altLang="en-US" sz="1200">
                <a:latin typeface="微软雅黑" panose="020B0503020204020204" charset="-122"/>
                <a:ea typeface="微软雅黑" panose="020B0503020204020204" charset="-122"/>
                <a:cs typeface="微软雅黑" panose="020B0503020204020204" charset="-122"/>
                <a:sym typeface="+mn-ea"/>
              </a:rPr>
              <a:t>由成功</a:t>
            </a:r>
            <a:r>
              <a:rPr lang="en-US" altLang="zh-CN" sz="1200">
                <a:latin typeface="微软雅黑" panose="020B0503020204020204" charset="-122"/>
                <a:ea typeface="微软雅黑" panose="020B0503020204020204" charset="-122"/>
                <a:cs typeface="微软雅黑" panose="020B0503020204020204" charset="-122"/>
                <a:sym typeface="+mn-ea"/>
              </a:rPr>
              <a:t>episode</a:t>
            </a:r>
            <a:r>
              <a:rPr lang="zh-CN" altLang="en-US" sz="1200">
                <a:latin typeface="微软雅黑" panose="020B0503020204020204" charset="-122"/>
                <a:ea typeface="微软雅黑" panose="020B0503020204020204" charset="-122"/>
                <a:cs typeface="微软雅黑" panose="020B0503020204020204" charset="-122"/>
                <a:sym typeface="+mn-ea"/>
              </a:rPr>
              <a:t>压缩，</a:t>
            </a:r>
            <a:r>
              <a:rPr lang="en-US" altLang="zh-CN" sz="1200">
                <a:latin typeface="微软雅黑" panose="020B0503020204020204" charset="-122"/>
                <a:ea typeface="微软雅黑" panose="020B0503020204020204" charset="-122"/>
                <a:cs typeface="微软雅黑" panose="020B0503020204020204" charset="-122"/>
                <a:sym typeface="+mn-ea"/>
              </a:rPr>
              <a:t>rejected</a:t>
            </a:r>
            <a:r>
              <a:rPr lang="zh-CN" altLang="en-US" sz="1200">
                <a:latin typeface="微软雅黑" panose="020B0503020204020204" charset="-122"/>
                <a:ea typeface="微软雅黑" panose="020B0503020204020204" charset="-122"/>
                <a:cs typeface="微软雅黑" panose="020B0503020204020204" charset="-122"/>
                <a:sym typeface="+mn-ea"/>
              </a:rPr>
              <a:t>则</a:t>
            </a:r>
            <a:r>
              <a:rPr lang="zh-CN" altLang="en-US" sz="1200">
                <a:latin typeface="微软雅黑" panose="020B0503020204020204" charset="-122"/>
                <a:ea typeface="微软雅黑" panose="020B0503020204020204" charset="-122"/>
                <a:cs typeface="微软雅黑" panose="020B0503020204020204" charset="-122"/>
                <a:sym typeface="+mn-ea"/>
              </a:rPr>
              <a:t>是由脚本化注入错误。用</a:t>
            </a:r>
            <a:r>
              <a:rPr lang="en-US" altLang="zh-CN" sz="1200">
                <a:latin typeface="微软雅黑" panose="020B0503020204020204" charset="-122"/>
                <a:ea typeface="微软雅黑" panose="020B0503020204020204" charset="-122"/>
                <a:cs typeface="微软雅黑" panose="020B0503020204020204" charset="-122"/>
                <a:sym typeface="+mn-ea"/>
              </a:rPr>
              <a:t>DPO</a:t>
            </a:r>
            <a:r>
              <a:rPr lang="zh-CN" altLang="en-US" sz="1200">
                <a:latin typeface="微软雅黑" panose="020B0503020204020204" charset="-122"/>
                <a:ea typeface="微软雅黑" panose="020B0503020204020204" charset="-122"/>
                <a:cs typeface="微软雅黑" panose="020B0503020204020204" charset="-122"/>
                <a:sym typeface="+mn-ea"/>
              </a:rPr>
              <a:t>损失函数让模型学偏好，是轻量</a:t>
            </a:r>
            <a:r>
              <a:rPr lang="en-US" altLang="zh-CN" sz="1200">
                <a:latin typeface="微软雅黑" panose="020B0503020204020204" charset="-122"/>
                <a:ea typeface="微软雅黑" panose="020B0503020204020204" charset="-122"/>
                <a:cs typeface="微软雅黑" panose="020B0503020204020204" charset="-122"/>
                <a:sym typeface="+mn-ea"/>
              </a:rPr>
              <a:t>RL</a:t>
            </a:r>
            <a:r>
              <a:rPr lang="zh-CN" altLang="en-US" sz="1200">
                <a:latin typeface="微软雅黑" panose="020B0503020204020204" charset="-122"/>
                <a:ea typeface="微软雅黑" panose="020B0503020204020204" charset="-122"/>
                <a:cs typeface="微软雅黑" panose="020B0503020204020204" charset="-122"/>
                <a:sym typeface="+mn-ea"/>
              </a:rPr>
              <a:t>方案。在</a:t>
            </a:r>
            <a:r>
              <a:rPr lang="en-US" altLang="zh-CN" sz="1200">
                <a:latin typeface="微软雅黑" panose="020B0503020204020204" charset="-122"/>
                <a:ea typeface="微软雅黑" panose="020B0503020204020204" charset="-122"/>
                <a:cs typeface="微软雅黑" panose="020B0503020204020204" charset="-122"/>
                <a:sym typeface="+mn-ea"/>
              </a:rPr>
              <a:t>RealWorldQA</a:t>
            </a:r>
            <a:r>
              <a:rPr lang="zh-CN" altLang="en-US" sz="1200">
                <a:latin typeface="微软雅黑" panose="020B0503020204020204" charset="-122"/>
                <a:ea typeface="微软雅黑" panose="020B0503020204020204" charset="-122"/>
                <a:cs typeface="微软雅黑" panose="020B0503020204020204" charset="-122"/>
                <a:sym typeface="+mn-ea"/>
              </a:rPr>
              <a:t>等有干扰题中，</a:t>
            </a:r>
            <a:r>
              <a:rPr lang="en-US" altLang="zh-CN" sz="1200">
                <a:latin typeface="微软雅黑" panose="020B0503020204020204" charset="-122"/>
                <a:ea typeface="微软雅黑" panose="020B0503020204020204" charset="-122"/>
                <a:cs typeface="微软雅黑" panose="020B0503020204020204" charset="-122"/>
                <a:sym typeface="+mn-ea"/>
              </a:rPr>
              <a:t>DPO</a:t>
            </a:r>
            <a:r>
              <a:rPr lang="zh-CN" altLang="en-US" sz="1200">
                <a:latin typeface="微软雅黑" panose="020B0503020204020204" charset="-122"/>
                <a:ea typeface="微软雅黑" panose="020B0503020204020204" charset="-122"/>
                <a:cs typeface="微软雅黑" panose="020B0503020204020204" charset="-122"/>
                <a:sym typeface="+mn-ea"/>
              </a:rPr>
              <a:t>让模型选更符人类直觉的解释，</a:t>
            </a:r>
            <a:r>
              <a:rPr lang="en-US" altLang="zh-CN" sz="1200">
                <a:latin typeface="微软雅黑" panose="020B0503020204020204" charset="-122"/>
                <a:ea typeface="微软雅黑" panose="020B0503020204020204" charset="-122"/>
                <a:cs typeface="微软雅黑" panose="020B0503020204020204" charset="-122"/>
                <a:sym typeface="+mn-ea"/>
              </a:rPr>
              <a:t>MMSI</a:t>
            </a:r>
            <a:r>
              <a:rPr lang="zh-CN" altLang="en-US" sz="1200">
                <a:latin typeface="微软雅黑" panose="020B0503020204020204" charset="-122"/>
                <a:ea typeface="微软雅黑" panose="020B0503020204020204" charset="-122"/>
                <a:cs typeface="微软雅黑" panose="020B0503020204020204" charset="-122"/>
                <a:sym typeface="+mn-ea"/>
              </a:rPr>
              <a:t>领先</a:t>
            </a:r>
            <a:r>
              <a:rPr lang="en-US" altLang="zh-CN" sz="1200">
                <a:latin typeface="微软雅黑" panose="020B0503020204020204" charset="-122"/>
                <a:ea typeface="微软雅黑" panose="020B0503020204020204" charset="-122"/>
                <a:cs typeface="微软雅黑" panose="020B0503020204020204" charset="-122"/>
                <a:sym typeface="+mn-ea"/>
              </a:rPr>
              <a:t>7B</a:t>
            </a:r>
            <a:r>
              <a:rPr lang="zh-CN" altLang="en-US" sz="1200">
                <a:latin typeface="微软雅黑" panose="020B0503020204020204" charset="-122"/>
                <a:ea typeface="微软雅黑" panose="020B0503020204020204" charset="-122"/>
                <a:cs typeface="微软雅黑" panose="020B0503020204020204" charset="-122"/>
                <a:sym typeface="+mn-ea"/>
              </a:rPr>
              <a:t>官方基线</a:t>
            </a:r>
            <a:r>
              <a:rPr lang="zh-CN" altLang="en-US" sz="1200">
                <a:latin typeface="微软雅黑" panose="020B0503020204020204" charset="-122"/>
                <a:ea typeface="微软雅黑" panose="020B0503020204020204" charset="-122"/>
                <a:cs typeface="微软雅黑" panose="020B0503020204020204" charset="-122"/>
                <a:sym typeface="+mn-ea"/>
              </a:rPr>
              <a:t>得分。</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55" name="圆角矩形 54"/>
          <p:cNvSpPr/>
          <p:nvPr/>
        </p:nvSpPr>
        <p:spPr>
          <a:xfrm>
            <a:off x="379730" y="3608070"/>
            <a:ext cx="11405870" cy="1092200"/>
          </a:xfrm>
          <a:prstGeom prst="roundRect">
            <a:avLst>
              <a:gd name="adj" fmla="val 0"/>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标题"/>
          <p:cNvSpPr/>
          <p:nvPr>
            <p:custDataLst>
              <p:tags r:id="rId3"/>
            </p:custDataLst>
          </p:nvPr>
        </p:nvSpPr>
        <p:spPr>
          <a:xfrm>
            <a:off x="379730" y="3329305"/>
            <a:ext cx="4312285" cy="448310"/>
          </a:xfrm>
          <a:prstGeom prst="roundRect">
            <a:avLst>
              <a:gd name="adj" fmla="val 17400"/>
            </a:avLst>
          </a:prstGeom>
          <a:gradFill>
            <a:gsLst>
              <a:gs pos="50000">
                <a:schemeClr val="accent1"/>
              </a:gs>
              <a:gs pos="0">
                <a:schemeClr val="accent1">
                  <a:lumMod val="25000"/>
                  <a:lumOff val="75000"/>
                </a:schemeClr>
              </a:gs>
              <a:gs pos="100000">
                <a:schemeClr val="accent1">
                  <a:lumMod val="85000"/>
                </a:schemeClr>
              </a:gs>
            </a:gsLst>
            <a:lin ang="10800000" scaled="0"/>
          </a:gra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spcBef>
                <a:spcPct val="0"/>
              </a:spcBef>
              <a:spcAft>
                <a:spcPct val="0"/>
              </a:spcAft>
            </a:pPr>
            <a:endParaRPr lang="zh-CN" altLang="en-US" b="1">
              <a:solidFill>
                <a:srgbClr val="FFFFFF"/>
              </a:solidFill>
              <a:uFillTx/>
              <a:latin typeface="微软雅黑" panose="020B0503020204020204" charset="-122"/>
              <a:ea typeface="微软雅黑" panose="020B0503020204020204" charset="-122"/>
              <a:cs typeface="+mn-ea"/>
              <a:sym typeface="+mn-ea"/>
            </a:endParaRPr>
          </a:p>
        </p:txBody>
      </p:sp>
      <p:sp>
        <p:nvSpPr>
          <p:cNvPr id="28" name="文本框 27"/>
          <p:cNvSpPr txBox="1"/>
          <p:nvPr/>
        </p:nvSpPr>
        <p:spPr>
          <a:xfrm>
            <a:off x="529590" y="3391535"/>
            <a:ext cx="3415665" cy="337185"/>
          </a:xfrm>
          <a:prstGeom prst="rect">
            <a:avLst/>
          </a:prstGeom>
          <a:noFill/>
        </p:spPr>
        <p:txBody>
          <a:bodyPr wrap="square" rtlCol="0" anchor="t">
            <a:spAutoFit/>
          </a:bodyPr>
          <a:p>
            <a:pPr algn="l">
              <a:spcBef>
                <a:spcPct val="0"/>
              </a:spcBef>
              <a:spcAft>
                <a:spcPct val="0"/>
              </a:spcAft>
            </a:pPr>
            <a:r>
              <a:rPr lang="zh-CN" altLang="en-US" sz="1600" b="1">
                <a:solidFill>
                  <a:srgbClr val="FFFFFF"/>
                </a:solidFill>
                <a:uFillTx/>
                <a:latin typeface="微软雅黑" panose="020B0503020204020204" charset="-122"/>
                <a:ea typeface="微软雅黑" panose="020B0503020204020204" charset="-122"/>
                <a:cs typeface="+mn-ea"/>
                <a:sym typeface="+mn-ea"/>
              </a:rPr>
              <a:t>与 17 个评测集结果的整体对</a:t>
            </a:r>
            <a:r>
              <a:rPr lang="zh-CN" altLang="en-US" sz="1600" b="1">
                <a:solidFill>
                  <a:srgbClr val="FFFFFF"/>
                </a:solidFill>
                <a:uFillTx/>
                <a:latin typeface="微软雅黑" panose="020B0503020204020204" charset="-122"/>
                <a:ea typeface="微软雅黑" panose="020B0503020204020204" charset="-122"/>
                <a:cs typeface="+mn-ea"/>
                <a:sym typeface="+mn-ea"/>
              </a:rPr>
              <a:t>齐</a:t>
            </a:r>
            <a:endParaRPr lang="zh-CN" altLang="en-US" sz="1600" b="1">
              <a:solidFill>
                <a:srgbClr val="FFFFFF"/>
              </a:solidFill>
              <a:uFillTx/>
              <a:latin typeface="微软雅黑" panose="020B0503020204020204" charset="-122"/>
              <a:ea typeface="微软雅黑" panose="020B0503020204020204" charset="-122"/>
              <a:cs typeface="+mn-ea"/>
              <a:sym typeface="+mn-ea"/>
            </a:endParaRPr>
          </a:p>
        </p:txBody>
      </p:sp>
      <p:sp>
        <p:nvSpPr>
          <p:cNvPr id="62" name="圆角矩形 61"/>
          <p:cNvSpPr/>
          <p:nvPr/>
        </p:nvSpPr>
        <p:spPr>
          <a:xfrm>
            <a:off x="379730" y="5027295"/>
            <a:ext cx="11405870" cy="1325245"/>
          </a:xfrm>
          <a:prstGeom prst="roundRect">
            <a:avLst>
              <a:gd name="adj" fmla="val 0"/>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标题"/>
          <p:cNvSpPr/>
          <p:nvPr>
            <p:custDataLst>
              <p:tags r:id="rId4"/>
            </p:custDataLst>
          </p:nvPr>
        </p:nvSpPr>
        <p:spPr>
          <a:xfrm>
            <a:off x="379730" y="4748530"/>
            <a:ext cx="4312285" cy="448310"/>
          </a:xfrm>
          <a:prstGeom prst="roundRect">
            <a:avLst>
              <a:gd name="adj" fmla="val 17400"/>
            </a:avLst>
          </a:prstGeom>
          <a:gradFill>
            <a:gsLst>
              <a:gs pos="50000">
                <a:schemeClr val="accent1"/>
              </a:gs>
              <a:gs pos="0">
                <a:schemeClr val="accent1">
                  <a:lumMod val="25000"/>
                  <a:lumOff val="75000"/>
                </a:schemeClr>
              </a:gs>
              <a:gs pos="100000">
                <a:schemeClr val="accent1">
                  <a:lumMod val="85000"/>
                </a:schemeClr>
              </a:gs>
            </a:gsLst>
            <a:lin ang="10800000" scaled="0"/>
          </a:gra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spcBef>
                <a:spcPct val="0"/>
              </a:spcBef>
              <a:spcAft>
                <a:spcPct val="0"/>
              </a:spcAft>
            </a:pPr>
            <a:endParaRPr lang="zh-CN" altLang="en-US" b="1">
              <a:solidFill>
                <a:srgbClr val="FFFFFF"/>
              </a:solidFill>
              <a:uFillTx/>
              <a:latin typeface="微软雅黑" panose="020B0503020204020204" charset="-122"/>
              <a:ea typeface="微软雅黑" panose="020B0503020204020204" charset="-122"/>
              <a:cs typeface="+mn-ea"/>
              <a:sym typeface="+mn-ea"/>
            </a:endParaRPr>
          </a:p>
        </p:txBody>
      </p:sp>
      <p:sp>
        <p:nvSpPr>
          <p:cNvPr id="35" name="文本框 34"/>
          <p:cNvSpPr txBox="1"/>
          <p:nvPr/>
        </p:nvSpPr>
        <p:spPr>
          <a:xfrm>
            <a:off x="460375" y="4808855"/>
            <a:ext cx="4254500" cy="337185"/>
          </a:xfrm>
          <a:prstGeom prst="rect">
            <a:avLst/>
          </a:prstGeom>
          <a:noFill/>
        </p:spPr>
        <p:txBody>
          <a:bodyPr wrap="square" rtlCol="0" anchor="t">
            <a:spAutoFit/>
          </a:bodyPr>
          <a:p>
            <a:pPr algn="ctr">
              <a:spcBef>
                <a:spcPct val="0"/>
              </a:spcBef>
              <a:spcAft>
                <a:spcPct val="0"/>
              </a:spcAft>
            </a:pPr>
            <a:r>
              <a:rPr lang="zh-CN" altLang="en-US" sz="1600" b="1">
                <a:solidFill>
                  <a:srgbClr val="FFFFFF"/>
                </a:solidFill>
                <a:uFillTx/>
                <a:latin typeface="微软雅黑" panose="020B0503020204020204" charset="-122"/>
                <a:ea typeface="微软雅黑" panose="020B0503020204020204" charset="-122"/>
                <a:cs typeface="+mn-ea"/>
                <a:sym typeface="+mn-ea"/>
              </a:rPr>
              <a:t>使</a:t>
            </a:r>
            <a:r>
              <a:rPr lang="zh-CN" altLang="en-US" sz="1600" b="1">
                <a:solidFill>
                  <a:srgbClr val="FFFFFF"/>
                </a:solidFill>
                <a:uFillTx/>
                <a:latin typeface="微软雅黑" panose="020B0503020204020204" charset="-122"/>
                <a:ea typeface="微软雅黑" panose="020B0503020204020204" charset="-122"/>
                <a:cs typeface="+mn-ea"/>
                <a:sym typeface="+mn-ea"/>
              </a:rPr>
              <a:t>用闭源模型</a:t>
            </a:r>
            <a:r>
              <a:rPr lang="en-US" altLang="zh-CN" sz="1600" b="1">
                <a:solidFill>
                  <a:srgbClr val="FFFFFF"/>
                </a:solidFill>
                <a:uFillTx/>
                <a:latin typeface="微软雅黑" panose="020B0503020204020204" charset="-122"/>
                <a:ea typeface="微软雅黑" panose="020B0503020204020204" charset="-122"/>
                <a:cs typeface="+mn-ea"/>
                <a:sym typeface="+mn-ea"/>
              </a:rPr>
              <a:t> </a:t>
            </a:r>
            <a:r>
              <a:rPr lang="zh-CN" altLang="en-US" sz="1600" b="1">
                <a:solidFill>
                  <a:srgbClr val="FFFFFF"/>
                </a:solidFill>
                <a:uFillTx/>
                <a:latin typeface="微软雅黑" panose="020B0503020204020204" charset="-122"/>
                <a:ea typeface="微软雅黑" panose="020B0503020204020204" charset="-122"/>
                <a:cs typeface="+mn-ea"/>
                <a:sym typeface="+mn-ea"/>
              </a:rPr>
              <a:t>做</a:t>
            </a:r>
            <a:r>
              <a:rPr lang="en-US" altLang="zh-CN" sz="1600" b="1">
                <a:solidFill>
                  <a:srgbClr val="FFFFFF"/>
                </a:solidFill>
                <a:uFillTx/>
                <a:latin typeface="微软雅黑" panose="020B0503020204020204" charset="-122"/>
                <a:ea typeface="微软雅黑" panose="020B0503020204020204" charset="-122"/>
                <a:cs typeface="+mn-ea"/>
                <a:sym typeface="+mn-ea"/>
              </a:rPr>
              <a:t>“</a:t>
            </a:r>
            <a:r>
              <a:rPr lang="zh-CN" altLang="en-US" sz="1600" b="1">
                <a:solidFill>
                  <a:srgbClr val="FFFFFF"/>
                </a:solidFill>
                <a:uFillTx/>
                <a:latin typeface="微软雅黑" panose="020B0503020204020204" charset="-122"/>
                <a:ea typeface="微软雅黑" panose="020B0503020204020204" charset="-122"/>
                <a:cs typeface="+mn-ea"/>
                <a:sym typeface="+mn-ea"/>
              </a:rPr>
              <a:t>数据打分</a:t>
            </a:r>
            <a:r>
              <a:rPr lang="en-US" altLang="zh-CN" sz="1600" b="1">
                <a:solidFill>
                  <a:srgbClr val="FFFFFF"/>
                </a:solidFill>
                <a:uFillTx/>
                <a:latin typeface="微软雅黑" panose="020B0503020204020204" charset="-122"/>
                <a:ea typeface="微软雅黑" panose="020B0503020204020204" charset="-122"/>
                <a:cs typeface="+mn-ea"/>
                <a:sym typeface="+mn-ea"/>
              </a:rPr>
              <a:t> &amp; </a:t>
            </a:r>
            <a:r>
              <a:rPr lang="zh-CN" altLang="en-US" sz="1600" b="1">
                <a:solidFill>
                  <a:srgbClr val="FFFFFF"/>
                </a:solidFill>
                <a:uFillTx/>
                <a:latin typeface="微软雅黑" panose="020B0503020204020204" charset="-122"/>
                <a:ea typeface="微软雅黑" panose="020B0503020204020204" charset="-122"/>
                <a:cs typeface="+mn-ea"/>
                <a:sym typeface="+mn-ea"/>
              </a:rPr>
              <a:t>偏好构造</a:t>
            </a:r>
            <a:r>
              <a:rPr lang="en-US" altLang="zh-CN" sz="1600" b="1">
                <a:solidFill>
                  <a:srgbClr val="FFFFFF"/>
                </a:solidFill>
                <a:uFillTx/>
                <a:latin typeface="微软雅黑" panose="020B0503020204020204" charset="-122"/>
                <a:ea typeface="微软雅黑" panose="020B0503020204020204" charset="-122"/>
                <a:cs typeface="+mn-ea"/>
                <a:sym typeface="+mn-ea"/>
              </a:rPr>
              <a:t>”</a:t>
            </a:r>
            <a:endParaRPr lang="en-US" altLang="zh-CN" sz="1600" b="1">
              <a:solidFill>
                <a:srgbClr val="FFFFFF"/>
              </a:solidFill>
              <a:uFillTx/>
              <a:latin typeface="微软雅黑" panose="020B0503020204020204" charset="-122"/>
              <a:ea typeface="微软雅黑" panose="020B0503020204020204" charset="-122"/>
              <a:cs typeface="+mn-ea"/>
              <a:sym typeface="+mn-ea"/>
            </a:endParaRPr>
          </a:p>
        </p:txBody>
      </p:sp>
      <p:sp>
        <p:nvSpPr>
          <p:cNvPr id="36" name="文本框 35"/>
          <p:cNvSpPr txBox="1"/>
          <p:nvPr/>
        </p:nvSpPr>
        <p:spPr>
          <a:xfrm>
            <a:off x="518160" y="5311140"/>
            <a:ext cx="11039475" cy="755015"/>
          </a:xfrm>
          <a:prstGeom prst="rect">
            <a:avLst/>
          </a:prstGeom>
          <a:noFill/>
        </p:spPr>
        <p:txBody>
          <a:bodyPr wrap="square" rtlCol="0" anchor="t">
            <a:spAutoFit/>
          </a:bodyPr>
          <a:p>
            <a:pPr marL="171450" indent="-171450" algn="just" eaLnBrk="1" latinLnBrk="0" hangingPunct="1">
              <a:lnSpc>
                <a:spcPct val="120000"/>
              </a:lnSpc>
              <a:buClrTx/>
              <a:buSzTx/>
              <a:buFont typeface="Arial" panose="020B0604020202020204" pitchFamily="34" charset="0"/>
              <a:buChar char="•"/>
            </a:pPr>
            <a:r>
              <a:rPr lang="zh-CN" altLang="en-US" sz="1200">
                <a:latin typeface="微软雅黑" panose="020B0503020204020204" charset="-122"/>
                <a:ea typeface="微软雅黑" panose="020B0503020204020204" charset="-122"/>
                <a:cs typeface="微软雅黑" panose="020B0503020204020204" charset="-122"/>
                <a:sym typeface="+mn-ea"/>
              </a:rPr>
              <a:t>因模型参数限制能力，训练数据阶段引入更强的闭源多模态大模型作裁判。对VG/LVIS等转出的`converted/*.jsonl`，用</a:t>
            </a:r>
            <a:r>
              <a:rPr lang="en-US" altLang="zh-CN" sz="1200">
                <a:latin typeface="微软雅黑" panose="020B0503020204020204" charset="-122"/>
                <a:ea typeface="微软雅黑" panose="020B0503020204020204" charset="-122"/>
                <a:cs typeface="微软雅黑" panose="020B0503020204020204" charset="-122"/>
                <a:sym typeface="+mn-ea"/>
              </a:rPr>
              <a:t>Qwen3-vl-plus-0923</a:t>
            </a:r>
            <a:r>
              <a:rPr lang="zh-CN" altLang="en-US" sz="1200">
                <a:latin typeface="微软雅黑" panose="020B0503020204020204" charset="-122"/>
                <a:ea typeface="微软雅黑" panose="020B0503020204020204" charset="-122"/>
                <a:cs typeface="微软雅黑" panose="020B0503020204020204" charset="-122"/>
                <a:sym typeface="+mn-ea"/>
              </a:rPr>
              <a:t>模型判断CoT自洽性与描述冗余度，筛除错误样本；在AI2-THOR多候选计划中，用Qwen3-VL做“好/坏”初筛。遵循“LLM-as-a-Judge”生成偏好数据、DPO对齐的套路，提升训练数据信噪比。因此，EmbSpatial等基准分数显著提升，归因于更干净一致的CoT/plan监督及DPO使用高质量偏好对。</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pic>
        <p:nvPicPr>
          <p:cNvPr id="37" name="图片 36"/>
          <p:cNvPicPr>
            <a:picLocks noChangeAspect="1"/>
          </p:cNvPicPr>
          <p:nvPr/>
        </p:nvPicPr>
        <p:blipFill>
          <a:blip r:embed="rId5"/>
          <a:stretch>
            <a:fillRect/>
          </a:stretch>
        </p:blipFill>
        <p:spPr>
          <a:xfrm>
            <a:off x="6909435" y="2063750"/>
            <a:ext cx="4648200" cy="933450"/>
          </a:xfrm>
          <a:prstGeom prst="rect">
            <a:avLst/>
          </a:prstGeom>
          <a:ln>
            <a:solidFill>
              <a:schemeClr val="accent1"/>
            </a:solidFill>
          </a:ln>
        </p:spPr>
      </p:pic>
      <p:sp>
        <p:nvSpPr>
          <p:cNvPr id="42" name="文本框 41"/>
          <p:cNvSpPr txBox="1"/>
          <p:nvPr/>
        </p:nvSpPr>
        <p:spPr>
          <a:xfrm>
            <a:off x="6837680" y="1639888"/>
            <a:ext cx="5080000" cy="337185"/>
          </a:xfrm>
          <a:prstGeom prst="rect">
            <a:avLst/>
          </a:prstGeom>
        </p:spPr>
        <p:txBody>
          <a:bodyPr>
            <a:spAutoFit/>
          </a:bodyPr>
          <a:p>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我们把这两种计划写成结构同构的 </a:t>
            </a: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JSON</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518160" y="3797935"/>
            <a:ext cx="10969625" cy="922020"/>
          </a:xfrm>
          <a:prstGeom prst="rect">
            <a:avLst/>
          </a:prstGeom>
          <a:noFill/>
        </p:spPr>
        <p:txBody>
          <a:bodyPr wrap="square" rtlCol="0" anchor="t">
            <a:spAutoFit/>
          </a:bodyPr>
          <a:p>
            <a:pPr marL="171450" indent="-171450" algn="just">
              <a:lnSpc>
                <a:spcPct val="150000"/>
              </a:lnSpc>
              <a:buFont typeface="Arial" panose="020B0604020202020204" pitchFamily="34" charset="0"/>
              <a:buChar char="•"/>
            </a:pPr>
            <a:r>
              <a:rPr lang="zh-CN" altLang="en-US" sz="1200">
                <a:latin typeface="微软雅黑" panose="020B0503020204020204" charset="-122"/>
                <a:ea typeface="微软雅黑" panose="020B0503020204020204" charset="-122"/>
                <a:cs typeface="微软雅黑" panose="020B0503020204020204" charset="-122"/>
              </a:rPr>
              <a:t>显著提升类（EmbSpatial-Bench等）：看重结构化空间推理或下一步规划，与CoT+高层模板+DPO方向一致；小幅涨/持平类（SAT等）：既考空间理解又含世界知识/逻辑，仅轻量增强，提升有限但稳定；下滑类（OmniSpatial系列等）：或需更长链、复杂视角转换，或需坐标/掩膜输出，当前未显式编码这些几何结构。</a:t>
            </a:r>
            <a:endParaRPr lang="zh-CN" altLang="en-US" sz="12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 name="Freeform 12"/>
          <p:cNvSpPr/>
          <p:nvPr>
            <p:custDataLst>
              <p:tags r:id="rId1"/>
            </p:custDataLst>
          </p:nvPr>
        </p:nvSpPr>
        <p:spPr bwMode="auto">
          <a:xfrm>
            <a:off x="904875" y="2473008"/>
            <a:ext cx="1779270" cy="885825"/>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1">
                  <a:lumMod val="20000"/>
                  <a:lumOff val="80000"/>
                  <a:alpha val="0"/>
                </a:schemeClr>
              </a:gs>
              <a:gs pos="65000">
                <a:schemeClr val="accent1">
                  <a:lumMod val="20000"/>
                  <a:lumOff val="80000"/>
                  <a:alpha val="48000"/>
                </a:schemeClr>
              </a:gs>
              <a:gs pos="100000">
                <a:schemeClr val="accent1">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63" name="Oval 16"/>
          <p:cNvSpPr>
            <a:spLocks noChangeArrowheads="1"/>
          </p:cNvSpPr>
          <p:nvPr>
            <p:custDataLst>
              <p:tags r:id="rId2"/>
            </p:custDataLst>
          </p:nvPr>
        </p:nvSpPr>
        <p:spPr bwMode="auto">
          <a:xfrm>
            <a:off x="1097280" y="1775778"/>
            <a:ext cx="1393825" cy="1393825"/>
          </a:xfrm>
          <a:prstGeom prst="ellipse">
            <a:avLst/>
          </a:prstGeom>
          <a:gradFill flip="none" rotWithShape="1">
            <a:gsLst>
              <a:gs pos="0">
                <a:schemeClr val="accent1">
                  <a:lumMod val="60000"/>
                  <a:lumOff val="40000"/>
                  <a:alpha val="100000"/>
                </a:schemeClr>
              </a:gs>
              <a:gs pos="70000">
                <a:schemeClr val="accent1">
                  <a:alpha val="100000"/>
                </a:schemeClr>
              </a:gs>
            </a:gsLst>
            <a:lin ang="5400000" scaled="1"/>
            <a:tileRect/>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spcBef>
                <a:spcPct val="0"/>
              </a:spcBef>
              <a:spcAft>
                <a:spcPct val="0"/>
              </a:spcAft>
            </a:pP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mn-ea"/>
              </a:rPr>
              <a:t>全参微调</a:t>
            </a:r>
            <a:endPar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64" name="矩形 63"/>
          <p:cNvSpPr/>
          <p:nvPr>
            <p:custDataLst>
              <p:tags r:id="rId3"/>
            </p:custDataLst>
          </p:nvPr>
        </p:nvSpPr>
        <p:spPr>
          <a:xfrm>
            <a:off x="826135" y="3614103"/>
            <a:ext cx="1936750" cy="2894965"/>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核心配置包括：</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个</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epoch</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32</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有效批大小的训练，学习率定为</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2e-5</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并采用</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Cosine</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衰减，开启</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DeepSpeed ZeRO-2</a:t>
            </a:r>
            <a:endPar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5" name="Oval 18"/>
          <p:cNvSpPr>
            <a:spLocks noChangeArrowheads="1"/>
          </p:cNvSpPr>
          <p:nvPr>
            <p:custDataLst>
              <p:tags r:id="rId4"/>
            </p:custDataLst>
          </p:nvPr>
        </p:nvSpPr>
        <p:spPr bwMode="auto">
          <a:xfrm>
            <a:off x="1726565" y="3276283"/>
            <a:ext cx="135890" cy="134620"/>
          </a:xfrm>
          <a:prstGeom prst="ellipse">
            <a:avLst/>
          </a:prstGeom>
          <a:gradFill>
            <a:gsLst>
              <a:gs pos="0">
                <a:schemeClr val="accent1">
                  <a:alpha val="100000"/>
                </a:schemeClr>
              </a:gs>
              <a:gs pos="100000">
                <a:schemeClr val="accent1">
                  <a:lumMod val="80000"/>
                  <a:lumOff val="20000"/>
                  <a:alpha val="100000"/>
                </a:schemeClr>
              </a:gs>
            </a:gsLst>
            <a:path path="circle">
              <a:fillToRect l="50000" t="50000" r="50000" b="50000"/>
            </a:path>
            <a:tileRect/>
          </a:gradFill>
          <a:ln w="9525" cap="flat">
            <a:gradFill>
              <a:gsLst>
                <a:gs pos="0">
                  <a:srgbClr val="FFFFFF"/>
                </a:gs>
                <a:gs pos="53000">
                  <a:srgbClr val="FFFFFF">
                    <a:alpha val="0"/>
                  </a:srgbClr>
                </a:gs>
              </a:gsLst>
              <a:lin ang="16200000" scaled="0"/>
            </a:gradFill>
            <a:prstDash val="solid"/>
            <a:miter/>
          </a:ln>
          <a:effectLst>
            <a:outerShdw blurRad="342900" sx="102000" sy="102000" algn="ctr" rotWithShape="0">
              <a:schemeClr val="accent1">
                <a:alpha val="40000"/>
              </a:schemeClr>
            </a:outerShdw>
          </a:effectLst>
        </p:spPr>
        <p:txBody>
          <a:bodyPr rot="0" spcFirstLastPara="0" vertOverflow="overflow" horzOverflow="overflow" vert="horz" wrap="square" lIns="431800" tIns="647700" rIns="431800" bIns="288290" numCol="1" spcCol="0" rtlCol="0" fromWordArt="0" anchor="ctr" anchorCtr="0" forceAA="0" compatLnSpc="1">
            <a:normAutofit fontScale="25000" lnSpcReduction="20000"/>
          </a:bodyPr>
          <a:p>
            <a:pPr algn="ctr"/>
            <a:endParaRPr lang="en-US" b="1" spc="130">
              <a:solidFill>
                <a:schemeClr val="tx1"/>
              </a:solidFill>
              <a:latin typeface="+中文标题" charset="0"/>
              <a:ea typeface="+mj-ea"/>
              <a:cs typeface="+mj-ea"/>
            </a:endParaRPr>
          </a:p>
        </p:txBody>
      </p:sp>
      <p:sp>
        <p:nvSpPr>
          <p:cNvPr id="194" name="Freeform 12"/>
          <p:cNvSpPr/>
          <p:nvPr>
            <p:custDataLst>
              <p:tags r:id="rId5"/>
            </p:custDataLst>
          </p:nvPr>
        </p:nvSpPr>
        <p:spPr bwMode="auto">
          <a:xfrm>
            <a:off x="3122930" y="2473008"/>
            <a:ext cx="1779270" cy="885825"/>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2">
                  <a:lumMod val="20000"/>
                  <a:lumOff val="80000"/>
                  <a:alpha val="0"/>
                </a:schemeClr>
              </a:gs>
              <a:gs pos="65000">
                <a:schemeClr val="accent2">
                  <a:lumMod val="20000"/>
                  <a:lumOff val="80000"/>
                  <a:alpha val="48000"/>
                </a:schemeClr>
              </a:gs>
              <a:gs pos="100000">
                <a:schemeClr val="accent2">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195" name="Oval 16"/>
          <p:cNvSpPr>
            <a:spLocks noChangeArrowheads="1"/>
          </p:cNvSpPr>
          <p:nvPr>
            <p:custDataLst>
              <p:tags r:id="rId6"/>
            </p:custDataLst>
          </p:nvPr>
        </p:nvSpPr>
        <p:spPr bwMode="auto">
          <a:xfrm>
            <a:off x="3315970" y="1775778"/>
            <a:ext cx="1393825" cy="1393825"/>
          </a:xfrm>
          <a:prstGeom prst="ellipse">
            <a:avLst/>
          </a:prstGeom>
          <a:gradFill flip="none" rotWithShape="1">
            <a:gsLst>
              <a:gs pos="0">
                <a:schemeClr val="accent2">
                  <a:lumMod val="60000"/>
                  <a:lumOff val="40000"/>
                  <a:alpha val="100000"/>
                </a:schemeClr>
              </a:gs>
              <a:gs pos="70000">
                <a:schemeClr val="accent2">
                  <a:alpha val="100000"/>
                </a:schemeClr>
              </a:gs>
            </a:gsLst>
            <a:lin ang="5400000" scaled="1"/>
            <a:tileRect/>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spcBef>
                <a:spcPct val="0"/>
              </a:spcBef>
              <a:spcAft>
                <a:spcPct val="0"/>
              </a:spcAft>
            </a:pPr>
            <a:r>
              <a:rPr lang="zh-CN" altLang="en-US" sz="1400" b="1">
                <a:solidFill>
                  <a:srgbClr val="FFFFFF"/>
                </a:solidFill>
                <a:latin typeface="微软雅黑" panose="020B0503020204020204" charset="-122"/>
                <a:ea typeface="微软雅黑" panose="020B0503020204020204" charset="-122"/>
                <a:cs typeface="+mn-ea"/>
                <a:sym typeface="+mn-ea"/>
              </a:rPr>
              <a:t>注意</a:t>
            </a:r>
            <a:r>
              <a:rPr lang="zh-CN" altLang="en-US" sz="1400" b="1">
                <a:solidFill>
                  <a:srgbClr val="FFFFFF"/>
                </a:solidFill>
                <a:latin typeface="微软雅黑" panose="020B0503020204020204" charset="-122"/>
                <a:ea typeface="微软雅黑" panose="020B0503020204020204" charset="-122"/>
                <a:cs typeface="+mn-ea"/>
                <a:sym typeface="+mn-ea"/>
              </a:rPr>
              <a:t>力加速</a:t>
            </a:r>
            <a:endParaRPr lang="zh-CN" altLang="en-US" sz="1400" b="1">
              <a:solidFill>
                <a:srgbClr val="FFFFFF"/>
              </a:solidFill>
              <a:latin typeface="微软雅黑" panose="020B0503020204020204" charset="-122"/>
              <a:ea typeface="微软雅黑" panose="020B0503020204020204" charset="-122"/>
              <a:cs typeface="+mn-ea"/>
              <a:sym typeface="+mn-ea"/>
            </a:endParaRPr>
          </a:p>
        </p:txBody>
      </p:sp>
      <p:sp>
        <p:nvSpPr>
          <p:cNvPr id="66" name="矩形 65"/>
          <p:cNvSpPr/>
          <p:nvPr>
            <p:custDataLst>
              <p:tags r:id="rId7"/>
            </p:custDataLst>
          </p:nvPr>
        </p:nvSpPr>
        <p:spPr>
          <a:xfrm>
            <a:off x="3044190" y="3614103"/>
            <a:ext cx="1936750" cy="2894965"/>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启用</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FlashAttention2</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，通过</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IO-aware tile</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方式减少</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HBM</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访问，提升长序列训练的吞吐效率。</a:t>
            </a:r>
            <a:endPar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7" name="Oval 18"/>
          <p:cNvSpPr>
            <a:spLocks noChangeArrowheads="1"/>
          </p:cNvSpPr>
          <p:nvPr>
            <p:custDataLst>
              <p:tags r:id="rId8"/>
            </p:custDataLst>
          </p:nvPr>
        </p:nvSpPr>
        <p:spPr bwMode="auto">
          <a:xfrm>
            <a:off x="3944620" y="3276283"/>
            <a:ext cx="135890" cy="134620"/>
          </a:xfrm>
          <a:prstGeom prst="ellipse">
            <a:avLst/>
          </a:prstGeom>
          <a:gradFill flip="none" rotWithShape="1">
            <a:gsLst>
              <a:gs pos="0">
                <a:schemeClr val="accent2">
                  <a:lumMod val="60000"/>
                  <a:lumOff val="40000"/>
                  <a:alpha val="100000"/>
                </a:schemeClr>
              </a:gs>
              <a:gs pos="70000">
                <a:schemeClr val="accent2">
                  <a:alpha val="100000"/>
                </a:schemeClr>
              </a:gs>
            </a:gsLst>
            <a:lin ang="5400000" scaled="1"/>
            <a:tileRect/>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25000" lnSpcReduction="20000"/>
          </a:bodyPr>
          <a:p>
            <a:pPr algn="ctr" defTabSz="913765"/>
            <a:endParaRPr lang="en-US" sz="2000" b="1">
              <a:solidFill>
                <a:schemeClr val="bg1"/>
              </a:solidFill>
            </a:endParaRPr>
          </a:p>
        </p:txBody>
      </p:sp>
      <p:sp>
        <p:nvSpPr>
          <p:cNvPr id="68" name="Freeform 12"/>
          <p:cNvSpPr/>
          <p:nvPr>
            <p:custDataLst>
              <p:tags r:id="rId9"/>
            </p:custDataLst>
          </p:nvPr>
        </p:nvSpPr>
        <p:spPr bwMode="auto">
          <a:xfrm>
            <a:off x="5341620" y="2473008"/>
            <a:ext cx="1779270" cy="885825"/>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1">
                  <a:lumMod val="20000"/>
                  <a:lumOff val="80000"/>
                  <a:alpha val="0"/>
                </a:schemeClr>
              </a:gs>
              <a:gs pos="65000">
                <a:schemeClr val="accent1">
                  <a:lumMod val="20000"/>
                  <a:lumOff val="80000"/>
                  <a:alpha val="48000"/>
                </a:schemeClr>
              </a:gs>
              <a:gs pos="100000">
                <a:schemeClr val="accent1">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69" name="Oval 16"/>
          <p:cNvSpPr>
            <a:spLocks noChangeArrowheads="1"/>
          </p:cNvSpPr>
          <p:nvPr>
            <p:custDataLst>
              <p:tags r:id="rId10"/>
            </p:custDataLst>
          </p:nvPr>
        </p:nvSpPr>
        <p:spPr bwMode="auto">
          <a:xfrm>
            <a:off x="5534025" y="1775778"/>
            <a:ext cx="1393825" cy="1393825"/>
          </a:xfrm>
          <a:prstGeom prst="ellipse">
            <a:avLst/>
          </a:prstGeom>
          <a:gradFill flip="none" rotWithShape="1">
            <a:gsLst>
              <a:gs pos="0">
                <a:schemeClr val="accent1">
                  <a:lumMod val="60000"/>
                  <a:lumOff val="40000"/>
                  <a:alpha val="100000"/>
                </a:schemeClr>
              </a:gs>
              <a:gs pos="70000">
                <a:schemeClr val="accent1">
                  <a:alpha val="100000"/>
                </a:schemeClr>
              </a:gs>
            </a:gsLst>
            <a:lin ang="5400000" scaled="1"/>
            <a:tileRect/>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spcBef>
                <a:spcPct val="0"/>
              </a:spcBef>
              <a:spcAft>
                <a:spcPct val="0"/>
              </a:spcAft>
            </a:pPr>
            <a:r>
              <a:rPr lang="zh-CN" altLang="en-US" sz="1400" b="1">
                <a:solidFill>
                  <a:srgbClr val="FFFFFF"/>
                </a:solidFill>
                <a:latin typeface="微软雅黑" panose="020B0503020204020204" charset="-122"/>
                <a:ea typeface="微软雅黑" panose="020B0503020204020204" charset="-122"/>
                <a:cs typeface="+mn-ea"/>
                <a:sym typeface="+mn-ea"/>
              </a:rPr>
              <a:t>仿真与偏好样本</a:t>
            </a:r>
            <a:endParaRPr lang="zh-CN" altLang="en-US" sz="1400" b="1">
              <a:solidFill>
                <a:srgbClr val="FFFFFF"/>
              </a:solidFill>
              <a:latin typeface="微软雅黑" panose="020B0503020204020204" charset="-122"/>
              <a:ea typeface="微软雅黑" panose="020B0503020204020204" charset="-122"/>
              <a:cs typeface="+mn-ea"/>
              <a:sym typeface="+mn-ea"/>
            </a:endParaRPr>
          </a:p>
        </p:txBody>
      </p:sp>
      <p:sp>
        <p:nvSpPr>
          <p:cNvPr id="70" name="矩形 69"/>
          <p:cNvSpPr/>
          <p:nvPr>
            <p:custDataLst>
              <p:tags r:id="rId11"/>
            </p:custDataLst>
          </p:nvPr>
        </p:nvSpPr>
        <p:spPr>
          <a:xfrm>
            <a:off x="5262880" y="3614103"/>
            <a:ext cx="1936750" cy="289496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AI2‐THOR</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（动作</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Event </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元数据</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轨迹）。</a:t>
            </a:r>
            <a:endPar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1" name="Oval 18"/>
          <p:cNvSpPr>
            <a:spLocks noChangeArrowheads="1"/>
          </p:cNvSpPr>
          <p:nvPr>
            <p:custDataLst>
              <p:tags r:id="rId12"/>
            </p:custDataLst>
          </p:nvPr>
        </p:nvSpPr>
        <p:spPr bwMode="auto">
          <a:xfrm>
            <a:off x="6163310" y="3276283"/>
            <a:ext cx="135890" cy="134620"/>
          </a:xfrm>
          <a:prstGeom prst="ellipse">
            <a:avLst/>
          </a:prstGeom>
          <a:gradFill>
            <a:gsLst>
              <a:gs pos="0">
                <a:schemeClr val="accent1">
                  <a:alpha val="100000"/>
                </a:schemeClr>
              </a:gs>
              <a:gs pos="100000">
                <a:schemeClr val="accent1">
                  <a:lumMod val="80000"/>
                  <a:lumOff val="20000"/>
                  <a:alpha val="100000"/>
                </a:schemeClr>
              </a:gs>
            </a:gsLst>
            <a:path path="circle">
              <a:fillToRect l="50000" t="50000" r="50000" b="50000"/>
            </a:path>
            <a:tileRect/>
          </a:gradFill>
          <a:ln w="9525" cap="flat">
            <a:gradFill>
              <a:gsLst>
                <a:gs pos="0">
                  <a:srgbClr val="FFFFFF"/>
                </a:gs>
                <a:gs pos="53000">
                  <a:srgbClr val="FFFFFF">
                    <a:alpha val="0"/>
                  </a:srgbClr>
                </a:gs>
              </a:gsLst>
              <a:lin ang="16200000" scaled="0"/>
            </a:gradFill>
            <a:prstDash val="solid"/>
            <a:miter/>
          </a:ln>
          <a:effectLst>
            <a:outerShdw blurRad="342900" sx="102000" sy="102000" algn="ctr" rotWithShape="0">
              <a:schemeClr val="accent1">
                <a:alpha val="40000"/>
              </a:schemeClr>
            </a:outerShdw>
          </a:effectLst>
        </p:spPr>
        <p:txBody>
          <a:bodyPr rot="0" spcFirstLastPara="0" vertOverflow="overflow" horzOverflow="overflow" vert="horz" wrap="square" lIns="431800" tIns="647700" rIns="431800" bIns="288290" numCol="1" spcCol="0" rtlCol="0" fromWordArt="0" anchor="ctr" anchorCtr="0" forceAA="0" compatLnSpc="1">
            <a:normAutofit fontScale="25000" lnSpcReduction="20000"/>
          </a:bodyPr>
          <a:p>
            <a:pPr algn="ctr"/>
            <a:endParaRPr lang="en-US" b="1" spc="130">
              <a:solidFill>
                <a:schemeClr val="tx1"/>
              </a:solidFill>
              <a:latin typeface="+中文标题" charset="0"/>
              <a:ea typeface="+mj-ea"/>
              <a:cs typeface="+mj-ea"/>
            </a:endParaRPr>
          </a:p>
        </p:txBody>
      </p:sp>
      <p:sp>
        <p:nvSpPr>
          <p:cNvPr id="72" name="Freeform 12"/>
          <p:cNvSpPr/>
          <p:nvPr>
            <p:custDataLst>
              <p:tags r:id="rId13"/>
            </p:custDataLst>
          </p:nvPr>
        </p:nvSpPr>
        <p:spPr bwMode="auto">
          <a:xfrm>
            <a:off x="7559675" y="2473008"/>
            <a:ext cx="1779270" cy="885825"/>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2">
                  <a:lumMod val="20000"/>
                  <a:lumOff val="80000"/>
                  <a:alpha val="0"/>
                </a:schemeClr>
              </a:gs>
              <a:gs pos="65000">
                <a:schemeClr val="accent2">
                  <a:lumMod val="20000"/>
                  <a:lumOff val="80000"/>
                  <a:alpha val="48000"/>
                </a:schemeClr>
              </a:gs>
              <a:gs pos="100000">
                <a:schemeClr val="accent2">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73" name="Oval 16"/>
          <p:cNvSpPr>
            <a:spLocks noChangeArrowheads="1"/>
          </p:cNvSpPr>
          <p:nvPr>
            <p:custDataLst>
              <p:tags r:id="rId14"/>
            </p:custDataLst>
          </p:nvPr>
        </p:nvSpPr>
        <p:spPr bwMode="auto">
          <a:xfrm>
            <a:off x="7752715" y="1775778"/>
            <a:ext cx="1393825" cy="1393825"/>
          </a:xfrm>
          <a:prstGeom prst="ellipse">
            <a:avLst/>
          </a:prstGeom>
          <a:gradFill flip="none" rotWithShape="1">
            <a:gsLst>
              <a:gs pos="0">
                <a:schemeClr val="accent2">
                  <a:lumMod val="60000"/>
                  <a:lumOff val="40000"/>
                  <a:alpha val="100000"/>
                </a:schemeClr>
              </a:gs>
              <a:gs pos="70000">
                <a:schemeClr val="accent2">
                  <a:alpha val="100000"/>
                </a:schemeClr>
              </a:gs>
            </a:gsLst>
            <a:lin ang="5400000" scaled="1"/>
            <a:tileRect/>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spcBef>
                <a:spcPct val="0"/>
              </a:spcBef>
              <a:spcAft>
                <a:spcPct val="0"/>
              </a:spcAft>
            </a:pP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mn-ea"/>
              </a:rPr>
              <a:t>在线</a:t>
            </a:r>
            <a:r>
              <a:rPr lang="en-US" altLang="zh-CN" sz="1400" b="1">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mn-ea"/>
              </a:rPr>
              <a:t>离线评测与服务</a:t>
            </a:r>
            <a:endPar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74" name="矩形 73"/>
          <p:cNvSpPr/>
          <p:nvPr>
            <p:custDataLst>
              <p:tags r:id="rId15"/>
            </p:custDataLst>
          </p:nvPr>
        </p:nvSpPr>
        <p:spPr>
          <a:xfrm>
            <a:off x="7480935" y="3614103"/>
            <a:ext cx="1936750" cy="2894965"/>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本地自测使用</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FlagEvalMM vllm server ,</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便于和</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在线</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FlagEval EmbodiedVerse</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评测平台等统</a:t>
            </a:r>
            <a:r>
              <a:rPr lang="en-US"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评测标准</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5" name="Oval 18"/>
          <p:cNvSpPr>
            <a:spLocks noChangeArrowheads="1"/>
          </p:cNvSpPr>
          <p:nvPr>
            <p:custDataLst>
              <p:tags r:id="rId16"/>
            </p:custDataLst>
          </p:nvPr>
        </p:nvSpPr>
        <p:spPr bwMode="auto">
          <a:xfrm>
            <a:off x="8381365" y="3276283"/>
            <a:ext cx="135890" cy="134620"/>
          </a:xfrm>
          <a:prstGeom prst="ellipse">
            <a:avLst/>
          </a:prstGeom>
          <a:gradFill flip="none" rotWithShape="1">
            <a:gsLst>
              <a:gs pos="0">
                <a:schemeClr val="accent2">
                  <a:lumMod val="60000"/>
                  <a:lumOff val="40000"/>
                  <a:alpha val="100000"/>
                </a:schemeClr>
              </a:gs>
              <a:gs pos="70000">
                <a:schemeClr val="accent2">
                  <a:alpha val="100000"/>
                </a:schemeClr>
              </a:gs>
            </a:gsLst>
            <a:lin ang="5400000" scaled="1"/>
            <a:tileRect/>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25000" lnSpcReduction="20000"/>
          </a:bodyPr>
          <a:p>
            <a:pPr algn="ctr" defTabSz="913765"/>
            <a:endParaRPr lang="en-US" sz="2000" b="1">
              <a:solidFill>
                <a:schemeClr val="bg1"/>
              </a:solidFill>
            </a:endParaRPr>
          </a:p>
        </p:txBody>
      </p:sp>
      <p:sp>
        <p:nvSpPr>
          <p:cNvPr id="76" name="Freeform 12"/>
          <p:cNvSpPr/>
          <p:nvPr>
            <p:custDataLst>
              <p:tags r:id="rId17"/>
            </p:custDataLst>
          </p:nvPr>
        </p:nvSpPr>
        <p:spPr bwMode="auto">
          <a:xfrm>
            <a:off x="9778365" y="2473008"/>
            <a:ext cx="1779270" cy="885825"/>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gradFill flip="none" rotWithShape="1">
            <a:gsLst>
              <a:gs pos="0">
                <a:schemeClr val="accent1">
                  <a:lumMod val="20000"/>
                  <a:lumOff val="80000"/>
                  <a:alpha val="0"/>
                </a:schemeClr>
              </a:gs>
              <a:gs pos="65000">
                <a:schemeClr val="accent1">
                  <a:lumMod val="20000"/>
                  <a:lumOff val="80000"/>
                  <a:alpha val="48000"/>
                </a:schemeClr>
              </a:gs>
              <a:gs pos="100000">
                <a:schemeClr val="accent1">
                  <a:lumMod val="20000"/>
                  <a:lumOff val="80000"/>
                  <a:alpha val="87000"/>
                </a:schemeClr>
              </a:gs>
            </a:gsLst>
            <a:lin ang="54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en-US">
              <a:solidFill>
                <a:schemeClr val="dk1"/>
              </a:solidFill>
            </a:endParaRPr>
          </a:p>
        </p:txBody>
      </p:sp>
      <p:sp>
        <p:nvSpPr>
          <p:cNvPr id="77" name="Oval 16"/>
          <p:cNvSpPr>
            <a:spLocks noChangeArrowheads="1"/>
          </p:cNvSpPr>
          <p:nvPr>
            <p:custDataLst>
              <p:tags r:id="rId18"/>
            </p:custDataLst>
          </p:nvPr>
        </p:nvSpPr>
        <p:spPr bwMode="auto">
          <a:xfrm>
            <a:off x="9970770" y="1775778"/>
            <a:ext cx="1393825" cy="1393825"/>
          </a:xfrm>
          <a:prstGeom prst="ellipse">
            <a:avLst/>
          </a:prstGeom>
          <a:gradFill flip="none" rotWithShape="1">
            <a:gsLst>
              <a:gs pos="0">
                <a:schemeClr val="accent1">
                  <a:lumMod val="60000"/>
                  <a:lumOff val="40000"/>
                  <a:alpha val="100000"/>
                </a:schemeClr>
              </a:gs>
              <a:gs pos="70000">
                <a:schemeClr val="accent1">
                  <a:alpha val="100000"/>
                </a:schemeClr>
              </a:gs>
            </a:gsLst>
            <a:lin ang="5400000" scaled="1"/>
            <a:tileRect/>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spcBef>
                <a:spcPct val="0"/>
              </a:spcBef>
              <a:spcAft>
                <a:spcPct val="0"/>
              </a:spcAft>
            </a:pPr>
            <a:r>
              <a:rPr lang="zh-CN" altLang="en-US" sz="1400" b="1">
                <a:solidFill>
                  <a:srgbClr val="FFFFFF"/>
                </a:solidFill>
                <a:latin typeface="微软雅黑" panose="020B0503020204020204" charset="-122"/>
                <a:ea typeface="微软雅黑" panose="020B0503020204020204" charset="-122"/>
                <a:cs typeface="+mn-ea"/>
                <a:sym typeface="+mn-ea"/>
              </a:rPr>
              <a:t>模型约束</a:t>
            </a:r>
            <a:endParaRPr lang="zh-CN" altLang="en-US" sz="1400" b="1">
              <a:solidFill>
                <a:srgbClr val="FFFFFF"/>
              </a:solidFill>
              <a:latin typeface="微软雅黑" panose="020B0503020204020204" charset="-122"/>
              <a:ea typeface="微软雅黑" panose="020B0503020204020204" charset="-122"/>
              <a:cs typeface="+mn-ea"/>
              <a:sym typeface="+mn-ea"/>
            </a:endParaRPr>
          </a:p>
        </p:txBody>
      </p:sp>
      <p:sp>
        <p:nvSpPr>
          <p:cNvPr id="78" name="矩形 77"/>
          <p:cNvSpPr/>
          <p:nvPr>
            <p:custDataLst>
              <p:tags r:id="rId19"/>
            </p:custDataLst>
          </p:nvPr>
        </p:nvSpPr>
        <p:spPr>
          <a:xfrm>
            <a:off x="9699625" y="3614103"/>
            <a:ext cx="1936750" cy="2894965"/>
          </a:xfrm>
          <a:prstGeom prst="rect">
            <a:avLst/>
          </a:prstGeom>
          <a:noFill/>
        </p:spPr>
        <p:txBody>
          <a:bodyPr wrap="square" lIns="0" tIns="0" rIns="0" bIns="0" rtlCol="0" anchor="t" anchorCtr="0">
            <a:noAutofit/>
          </a:bodyPr>
          <a:p>
            <a:pPr algn="just" latinLnBrk="1">
              <a:lnSpc>
                <a:spcPct val="150000"/>
              </a:lnSpc>
              <a:spcBef>
                <a:spcPct val="0"/>
              </a:spcBef>
              <a:spcAft>
                <a:spcPct val="0"/>
              </a:spcAft>
            </a:pP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Qwen </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系列多模态前处理与视觉编码器遵循官</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方配置（分辨率裁剪、</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patch/temporal patch </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等），避免与</a:t>
            </a:r>
            <a:r>
              <a:rPr lang="en-US" altLang="zh-CN"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tokenizer/</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位置编码不</a:t>
            </a:r>
            <a:r>
              <a:rPr lang="en-US"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致。</a:t>
            </a:r>
            <a:endParaRPr lang="zh-CN" altLang="en-US" sz="1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9" name="Oval 18"/>
          <p:cNvSpPr>
            <a:spLocks noChangeArrowheads="1"/>
          </p:cNvSpPr>
          <p:nvPr>
            <p:custDataLst>
              <p:tags r:id="rId20"/>
            </p:custDataLst>
          </p:nvPr>
        </p:nvSpPr>
        <p:spPr bwMode="auto">
          <a:xfrm>
            <a:off x="10600055" y="3276283"/>
            <a:ext cx="135890" cy="134620"/>
          </a:xfrm>
          <a:prstGeom prst="ellipse">
            <a:avLst/>
          </a:prstGeom>
          <a:gradFill>
            <a:gsLst>
              <a:gs pos="0">
                <a:schemeClr val="accent1">
                  <a:alpha val="100000"/>
                </a:schemeClr>
              </a:gs>
              <a:gs pos="100000">
                <a:schemeClr val="accent1">
                  <a:lumMod val="80000"/>
                  <a:lumOff val="20000"/>
                  <a:alpha val="100000"/>
                </a:schemeClr>
              </a:gs>
            </a:gsLst>
            <a:path path="circle">
              <a:fillToRect l="50000" t="50000" r="50000" b="50000"/>
            </a:path>
            <a:tileRect/>
          </a:gradFill>
          <a:ln w="9525" cap="flat">
            <a:gradFill>
              <a:gsLst>
                <a:gs pos="0">
                  <a:srgbClr val="FFFFFF"/>
                </a:gs>
                <a:gs pos="53000">
                  <a:srgbClr val="FFFFFF">
                    <a:alpha val="0"/>
                  </a:srgbClr>
                </a:gs>
              </a:gsLst>
              <a:lin ang="16200000" scaled="0"/>
            </a:gradFill>
            <a:prstDash val="solid"/>
            <a:miter/>
          </a:ln>
          <a:effectLst>
            <a:outerShdw blurRad="342900" sx="102000" sy="102000" algn="ctr" rotWithShape="0">
              <a:schemeClr val="accent1">
                <a:alpha val="40000"/>
              </a:schemeClr>
            </a:outerShdw>
          </a:effectLst>
        </p:spPr>
        <p:txBody>
          <a:bodyPr rot="0" spcFirstLastPara="0" vertOverflow="overflow" horzOverflow="overflow" vert="horz" wrap="square" lIns="431800" tIns="647700" rIns="431800" bIns="288290" numCol="1" spcCol="0" rtlCol="0" fromWordArt="0" anchor="ctr" anchorCtr="0" forceAA="0" compatLnSpc="1">
            <a:normAutofit fontScale="25000" lnSpcReduction="20000"/>
          </a:bodyPr>
          <a:p>
            <a:pPr algn="ctr"/>
            <a:endParaRPr lang="en-US" b="1" spc="130">
              <a:solidFill>
                <a:schemeClr val="tx1"/>
              </a:solidFill>
              <a:latin typeface="+中文标题" charset="0"/>
              <a:ea typeface="+mj-ea"/>
              <a:cs typeface="+mj-ea"/>
            </a:endParaRPr>
          </a:p>
        </p:txBody>
      </p:sp>
      <p:grpSp>
        <p:nvGrpSpPr>
          <p:cNvPr id="80" name="组合 79"/>
          <p:cNvGrpSpPr/>
          <p:nvPr/>
        </p:nvGrpSpPr>
        <p:grpSpPr>
          <a:xfrm>
            <a:off x="-74930" y="0"/>
            <a:ext cx="12266930" cy="1099820"/>
            <a:chOff x="-118" y="0"/>
            <a:chExt cx="19318" cy="1732"/>
          </a:xfrm>
        </p:grpSpPr>
        <p:sp>
          <p:nvSpPr>
            <p:cNvPr id="81"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82" name="矩形 81"/>
            <p:cNvSpPr/>
            <p:nvPr/>
          </p:nvSpPr>
          <p:spPr>
            <a:xfrm>
              <a:off x="13534" y="0"/>
              <a:ext cx="2445" cy="1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83" name="TextBox 6"/>
            <p:cNvSpPr txBox="1"/>
            <p:nvPr/>
          </p:nvSpPr>
          <p:spPr>
            <a:xfrm>
              <a:off x="3600" y="332"/>
              <a:ext cx="2419"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84" name="直接连接符 83"/>
            <p:cNvCxnSpPr/>
            <p:nvPr/>
          </p:nvCxnSpPr>
          <p:spPr>
            <a:xfrm>
              <a:off x="853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5" name="TextBox 7"/>
            <p:cNvSpPr txBox="1"/>
            <p:nvPr/>
          </p:nvSpPr>
          <p:spPr>
            <a:xfrm>
              <a:off x="6213" y="343"/>
              <a:ext cx="2323" cy="1118"/>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86" name="直接连接符 85"/>
            <p:cNvCxnSpPr/>
            <p:nvPr/>
          </p:nvCxnSpPr>
          <p:spPr>
            <a:xfrm>
              <a:off x="1103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7" name="TextBox 7"/>
            <p:cNvSpPr txBox="1"/>
            <p:nvPr/>
          </p:nvSpPr>
          <p:spPr>
            <a:xfrm>
              <a:off x="8633" y="332"/>
              <a:ext cx="2323" cy="634"/>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88" name="直接连接符 87"/>
            <p:cNvCxnSpPr/>
            <p:nvPr/>
          </p:nvCxnSpPr>
          <p:spPr>
            <a:xfrm>
              <a:off x="1352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9" name="TextBox 7"/>
            <p:cNvSpPr txBox="1"/>
            <p:nvPr/>
          </p:nvSpPr>
          <p:spPr>
            <a:xfrm>
              <a:off x="11117" y="128"/>
              <a:ext cx="2323" cy="1604"/>
            </a:xfrm>
            <a:prstGeom prst="rect">
              <a:avLst/>
            </a:prstGeom>
            <a:noFill/>
          </p:spPr>
          <p:txBody>
            <a:bodyPr wrap="square" lIns="0" tIns="48000" rIns="0" bIns="48000" rtlCol="0">
              <a:spAutoFit/>
            </a:bodyPr>
            <a:p>
              <a:pPr algn="ctr"/>
              <a:r>
                <a:rPr lang="en-US" altLang="zh-CN" sz="2000" b="1" dirty="0">
                  <a:solidFill>
                    <a:schemeClr val="tx1">
                      <a:lumMod val="50000"/>
                      <a:lumOff val="50000"/>
                    </a:schemeClr>
                  </a:solidFill>
                  <a:latin typeface="微软雅黑" panose="020B0503020204020204" charset="-122"/>
                  <a:ea typeface="微软雅黑" panose="020B0503020204020204" charset="-122"/>
                </a:rPr>
                <a:t>关键技术点 &amp; 创新</a:t>
              </a: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a:p>
              <a:pPr algn="ct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0" name="直接连接符 89"/>
            <p:cNvCxnSpPr/>
            <p:nvPr/>
          </p:nvCxnSpPr>
          <p:spPr>
            <a:xfrm>
              <a:off x="1602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1" name="TextBox 7"/>
            <p:cNvSpPr txBox="1"/>
            <p:nvPr/>
          </p:nvSpPr>
          <p:spPr>
            <a:xfrm>
              <a:off x="13626" y="128"/>
              <a:ext cx="2323" cy="1604"/>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资源、进度与</a:t>
              </a:r>
              <a:r>
                <a:rPr lang="zh-CN" altLang="en-US" sz="2000" b="1" dirty="0">
                  <a:solidFill>
                    <a:schemeClr val="bg1"/>
                  </a:solidFill>
                  <a:latin typeface="微软雅黑" panose="020B0503020204020204" charset="-122"/>
                  <a:ea typeface="微软雅黑" panose="020B0503020204020204" charset="-122"/>
                </a:rPr>
                <a:t>风控</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2" name="直接连接符 91"/>
            <p:cNvCxnSpPr/>
            <p:nvPr/>
          </p:nvCxnSpPr>
          <p:spPr>
            <a:xfrm>
              <a:off x="1867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3" name="TextBox 7"/>
            <p:cNvSpPr txBox="1"/>
            <p:nvPr/>
          </p:nvSpPr>
          <p:spPr>
            <a:xfrm>
              <a:off x="16238" y="332"/>
              <a:ext cx="2323"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94" name="图片 93"/>
            <p:cNvPicPr/>
            <p:nvPr/>
          </p:nvPicPr>
          <p:blipFill>
            <a:blip r:embed="rId21"/>
            <a:srcRect t="31267" b="33250"/>
            <a:stretch>
              <a:fillRect/>
            </a:stretch>
          </p:blipFill>
          <p:spPr>
            <a:xfrm>
              <a:off x="-118" y="170"/>
              <a:ext cx="3486" cy="892"/>
            </a:xfrm>
            <a:prstGeom prst="rect">
              <a:avLst/>
            </a:prstGeom>
          </p:spPr>
        </p:pic>
        <p:cxnSp>
          <p:nvCxnSpPr>
            <p:cNvPr id="95" name="直接连接符 94"/>
            <p:cNvCxnSpPr/>
            <p:nvPr/>
          </p:nvCxnSpPr>
          <p:spPr>
            <a:xfrm>
              <a:off x="6251" y="456"/>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7"/>
          <p:cNvSpPr txBox="1"/>
          <p:nvPr/>
        </p:nvSpPr>
        <p:spPr>
          <a:xfrm>
            <a:off x="7059295" y="81280"/>
            <a:ext cx="1475105" cy="1018540"/>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关键技术点 &amp; 创新</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sp>
        <p:nvSpPr>
          <p:cNvPr id="7" name="TextBox 7"/>
          <p:cNvSpPr txBox="1"/>
          <p:nvPr/>
        </p:nvSpPr>
        <p:spPr>
          <a:xfrm>
            <a:off x="8713470" y="81280"/>
            <a:ext cx="1475105" cy="1018540"/>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资源、进度与</a:t>
            </a:r>
            <a:r>
              <a:rPr lang="en-US" altLang="en-US" sz="2000" b="1" dirty="0">
                <a:solidFill>
                  <a:schemeClr val="tx1">
                    <a:lumMod val="50000"/>
                    <a:lumOff val="50000"/>
                  </a:schemeClr>
                </a:solidFill>
                <a:latin typeface="微软雅黑" panose="020B0503020204020204" charset="-122"/>
                <a:ea typeface="微软雅黑" panose="020B0503020204020204" charset="-122"/>
              </a:rPr>
              <a:t>⻛</a:t>
            </a:r>
            <a:r>
              <a:rPr lang="zh-CN" altLang="en-US" sz="2000" b="1" dirty="0">
                <a:solidFill>
                  <a:schemeClr val="tx1">
                    <a:lumMod val="50000"/>
                    <a:lumOff val="50000"/>
                  </a:schemeClr>
                </a:solidFill>
                <a:latin typeface="微软雅黑" panose="020B0503020204020204" charset="-122"/>
                <a:ea typeface="微软雅黑" panose="020B0503020204020204" charset="-122"/>
              </a:rPr>
              <a:t>控</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sp>
        <p:nvSpPr>
          <p:cNvPr id="16" name="矩形 15"/>
          <p:cNvSpPr/>
          <p:nvPr/>
        </p:nvSpPr>
        <p:spPr>
          <a:xfrm>
            <a:off x="191135" y="1099820"/>
            <a:ext cx="11799570" cy="5507990"/>
          </a:xfrm>
          <a:prstGeom prst="rect">
            <a:avLst/>
          </a:prstGeom>
          <a:noFill/>
          <a:ln w="12700">
            <a:solidFill>
              <a:schemeClr val="accent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标题"/>
          <p:cNvSpPr/>
          <p:nvPr>
            <p:custDataLst>
              <p:tags r:id="rId1"/>
            </p:custDataLst>
          </p:nvPr>
        </p:nvSpPr>
        <p:spPr>
          <a:xfrm>
            <a:off x="2230120" y="1009650"/>
            <a:ext cx="7673975" cy="516255"/>
          </a:xfrm>
          <a:prstGeom prst="roundRect">
            <a:avLst>
              <a:gd name="adj" fmla="val 36014"/>
            </a:avLst>
          </a:prstGeom>
          <a:gradFill>
            <a:gsLst>
              <a:gs pos="50000">
                <a:schemeClr val="accent1"/>
              </a:gs>
              <a:gs pos="0">
                <a:schemeClr val="accent1">
                  <a:lumMod val="25000"/>
                  <a:lumOff val="75000"/>
                </a:schemeClr>
              </a:gs>
              <a:gs pos="100000">
                <a:schemeClr val="accent1">
                  <a:lumMod val="85000"/>
                </a:schemeClr>
              </a:gs>
            </a:gsLst>
            <a:lin ang="10380000" scaled="0"/>
          </a:gradFill>
          <a:ln w="22225">
            <a:solidFill>
              <a:schemeClr val="bg1"/>
            </a:solidFill>
          </a:ln>
          <a:effectLst>
            <a:outerShdw blurRad="635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dirty="0">
                <a:solidFill>
                  <a:srgbClr val="FFFFFF"/>
                </a:solidFill>
                <a:uFillTx/>
                <a:latin typeface="微软雅黑" panose="020B0503020204020204" charset="-122"/>
                <a:ea typeface="微软雅黑" panose="020B0503020204020204" charset="-122"/>
                <a:cs typeface="+mn-ea"/>
                <a:sym typeface="+mn-ea"/>
              </a:rPr>
              <a:t>关键训练配置（围绕</a:t>
            </a:r>
            <a:r>
              <a:rPr lang="en-US" altLang="zh-CN" b="1" dirty="0">
                <a:solidFill>
                  <a:srgbClr val="FFFFFF"/>
                </a:solidFill>
                <a:uFillTx/>
                <a:latin typeface="微软雅黑" panose="020B0503020204020204" charset="-122"/>
                <a:ea typeface="微软雅黑" panose="020B0503020204020204" charset="-122"/>
                <a:cs typeface="+mn-ea"/>
                <a:sym typeface="+mn-ea"/>
              </a:rPr>
              <a:t> 7B</a:t>
            </a:r>
            <a:r>
              <a:rPr lang="zh-CN" altLang="en-US" b="1" dirty="0">
                <a:solidFill>
                  <a:srgbClr val="FFFFFF"/>
                </a:solidFill>
                <a:uFillTx/>
                <a:latin typeface="微软雅黑" panose="020B0503020204020204" charset="-122"/>
                <a:ea typeface="微软雅黑" panose="020B0503020204020204" charset="-122"/>
                <a:cs typeface="+mn-ea"/>
                <a:sym typeface="+mn-ea"/>
              </a:rPr>
              <a:t>、</a:t>
            </a:r>
            <a:r>
              <a:rPr lang="zh-CN" altLang="en-US" b="1" dirty="0">
                <a:solidFill>
                  <a:srgbClr val="FFFFFF"/>
                </a:solidFill>
                <a:uFillTx/>
                <a:latin typeface="微软雅黑" panose="020B0503020204020204" charset="-122"/>
                <a:ea typeface="微软雅黑" panose="020B0503020204020204" charset="-122"/>
                <a:cs typeface="+mn-ea"/>
                <a:sym typeface="+mn-ea"/>
              </a:rPr>
              <a:t>长图像</a:t>
            </a:r>
            <a:r>
              <a:rPr lang="en-US" altLang="zh-CN" b="1" dirty="0">
                <a:solidFill>
                  <a:srgbClr val="FFFFFF"/>
                </a:solidFill>
                <a:uFillTx/>
                <a:latin typeface="微软雅黑" panose="020B0503020204020204" charset="-122"/>
                <a:ea typeface="微软雅黑" panose="020B0503020204020204" charset="-122"/>
                <a:cs typeface="+mn-ea"/>
                <a:sym typeface="+mn-ea"/>
              </a:rPr>
              <a:t>/</a:t>
            </a:r>
            <a:r>
              <a:rPr lang="zh-CN" altLang="en-US" b="1" dirty="0">
                <a:solidFill>
                  <a:srgbClr val="FFFFFF"/>
                </a:solidFill>
                <a:uFillTx/>
                <a:latin typeface="微软雅黑" panose="020B0503020204020204" charset="-122"/>
                <a:ea typeface="微软雅黑" panose="020B0503020204020204" charset="-122"/>
                <a:cs typeface="+mn-ea"/>
                <a:sym typeface="+mn-ea"/>
              </a:rPr>
              <a:t>视频与结构化输出）</a:t>
            </a:r>
            <a:endParaRPr lang="zh-CN" altLang="en-US" b="1" dirty="0">
              <a:solidFill>
                <a:srgbClr val="FFFFFF"/>
              </a:solidFill>
              <a:uFillTx/>
              <a:latin typeface="微软雅黑" panose="020B0503020204020204" charset="-122"/>
              <a:ea typeface="微软雅黑" panose="020B0503020204020204" charset="-122"/>
              <a:cs typeface="+mn-ea"/>
              <a:sym typeface="+mn-ea"/>
            </a:endParaRPr>
          </a:p>
        </p:txBody>
      </p:sp>
      <p:grpSp>
        <p:nvGrpSpPr>
          <p:cNvPr id="20" name="组合 19"/>
          <p:cNvGrpSpPr/>
          <p:nvPr/>
        </p:nvGrpSpPr>
        <p:grpSpPr>
          <a:xfrm>
            <a:off x="531495" y="2000250"/>
            <a:ext cx="11128375" cy="1651000"/>
            <a:chOff x="729" y="3256"/>
            <a:chExt cx="12800" cy="2020"/>
          </a:xfrm>
        </p:grpSpPr>
        <p:sp>
          <p:nvSpPr>
            <p:cNvPr id="13" name="任意多边形 12"/>
            <p:cNvSpPr/>
            <p:nvPr/>
          </p:nvSpPr>
          <p:spPr bwMode="white">
            <a:xfrm>
              <a:off x="729" y="3256"/>
              <a:ext cx="3368" cy="2021"/>
            </a:xfrm>
            <a:custGeom>
              <a:avLst/>
              <a:gdLst>
                <a:gd name="connisteX0" fmla="*/ 0 w 3368"/>
                <a:gd name="connsiteY0" fmla="*/ 0 h 2021"/>
                <a:gd name="connisteX1" fmla="*/ 202 w 3368"/>
                <a:gd name="connsiteY1" fmla="*/ 0 h 2021"/>
                <a:gd name="connisteX2" fmla="*/ 1684 w 3368"/>
                <a:gd name="connsiteY2" fmla="*/ 0 h 2021"/>
                <a:gd name="connisteX3" fmla="*/ 0 w 3368"/>
                <a:gd name="connsiteY3" fmla="*/ 1010 h 2021"/>
                <a:gd name="connisteX4" fmla="*/ 1684 w 3368"/>
                <a:gd name="connsiteY4" fmla="*/ 2021 h 2021"/>
                <a:gd name="connisteX5" fmla="*/ 3368 w 3368"/>
                <a:gd name="connsiteY5" fmla="*/ 1010 h 202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368" h="2021">
                  <a:moveTo>
                    <a:pt x="0" y="202"/>
                  </a:moveTo>
                  <a:cubicBezTo>
                    <a:pt x="0" y="90"/>
                    <a:pt x="90" y="0"/>
                    <a:pt x="202" y="0"/>
                  </a:cubicBezTo>
                  <a:lnTo>
                    <a:pt x="3166" y="0"/>
                  </a:lnTo>
                  <a:cubicBezTo>
                    <a:pt x="3278" y="0"/>
                    <a:pt x="3368" y="90"/>
                    <a:pt x="3368" y="202"/>
                  </a:cubicBezTo>
                  <a:lnTo>
                    <a:pt x="3368" y="1819"/>
                  </a:lnTo>
                  <a:cubicBezTo>
                    <a:pt x="3368" y="1931"/>
                    <a:pt x="3278" y="2021"/>
                    <a:pt x="3166" y="2021"/>
                  </a:cubicBezTo>
                  <a:lnTo>
                    <a:pt x="202" y="2021"/>
                  </a:lnTo>
                  <a:cubicBezTo>
                    <a:pt x="90" y="2021"/>
                    <a:pt x="0" y="1931"/>
                    <a:pt x="0" y="1819"/>
                  </a:cubicBezTo>
                  <a:lnTo>
                    <a:pt x="0" y="202"/>
                  </a:lnTo>
                </a:path>
              </a:pathLst>
            </a:custGeom>
          </p:spPr>
          <p:style>
            <a:lnRef idx="2">
              <a:schemeClr val="lt1"/>
            </a:lnRef>
            <a:fillRef idx="1">
              <a:schemeClr val="accent1">
                <a:alpha val="90000"/>
                <a:hueOff val="0"/>
                <a:satOff val="0"/>
                <a:lumOff val="0"/>
                <a:alpha val="90196"/>
              </a:schemeClr>
            </a:fillRef>
            <a:effectRef idx="0">
              <a:scrgbClr r="0" g="0" b="0"/>
            </a:effectRef>
            <a:fontRef idx="minor">
              <a:schemeClr val="lt1"/>
            </a:fontRef>
          </p:style>
          <p:txBody>
            <a:bodyPr lIns="235707" tIns="235708" rIns="235708" bIns="235708" anchor="ctr">
              <a:noAutofit/>
            </a:bodyP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endParaRPr lang="zh-CN" altLang="en-US"/>
            </a:p>
          </p:txBody>
        </p:sp>
        <p:sp>
          <p:nvSpPr>
            <p:cNvPr id="14" name="任意多边形 13"/>
            <p:cNvSpPr/>
            <p:nvPr/>
          </p:nvSpPr>
          <p:spPr bwMode="white">
            <a:xfrm>
              <a:off x="4414" y="3849"/>
              <a:ext cx="714" cy="835"/>
            </a:xfrm>
            <a:custGeom>
              <a:avLst/>
              <a:gdLst>
                <a:gd name="connisteX0" fmla="*/ 0 w 714"/>
                <a:gd name="connsiteY0" fmla="*/ 0 h 835"/>
                <a:gd name="connisteX1" fmla="*/ 0 w 714"/>
                <a:gd name="connsiteY1" fmla="*/ 167 h 835"/>
                <a:gd name="connisteX2" fmla="*/ 357 w 714"/>
                <a:gd name="connsiteY2" fmla="*/ 0 h 835"/>
                <a:gd name="connisteX3" fmla="*/ 0 w 714"/>
                <a:gd name="connsiteY3" fmla="*/ 417 h 835"/>
                <a:gd name="connisteX4" fmla="*/ 357 w 714"/>
                <a:gd name="connsiteY4" fmla="*/ 835 h 835"/>
                <a:gd name="connisteX5" fmla="*/ 714 w 714"/>
                <a:gd name="connsiteY5" fmla="*/ 417 h 83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714" h="835">
                  <a:moveTo>
                    <a:pt x="0" y="167"/>
                  </a:moveTo>
                  <a:lnTo>
                    <a:pt x="357" y="167"/>
                  </a:lnTo>
                  <a:lnTo>
                    <a:pt x="357" y="0"/>
                  </a:lnTo>
                  <a:lnTo>
                    <a:pt x="714" y="418"/>
                  </a:lnTo>
                  <a:lnTo>
                    <a:pt x="357" y="835"/>
                  </a:lnTo>
                  <a:lnTo>
                    <a:pt x="357" y="668"/>
                  </a:lnTo>
                  <a:lnTo>
                    <a:pt x="0" y="668"/>
                  </a:lnTo>
                  <a:lnTo>
                    <a:pt x="0" y="167"/>
                  </a:lnTo>
                </a:path>
              </a:pathLst>
            </a:custGeom>
          </p:spPr>
          <p:style>
            <a:lnRef idx="0">
              <a:schemeClr val="accent1">
                <a:shade val="90000"/>
                <a:hueOff val="0"/>
                <a:satOff val="0"/>
                <a:lumOff val="0"/>
                <a:alpha val="100000"/>
              </a:schemeClr>
            </a:lnRef>
            <a:fillRef idx="1">
              <a:schemeClr val="accent1">
                <a:shade val="90000"/>
                <a:hueOff val="0"/>
                <a:satOff val="0"/>
                <a:lumOff val="0"/>
                <a:alpha val="100000"/>
              </a:schemeClr>
            </a:fillRef>
            <a:effectRef idx="0">
              <a:scrgbClr r="0" g="0" b="0"/>
            </a:effectRef>
            <a:fontRef idx="minor">
              <a:schemeClr val="lt1"/>
            </a:fontRef>
          </p:style>
          <p:txBody>
            <a:bodyPr lIns="0" tIns="106090" rIns="136036" bIns="106090" anchor="ctr">
              <a:noAutofit/>
            </a:bodyP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zh-CN" altLang="en-US"/>
            </a:p>
          </p:txBody>
        </p:sp>
        <p:sp>
          <p:nvSpPr>
            <p:cNvPr id="15" name="任意多边形 14"/>
            <p:cNvSpPr/>
            <p:nvPr/>
          </p:nvSpPr>
          <p:spPr bwMode="white">
            <a:xfrm>
              <a:off x="5445" y="3256"/>
              <a:ext cx="3368" cy="2021"/>
            </a:xfrm>
            <a:custGeom>
              <a:avLst/>
              <a:gdLst>
                <a:gd name="connisteX0" fmla="*/ 0 w 3368"/>
                <a:gd name="connsiteY0" fmla="*/ 0 h 2021"/>
                <a:gd name="connisteX1" fmla="*/ 202 w 3368"/>
                <a:gd name="connsiteY1" fmla="*/ 0 h 2021"/>
                <a:gd name="connisteX2" fmla="*/ 1684 w 3368"/>
                <a:gd name="connsiteY2" fmla="*/ 0 h 2021"/>
                <a:gd name="connisteX3" fmla="*/ 0 w 3368"/>
                <a:gd name="connsiteY3" fmla="*/ 1010 h 2021"/>
                <a:gd name="connisteX4" fmla="*/ 1684 w 3368"/>
                <a:gd name="connsiteY4" fmla="*/ 2021 h 2021"/>
                <a:gd name="connisteX5" fmla="*/ 3368 w 3368"/>
                <a:gd name="connsiteY5" fmla="*/ 1010 h 202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368" h="2021">
                  <a:moveTo>
                    <a:pt x="0" y="202"/>
                  </a:moveTo>
                  <a:cubicBezTo>
                    <a:pt x="0" y="90"/>
                    <a:pt x="90" y="0"/>
                    <a:pt x="202" y="0"/>
                  </a:cubicBezTo>
                  <a:lnTo>
                    <a:pt x="3166" y="0"/>
                  </a:lnTo>
                  <a:cubicBezTo>
                    <a:pt x="3278" y="0"/>
                    <a:pt x="3368" y="90"/>
                    <a:pt x="3368" y="202"/>
                  </a:cubicBezTo>
                  <a:lnTo>
                    <a:pt x="3368" y="1819"/>
                  </a:lnTo>
                  <a:cubicBezTo>
                    <a:pt x="3368" y="1931"/>
                    <a:pt x="3278" y="2021"/>
                    <a:pt x="3166" y="2021"/>
                  </a:cubicBezTo>
                  <a:lnTo>
                    <a:pt x="202" y="2021"/>
                  </a:lnTo>
                  <a:cubicBezTo>
                    <a:pt x="90" y="2021"/>
                    <a:pt x="0" y="1931"/>
                    <a:pt x="0" y="1819"/>
                  </a:cubicBezTo>
                  <a:lnTo>
                    <a:pt x="0" y="202"/>
                  </a:lnTo>
                </a:path>
              </a:pathLst>
            </a:custGeom>
          </p:spPr>
          <p:style>
            <a:lnRef idx="2">
              <a:schemeClr val="lt1"/>
            </a:lnRef>
            <a:fillRef idx="1">
              <a:schemeClr val="accent1">
                <a:alpha val="90000"/>
                <a:hueOff val="0"/>
                <a:satOff val="0"/>
                <a:lumOff val="0"/>
                <a:alpha val="70196"/>
              </a:schemeClr>
            </a:fillRef>
            <a:effectRef idx="0">
              <a:scrgbClr r="0" g="0" b="0"/>
            </a:effectRef>
            <a:fontRef idx="minor">
              <a:schemeClr val="lt1"/>
            </a:fontRef>
          </p:style>
          <p:txBody>
            <a:bodyPr lIns="235708" tIns="235708" rIns="235708" bIns="235708" anchor="ctr">
              <a:noAutofit/>
            </a:bodyP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endParaRPr lang="zh-CN" altLang="en-US"/>
            </a:p>
          </p:txBody>
        </p:sp>
        <p:sp>
          <p:nvSpPr>
            <p:cNvPr id="17" name="任意多边形 16"/>
            <p:cNvSpPr/>
            <p:nvPr/>
          </p:nvSpPr>
          <p:spPr bwMode="white">
            <a:xfrm>
              <a:off x="9130" y="3849"/>
              <a:ext cx="714" cy="835"/>
            </a:xfrm>
            <a:custGeom>
              <a:avLst/>
              <a:gdLst>
                <a:gd name="connisteX0" fmla="*/ 0 w 714"/>
                <a:gd name="connsiteY0" fmla="*/ 0 h 835"/>
                <a:gd name="connisteX1" fmla="*/ 0 w 714"/>
                <a:gd name="connsiteY1" fmla="*/ 167 h 835"/>
                <a:gd name="connisteX2" fmla="*/ 357 w 714"/>
                <a:gd name="connsiteY2" fmla="*/ 0 h 835"/>
                <a:gd name="connisteX3" fmla="*/ 0 w 714"/>
                <a:gd name="connsiteY3" fmla="*/ 417 h 835"/>
                <a:gd name="connisteX4" fmla="*/ 357 w 714"/>
                <a:gd name="connsiteY4" fmla="*/ 835 h 835"/>
                <a:gd name="connisteX5" fmla="*/ 714 w 714"/>
                <a:gd name="connsiteY5" fmla="*/ 417 h 83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714" h="835">
                  <a:moveTo>
                    <a:pt x="0" y="167"/>
                  </a:moveTo>
                  <a:lnTo>
                    <a:pt x="357" y="167"/>
                  </a:lnTo>
                  <a:lnTo>
                    <a:pt x="357" y="0"/>
                  </a:lnTo>
                  <a:lnTo>
                    <a:pt x="714" y="418"/>
                  </a:lnTo>
                  <a:lnTo>
                    <a:pt x="357" y="835"/>
                  </a:lnTo>
                  <a:lnTo>
                    <a:pt x="357" y="668"/>
                  </a:lnTo>
                  <a:lnTo>
                    <a:pt x="0" y="668"/>
                  </a:lnTo>
                  <a:lnTo>
                    <a:pt x="0" y="167"/>
                  </a:lnTo>
                </a:path>
              </a:pathLst>
            </a:custGeom>
          </p:spPr>
          <p:style>
            <a:lnRef idx="0">
              <a:schemeClr val="accent1">
                <a:shade val="90000"/>
                <a:hueOff val="780000"/>
                <a:satOff val="-61561"/>
                <a:lumOff val="47059"/>
                <a:alpha val="100000"/>
              </a:schemeClr>
            </a:lnRef>
            <a:fillRef idx="1">
              <a:schemeClr val="accent1">
                <a:shade val="90000"/>
                <a:hueOff val="780000"/>
                <a:satOff val="-61561"/>
                <a:lumOff val="47059"/>
                <a:alpha val="100000"/>
              </a:schemeClr>
            </a:fillRef>
            <a:effectRef idx="0">
              <a:scrgbClr r="0" g="0" b="0"/>
            </a:effectRef>
            <a:fontRef idx="minor">
              <a:schemeClr val="lt1"/>
            </a:fontRef>
          </p:style>
          <p:txBody>
            <a:bodyPr lIns="0" tIns="106090" rIns="136036" bIns="106090" anchor="ctr">
              <a:noAutofit/>
            </a:bodyP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zh-CN" altLang="en-US"/>
            </a:p>
          </p:txBody>
        </p:sp>
        <p:sp>
          <p:nvSpPr>
            <p:cNvPr id="18" name="任意多边形 17"/>
            <p:cNvSpPr/>
            <p:nvPr/>
          </p:nvSpPr>
          <p:spPr bwMode="white">
            <a:xfrm>
              <a:off x="10161" y="3256"/>
              <a:ext cx="3368" cy="2021"/>
            </a:xfrm>
            <a:custGeom>
              <a:avLst/>
              <a:gdLst>
                <a:gd name="connisteX0" fmla="*/ 0 w 3368"/>
                <a:gd name="connsiteY0" fmla="*/ 0 h 2021"/>
                <a:gd name="connisteX1" fmla="*/ 202 w 3368"/>
                <a:gd name="connsiteY1" fmla="*/ 0 h 2021"/>
                <a:gd name="connisteX2" fmla="*/ 1684 w 3368"/>
                <a:gd name="connsiteY2" fmla="*/ 0 h 2021"/>
                <a:gd name="connisteX3" fmla="*/ 0 w 3368"/>
                <a:gd name="connsiteY3" fmla="*/ 1010 h 2021"/>
                <a:gd name="connisteX4" fmla="*/ 1684 w 3368"/>
                <a:gd name="connsiteY4" fmla="*/ 2021 h 2021"/>
                <a:gd name="connisteX5" fmla="*/ 3368 w 3368"/>
                <a:gd name="connsiteY5" fmla="*/ 1010 h 202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368" h="2021">
                  <a:moveTo>
                    <a:pt x="0" y="202"/>
                  </a:moveTo>
                  <a:cubicBezTo>
                    <a:pt x="0" y="90"/>
                    <a:pt x="90" y="0"/>
                    <a:pt x="202" y="0"/>
                  </a:cubicBezTo>
                  <a:lnTo>
                    <a:pt x="3166" y="0"/>
                  </a:lnTo>
                  <a:cubicBezTo>
                    <a:pt x="3278" y="0"/>
                    <a:pt x="3368" y="90"/>
                    <a:pt x="3368" y="202"/>
                  </a:cubicBezTo>
                  <a:lnTo>
                    <a:pt x="3368" y="1819"/>
                  </a:lnTo>
                  <a:cubicBezTo>
                    <a:pt x="3368" y="1931"/>
                    <a:pt x="3278" y="2021"/>
                    <a:pt x="3166" y="2021"/>
                  </a:cubicBezTo>
                  <a:lnTo>
                    <a:pt x="202" y="2021"/>
                  </a:lnTo>
                  <a:cubicBezTo>
                    <a:pt x="90" y="2021"/>
                    <a:pt x="0" y="1931"/>
                    <a:pt x="0" y="1819"/>
                  </a:cubicBezTo>
                  <a:lnTo>
                    <a:pt x="0" y="202"/>
                  </a:lnTo>
                </a:path>
              </a:pathLst>
            </a:custGeom>
          </p:spPr>
          <p:style>
            <a:lnRef idx="2">
              <a:schemeClr val="lt1"/>
            </a:lnRef>
            <a:fillRef idx="1">
              <a:schemeClr val="accent1">
                <a:alpha val="90000"/>
                <a:hueOff val="0"/>
                <a:satOff val="0"/>
                <a:lumOff val="0"/>
                <a:alpha val="50196"/>
              </a:schemeClr>
            </a:fillRef>
            <a:effectRef idx="0">
              <a:scrgbClr r="0" g="0" b="0"/>
            </a:effectRef>
            <a:fontRef idx="minor">
              <a:schemeClr val="lt1"/>
            </a:fontRef>
          </p:style>
          <p:txBody>
            <a:bodyPr lIns="235708" tIns="235708" rIns="235708" bIns="235708" anchor="ctr">
              <a:noAutofit/>
            </a:bodyP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endParaRPr lang="zh-CN" altLang="en-US"/>
            </a:p>
          </p:txBody>
        </p:sp>
      </p:grpSp>
      <p:sp>
        <p:nvSpPr>
          <p:cNvPr id="23" name="文本框 22"/>
          <p:cNvSpPr txBox="1"/>
          <p:nvPr/>
        </p:nvSpPr>
        <p:spPr>
          <a:xfrm>
            <a:off x="554990" y="2043430"/>
            <a:ext cx="2905125" cy="1271270"/>
          </a:xfrm>
          <a:prstGeom prst="rect">
            <a:avLst/>
          </a:prstGeom>
          <a:noFill/>
        </p:spPr>
        <p:txBody>
          <a:bodyPr wrap="square" rtlCol="0">
            <a:spAutoFit/>
          </a:bodyPr>
          <a:p>
            <a:pPr algn="just" latinLnBrk="1">
              <a:lnSpc>
                <a:spcPct val="120000"/>
              </a:lnSpc>
            </a:pPr>
            <a:r>
              <a:rPr lang="zh-CN" altLang="en-US" sz="1600" b="1">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阶段一（基础 SFT）：</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保留</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 MU-Data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干净指令</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 -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答案</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 /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短</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 CoT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样本，小批次</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 +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梯度累积</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 + ZeRO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起步，打通链路。</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4711700" y="2043430"/>
            <a:ext cx="2847975" cy="1271270"/>
          </a:xfrm>
          <a:prstGeom prst="rect">
            <a:avLst/>
          </a:prstGeom>
        </p:spPr>
        <p:txBody>
          <a:bodyPr wrap="square">
            <a:spAutoFit/>
          </a:bodyPr>
          <a:p>
            <a:pPr algn="just">
              <a:lnSpc>
                <a:spcPct val="120000"/>
              </a:lnSpc>
              <a:spcBef>
                <a:spcPts val="400"/>
              </a:spcBef>
              <a:spcAft>
                <a:spcPct val="0"/>
              </a:spcAft>
              <a:buFont typeface="Arial" panose="020B0604020202020204"/>
            </a:pPr>
            <a:r>
              <a:rPr lang="zh-CN" altLang="en-US" sz="1600" b="1" i="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阶段二（结构化 CoT 注入）：</a:t>
            </a:r>
            <a:r>
              <a:rPr lang="zh-CN" altLang="en-US" sz="1600" i="0">
                <a:solidFill>
                  <a:schemeClr val="bg1"/>
                </a:solidFill>
                <a:latin typeface="微软雅黑" panose="020B0503020204020204" charset="-122"/>
                <a:ea typeface="微软雅黑" panose="020B0503020204020204" charset="-122"/>
                <a:cs typeface="微软雅黑" panose="020B0503020204020204" charset="-122"/>
              </a:rPr>
              <a:t>同样本并行维护原始与转换后</a:t>
            </a:r>
            <a:r>
              <a:rPr lang="zh-CN" altLang="en-US" sz="1600" b="0" i="0">
                <a:solidFill>
                  <a:schemeClr val="bg1"/>
                </a:solidFill>
                <a:latin typeface="微软雅黑" panose="020B0503020204020204" charset="-122"/>
                <a:ea typeface="微软雅黑" panose="020B0503020204020204" charset="-122"/>
                <a:cs typeface="微软雅黑" panose="020B0503020204020204" charset="-122"/>
              </a:rPr>
              <a:t>数据，训练目标直接约束为含前置条件等的可执行 JSON。</a:t>
            </a:r>
            <a:endParaRPr lang="zh-CN" altLang="en-US" sz="1600" b="0" i="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8811260" y="2043430"/>
            <a:ext cx="2717800" cy="1271270"/>
          </a:xfrm>
          <a:prstGeom prst="rect">
            <a:avLst/>
          </a:prstGeom>
          <a:noFill/>
        </p:spPr>
        <p:txBody>
          <a:bodyPr wrap="square" rtlCol="0">
            <a:spAutoFit/>
          </a:bodyPr>
          <a:p>
            <a:pPr algn="just">
              <a:lnSpc>
                <a:spcPct val="120000"/>
              </a:lnSpc>
            </a:pPr>
            <a:r>
              <a:rPr lang="zh-CN" altLang="en-US" sz="1600" b="1">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阶段三（DPO 偏好对齐）：</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构造同场景指令偏好计划对，用 DPO 对齐，无需额外奖励模型，收敛快、工程轻量。</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8" name="矩形 27"/>
          <p:cNvSpPr/>
          <p:nvPr>
            <p:custDataLst>
              <p:tags r:id="rId2"/>
            </p:custDataLst>
          </p:nvPr>
        </p:nvSpPr>
        <p:spPr>
          <a:xfrm>
            <a:off x="3323678" y="5242749"/>
            <a:ext cx="3881233" cy="512605"/>
          </a:xfrm>
          <a:prstGeom prst="rect">
            <a:avLst/>
          </a:prstGeom>
          <a:noFill/>
        </p:spPr>
        <p:txBody>
          <a:bodyPr wrap="square" lIns="0" tIns="0" rIns="0" bIns="36000" rtlCol="0" anchor="b">
            <a:noAutofit/>
          </a:bodyPr>
          <a:p>
            <a:pPr>
              <a:spcBef>
                <a:spcPct val="0"/>
              </a:spcBef>
              <a:spcAft>
                <a:spcPct val="0"/>
              </a:spcAft>
            </a:pPr>
            <a:r>
              <a:rPr lang="zh-CN" altLang="en-US" b="1" dirty="0">
                <a:solidFill>
                  <a:schemeClr val="accent2"/>
                </a:solidFill>
                <a:latin typeface="微软雅黑" panose="020B0503020204020204" charset="-122"/>
                <a:ea typeface="微软雅黑" panose="020B0503020204020204" charset="-122"/>
                <a:cs typeface="+mn-ea"/>
              </a:rPr>
              <a:t>显存控制：</a:t>
            </a:r>
            <a:endParaRPr lang="zh-CN" altLang="en-US" b="1" dirty="0">
              <a:solidFill>
                <a:schemeClr val="accent2"/>
              </a:solidFill>
              <a:latin typeface="微软雅黑" panose="020B0503020204020204" charset="-122"/>
              <a:ea typeface="微软雅黑" panose="020B0503020204020204" charset="-122"/>
              <a:cs typeface="+mn-ea"/>
            </a:endParaRPr>
          </a:p>
        </p:txBody>
      </p:sp>
      <p:sp>
        <p:nvSpPr>
          <p:cNvPr id="29" name="矩形 28"/>
          <p:cNvSpPr/>
          <p:nvPr>
            <p:custDataLst>
              <p:tags r:id="rId3"/>
            </p:custDataLst>
          </p:nvPr>
        </p:nvSpPr>
        <p:spPr>
          <a:xfrm>
            <a:off x="3323678" y="3652860"/>
            <a:ext cx="3881233" cy="512605"/>
          </a:xfrm>
          <a:prstGeom prst="rect">
            <a:avLst/>
          </a:prstGeom>
          <a:noFill/>
        </p:spPr>
        <p:txBody>
          <a:bodyPr wrap="square" lIns="0" tIns="0" rIns="0" bIns="36000" rtlCol="0" anchor="b">
            <a:noAutofit/>
          </a:bodyPr>
          <a:p>
            <a:pPr>
              <a:spcBef>
                <a:spcPct val="0"/>
              </a:spcBef>
              <a:spcAft>
                <a:spcPct val="0"/>
              </a:spcAft>
            </a:pPr>
            <a:r>
              <a:rPr lang="zh-CN" altLang="en-US" b="1" dirty="0">
                <a:solidFill>
                  <a:schemeClr val="accent1"/>
                </a:solidFill>
                <a:latin typeface="微软雅黑" panose="020B0503020204020204" charset="-122"/>
                <a:ea typeface="微软雅黑" panose="020B0503020204020204" charset="-122"/>
                <a:cs typeface="+mn-ea"/>
              </a:rPr>
              <a:t>长度对</a:t>
            </a:r>
            <a:r>
              <a:rPr lang="zh-CN" altLang="en-US" b="1" dirty="0">
                <a:solidFill>
                  <a:schemeClr val="accent1"/>
                </a:solidFill>
                <a:latin typeface="微软雅黑" panose="020B0503020204020204" charset="-122"/>
                <a:ea typeface="微软雅黑" panose="020B0503020204020204" charset="-122"/>
                <a:cs typeface="+mn-ea"/>
              </a:rPr>
              <a:t>齐</a:t>
            </a:r>
            <a:endParaRPr lang="zh-CN" altLang="en-US" b="1" dirty="0">
              <a:solidFill>
                <a:schemeClr val="accent1"/>
              </a:solidFill>
              <a:latin typeface="微软雅黑" panose="020B0503020204020204" charset="-122"/>
              <a:ea typeface="微软雅黑" panose="020B0503020204020204" charset="-122"/>
              <a:cs typeface="+mn-ea"/>
            </a:endParaRPr>
          </a:p>
        </p:txBody>
      </p:sp>
      <p:sp>
        <p:nvSpPr>
          <p:cNvPr id="30" name="矩形 29"/>
          <p:cNvSpPr/>
          <p:nvPr>
            <p:custDataLst>
              <p:tags r:id="rId4"/>
            </p:custDataLst>
          </p:nvPr>
        </p:nvSpPr>
        <p:spPr>
          <a:xfrm>
            <a:off x="3323590" y="4177665"/>
            <a:ext cx="8336915" cy="969010"/>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统一</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max_sequence_length / cutoff_len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与模型可支持的上限；样本级做</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长度截断</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帧抽样</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像素上限，避免</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RoPE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位置编码形状不匹配。</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32" name="矩形 31"/>
          <p:cNvSpPr/>
          <p:nvPr>
            <p:custDataLst>
              <p:tags r:id="rId5"/>
            </p:custDataLst>
          </p:nvPr>
        </p:nvSpPr>
        <p:spPr>
          <a:xfrm>
            <a:off x="3323590" y="5767070"/>
            <a:ext cx="8336915" cy="969010"/>
          </a:xfrm>
          <a:prstGeom prst="rect">
            <a:avLst/>
          </a:prstGeom>
          <a:noFill/>
        </p:spPr>
        <p:txBody>
          <a:bodyPr wrap="square" lIns="0" tIns="0" rIns="0" bIns="0" rtlCol="0" anchor="t" anchorCtr="0">
            <a:noAutofit/>
          </a:bodyPr>
          <a:p>
            <a:pPr latinLnBrk="1">
              <a:lnSpc>
                <a:spcPct val="130000"/>
              </a:lnSpc>
              <a:spcBef>
                <a:spcPct val="0"/>
              </a:spcBef>
              <a:spcAft>
                <a:spcPct val="0"/>
              </a:spcAft>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优先</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per_device_batch_size</a:t>
            </a:r>
            <a:r>
              <a:rPr lang="en-US"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grad_acc</a:t>
            </a:r>
            <a:r>
              <a:rPr lang="en-US"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 ZeRO</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，必要时再启用</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gradient checkpointing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或局部</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LoRA</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34" name="任意多边形: 形状 18"/>
          <p:cNvSpPr/>
          <p:nvPr>
            <p:custDataLst>
              <p:tags r:id="rId6"/>
            </p:custDataLst>
          </p:nvPr>
        </p:nvSpPr>
        <p:spPr>
          <a:xfrm>
            <a:off x="793750" y="3823163"/>
            <a:ext cx="1983366" cy="2610664"/>
          </a:xfrm>
          <a:custGeom>
            <a:avLst/>
            <a:gdLst>
              <a:gd name="connsiteX0" fmla="*/ 1084579 w 3172579"/>
              <a:gd name="connsiteY0" fmla="*/ 0 h 4176000"/>
              <a:gd name="connsiteX1" fmla="*/ 3172579 w 3172579"/>
              <a:gd name="connsiteY1" fmla="*/ 2088000 h 4176000"/>
              <a:gd name="connsiteX2" fmla="*/ 1084579 w 3172579"/>
              <a:gd name="connsiteY2" fmla="*/ 4176000 h 4176000"/>
              <a:gd name="connsiteX3" fmla="*/ 89315 w 3172579"/>
              <a:gd name="connsiteY3" fmla="*/ 3923990 h 4176000"/>
              <a:gd name="connsiteX4" fmla="*/ 0 w 3172579"/>
              <a:gd name="connsiteY4" fmla="*/ 3869730 h 4176000"/>
              <a:gd name="connsiteX5" fmla="*/ 0 w 3172579"/>
              <a:gd name="connsiteY5" fmla="*/ 306270 h 4176000"/>
              <a:gd name="connsiteX6" fmla="*/ 89315 w 3172579"/>
              <a:gd name="connsiteY6" fmla="*/ 252010 h 4176000"/>
              <a:gd name="connsiteX7" fmla="*/ 1084579 w 3172579"/>
              <a:gd name="connsiteY7" fmla="*/ 0 h 4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579" h="4176000">
                <a:moveTo>
                  <a:pt x="1084579" y="0"/>
                </a:moveTo>
                <a:cubicBezTo>
                  <a:pt x="2237750" y="0"/>
                  <a:pt x="3172579" y="934829"/>
                  <a:pt x="3172579" y="2088000"/>
                </a:cubicBezTo>
                <a:cubicBezTo>
                  <a:pt x="3172579" y="3241171"/>
                  <a:pt x="2237750" y="4176000"/>
                  <a:pt x="1084579" y="4176000"/>
                </a:cubicBezTo>
                <a:cubicBezTo>
                  <a:pt x="724213" y="4176000"/>
                  <a:pt x="385170" y="4084708"/>
                  <a:pt x="89315" y="3923990"/>
                </a:cubicBezTo>
                <a:lnTo>
                  <a:pt x="0" y="3869730"/>
                </a:lnTo>
                <a:lnTo>
                  <a:pt x="0" y="306270"/>
                </a:lnTo>
                <a:lnTo>
                  <a:pt x="89315" y="252010"/>
                </a:lnTo>
                <a:cubicBezTo>
                  <a:pt x="385170" y="91292"/>
                  <a:pt x="724213" y="0"/>
                  <a:pt x="1084579" y="0"/>
                </a:cubicBezTo>
                <a:close/>
              </a:path>
            </a:pathLst>
          </a:custGeom>
          <a:noFill/>
          <a:ln>
            <a:gradFill>
              <a:gsLst>
                <a:gs pos="100000">
                  <a:schemeClr val="tx1">
                    <a:lumMod val="50000"/>
                    <a:lumOff val="50000"/>
                    <a:alpha val="30000"/>
                  </a:schemeClr>
                </a:gs>
                <a:gs pos="15000">
                  <a:srgbClr val="FFFFFF">
                    <a:lumMod val="20000"/>
                    <a:lumOff val="80000"/>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35" name="椭圆 34"/>
          <p:cNvSpPr/>
          <p:nvPr>
            <p:custDataLst>
              <p:tags r:id="rId7"/>
            </p:custDataLst>
          </p:nvPr>
        </p:nvSpPr>
        <p:spPr>
          <a:xfrm>
            <a:off x="793750" y="4446812"/>
            <a:ext cx="1356070" cy="1356070"/>
          </a:xfrm>
          <a:prstGeom prst="ellipse">
            <a:avLst/>
          </a:prstGeom>
          <a:gradFill>
            <a:gsLst>
              <a:gs pos="50000">
                <a:schemeClr val="accent1"/>
              </a:gs>
              <a:gs pos="0">
                <a:schemeClr val="accent1">
                  <a:lumMod val="25000"/>
                  <a:lumOff val="75000"/>
                </a:schemeClr>
              </a:gs>
              <a:gs pos="100000">
                <a:schemeClr val="accent1">
                  <a:lumMod val="85000"/>
                </a:schemeClr>
              </a:gs>
            </a:gsLst>
            <a:lin ang="10380000" scaled="0"/>
          </a:gradFill>
          <a:ln>
            <a:gradFill>
              <a:gsLst>
                <a:gs pos="37000">
                  <a:srgbClr val="FFFFFF"/>
                </a:gs>
                <a:gs pos="0">
                  <a:schemeClr val="accent1">
                    <a:lumMod val="45000"/>
                    <a:lumOff val="55000"/>
                    <a:alpha val="100000"/>
                  </a:schemeClr>
                </a:gs>
                <a:gs pos="100000">
                  <a:srgbClr val="FFFFFF"/>
                </a:gs>
                <a:gs pos="71000">
                  <a:schemeClr val="accent1">
                    <a:lumMod val="30000"/>
                    <a:lumOff val="70000"/>
                    <a:alpha val="10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1600" b="1" spc="150" dirty="0">
                <a:solidFill>
                  <a:srgbClr val="FFFFFF"/>
                </a:solidFill>
                <a:latin typeface="微软雅黑" panose="020B0503020204020204" charset="-122"/>
                <a:ea typeface="微软雅黑" panose="020B0503020204020204" charset="-122"/>
                <a:cs typeface="+mn-ea"/>
                <a:sym typeface="+mn-ea"/>
              </a:rPr>
              <a:t>长序列与稳定性</a:t>
            </a:r>
            <a:endParaRPr lang="zh-CN" altLang="en-US" sz="1600" b="1" spc="150" dirty="0">
              <a:solidFill>
                <a:srgbClr val="FFFFFF"/>
              </a:solidFill>
              <a:latin typeface="微软雅黑" panose="020B0503020204020204" charset="-122"/>
              <a:ea typeface="微软雅黑" panose="020B0503020204020204" charset="-122"/>
              <a:cs typeface="+mn-ea"/>
              <a:sym typeface="+mn-ea"/>
            </a:endParaRPr>
          </a:p>
        </p:txBody>
      </p:sp>
      <p:sp>
        <p:nvSpPr>
          <p:cNvPr id="36" name="椭圆 35"/>
          <p:cNvSpPr/>
          <p:nvPr>
            <p:custDataLst>
              <p:tags r:id="rId8"/>
            </p:custDataLst>
          </p:nvPr>
        </p:nvSpPr>
        <p:spPr>
          <a:xfrm>
            <a:off x="2361409" y="5718326"/>
            <a:ext cx="379906" cy="379906"/>
          </a:xfrm>
          <a:prstGeom prst="ellipse">
            <a:avLst/>
          </a:prstGeom>
          <a:solidFill>
            <a:schemeClr val="accent2"/>
          </a:solidFill>
          <a:ln>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solidFill>
                <a:latin typeface="+mn-ea"/>
                <a:cs typeface="+mn-ea"/>
                <a:sym typeface="+mn-ea"/>
              </a:rPr>
              <a:t>02</a:t>
            </a:r>
            <a:endParaRPr lang="en-US" altLang="zh-CN" sz="1400" b="1" dirty="0">
              <a:solidFill>
                <a:srgbClr val="FFFFFF"/>
              </a:solidFill>
              <a:latin typeface="+mn-ea"/>
              <a:cs typeface="+mn-ea"/>
              <a:sym typeface="+mn-ea"/>
            </a:endParaRPr>
          </a:p>
        </p:txBody>
      </p:sp>
      <p:sp>
        <p:nvSpPr>
          <p:cNvPr id="37" name="椭圆 36"/>
          <p:cNvSpPr/>
          <p:nvPr>
            <p:custDataLst>
              <p:tags r:id="rId9"/>
            </p:custDataLst>
          </p:nvPr>
        </p:nvSpPr>
        <p:spPr>
          <a:xfrm>
            <a:off x="2361409" y="4160195"/>
            <a:ext cx="379906" cy="379906"/>
          </a:xfrm>
          <a:prstGeom prst="ellipse">
            <a:avLst/>
          </a:prstGeom>
          <a:solidFill>
            <a:schemeClr val="accent1"/>
          </a:solidFill>
          <a:ln>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45720" bIns="45720"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solidFill>
                <a:latin typeface="+mn-ea"/>
                <a:cs typeface="+mn-ea"/>
                <a:sym typeface="+mn-ea"/>
              </a:rPr>
              <a:t>01</a:t>
            </a:r>
            <a:endParaRPr lang="en-US" altLang="zh-CN" sz="1400" b="1" dirty="0">
              <a:solidFill>
                <a:srgbClr val="FFFFFF"/>
              </a:solidFill>
              <a:latin typeface="+mn-ea"/>
              <a:cs typeface="+mn-ea"/>
              <a:sym typeface="+mn-ea"/>
            </a:endParaRPr>
          </a:p>
        </p:txBody>
      </p:sp>
      <p:grpSp>
        <p:nvGrpSpPr>
          <p:cNvPr id="43" name="组合 42"/>
          <p:cNvGrpSpPr/>
          <p:nvPr/>
        </p:nvGrpSpPr>
        <p:grpSpPr>
          <a:xfrm>
            <a:off x="-74930" y="0"/>
            <a:ext cx="12266930" cy="1099820"/>
            <a:chOff x="-118" y="0"/>
            <a:chExt cx="19318" cy="1732"/>
          </a:xfrm>
        </p:grpSpPr>
        <p:sp>
          <p:nvSpPr>
            <p:cNvPr id="38"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39" name="矩形 38"/>
            <p:cNvSpPr/>
            <p:nvPr/>
          </p:nvSpPr>
          <p:spPr>
            <a:xfrm>
              <a:off x="13534" y="0"/>
              <a:ext cx="2445" cy="1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40" name="TextBox 6"/>
            <p:cNvSpPr txBox="1"/>
            <p:nvPr/>
          </p:nvSpPr>
          <p:spPr>
            <a:xfrm>
              <a:off x="3600" y="332"/>
              <a:ext cx="2419"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41" name="直接连接符 40"/>
            <p:cNvCxnSpPr/>
            <p:nvPr/>
          </p:nvCxnSpPr>
          <p:spPr>
            <a:xfrm>
              <a:off x="853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7"/>
            <p:cNvSpPr txBox="1"/>
            <p:nvPr/>
          </p:nvSpPr>
          <p:spPr>
            <a:xfrm>
              <a:off x="6213" y="343"/>
              <a:ext cx="2323" cy="1118"/>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4" name="直接连接符 43"/>
            <p:cNvCxnSpPr/>
            <p:nvPr/>
          </p:nvCxnSpPr>
          <p:spPr>
            <a:xfrm>
              <a:off x="1103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7"/>
            <p:cNvSpPr txBox="1"/>
            <p:nvPr/>
          </p:nvSpPr>
          <p:spPr>
            <a:xfrm>
              <a:off x="8633" y="332"/>
              <a:ext cx="2323" cy="634"/>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6" name="直接连接符 45"/>
            <p:cNvCxnSpPr/>
            <p:nvPr/>
          </p:nvCxnSpPr>
          <p:spPr>
            <a:xfrm>
              <a:off x="1352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Box 7"/>
            <p:cNvSpPr txBox="1"/>
            <p:nvPr/>
          </p:nvSpPr>
          <p:spPr>
            <a:xfrm>
              <a:off x="11117" y="128"/>
              <a:ext cx="2323" cy="1604"/>
            </a:xfrm>
            <a:prstGeom prst="rect">
              <a:avLst/>
            </a:prstGeom>
            <a:noFill/>
          </p:spPr>
          <p:txBody>
            <a:bodyPr wrap="square" lIns="0" tIns="48000" rIns="0" bIns="48000" rtlCol="0">
              <a:spAutoFit/>
            </a:bodyPr>
            <a:p>
              <a:pPr algn="ctr"/>
              <a:r>
                <a:rPr lang="en-US" altLang="zh-CN" sz="2000" b="1" dirty="0">
                  <a:solidFill>
                    <a:schemeClr val="tx1">
                      <a:lumMod val="50000"/>
                      <a:lumOff val="50000"/>
                    </a:schemeClr>
                  </a:solidFill>
                  <a:latin typeface="微软雅黑" panose="020B0503020204020204" charset="-122"/>
                  <a:ea typeface="微软雅黑" panose="020B0503020204020204" charset="-122"/>
                </a:rPr>
                <a:t>关键技术点 &amp; 创新</a:t>
              </a: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a:p>
              <a:pPr algn="ct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8" name="直接连接符 47"/>
            <p:cNvCxnSpPr/>
            <p:nvPr/>
          </p:nvCxnSpPr>
          <p:spPr>
            <a:xfrm>
              <a:off x="1602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7"/>
            <p:cNvSpPr txBox="1"/>
            <p:nvPr/>
          </p:nvSpPr>
          <p:spPr>
            <a:xfrm>
              <a:off x="13626" y="128"/>
              <a:ext cx="2323" cy="1604"/>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资源、进度与</a:t>
              </a:r>
              <a:r>
                <a:rPr lang="zh-CN" altLang="en-US" sz="2000" b="1" dirty="0">
                  <a:solidFill>
                    <a:schemeClr val="bg1"/>
                  </a:solidFill>
                  <a:latin typeface="微软雅黑" panose="020B0503020204020204" charset="-122"/>
                  <a:ea typeface="微软雅黑" panose="020B0503020204020204" charset="-122"/>
                </a:rPr>
                <a:t>风控</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50" name="直接连接符 49"/>
            <p:cNvCxnSpPr/>
            <p:nvPr/>
          </p:nvCxnSpPr>
          <p:spPr>
            <a:xfrm>
              <a:off x="1867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7"/>
            <p:cNvSpPr txBox="1"/>
            <p:nvPr/>
          </p:nvSpPr>
          <p:spPr>
            <a:xfrm>
              <a:off x="16238" y="332"/>
              <a:ext cx="2323"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52" name="图片 51"/>
            <p:cNvPicPr/>
            <p:nvPr/>
          </p:nvPicPr>
          <p:blipFill>
            <a:blip r:embed="rId10"/>
            <a:srcRect t="31267" b="33250"/>
            <a:stretch>
              <a:fillRect/>
            </a:stretch>
          </p:blipFill>
          <p:spPr>
            <a:xfrm>
              <a:off x="-118" y="170"/>
              <a:ext cx="3486" cy="892"/>
            </a:xfrm>
            <a:prstGeom prst="rect">
              <a:avLst/>
            </a:prstGeom>
          </p:spPr>
        </p:pic>
        <p:cxnSp>
          <p:nvCxnSpPr>
            <p:cNvPr id="53" name="直接连接符 52"/>
            <p:cNvCxnSpPr/>
            <p:nvPr/>
          </p:nvCxnSpPr>
          <p:spPr>
            <a:xfrm>
              <a:off x="6251" y="456"/>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3" name="组合 42"/>
          <p:cNvGrpSpPr/>
          <p:nvPr/>
        </p:nvGrpSpPr>
        <p:grpSpPr>
          <a:xfrm>
            <a:off x="-74930" y="0"/>
            <a:ext cx="12266930" cy="1099820"/>
            <a:chOff x="-118" y="0"/>
            <a:chExt cx="19318" cy="1732"/>
          </a:xfrm>
        </p:grpSpPr>
        <p:sp>
          <p:nvSpPr>
            <p:cNvPr id="22"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13534" y="0"/>
              <a:ext cx="2445" cy="1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3600" y="332"/>
              <a:ext cx="2419"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853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13" y="343"/>
              <a:ext cx="2323" cy="1118"/>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1103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8633" y="332"/>
              <a:ext cx="2323" cy="634"/>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1352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11117" y="128"/>
              <a:ext cx="2323" cy="1604"/>
            </a:xfrm>
            <a:prstGeom prst="rect">
              <a:avLst/>
            </a:prstGeom>
            <a:noFill/>
          </p:spPr>
          <p:txBody>
            <a:bodyPr wrap="square" lIns="0" tIns="48000" rIns="0" bIns="48000" rtlCol="0">
              <a:spAutoFit/>
            </a:bodyPr>
            <a:p>
              <a:pPr algn="ctr"/>
              <a:r>
                <a:rPr lang="en-US" altLang="zh-CN" sz="2000" b="1" dirty="0">
                  <a:solidFill>
                    <a:schemeClr val="tx1">
                      <a:lumMod val="50000"/>
                      <a:lumOff val="50000"/>
                    </a:schemeClr>
                  </a:solidFill>
                  <a:latin typeface="微软雅黑" panose="020B0503020204020204" charset="-122"/>
                  <a:ea typeface="微软雅黑" panose="020B0503020204020204" charset="-122"/>
                </a:rPr>
                <a:t>关键技术点 &amp; 创新</a:t>
              </a: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a:p>
              <a:pPr algn="ct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602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13626" y="128"/>
              <a:ext cx="2323" cy="1604"/>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资源、进度与</a:t>
              </a:r>
              <a:r>
                <a:rPr lang="zh-CN" altLang="en-US" sz="2000" b="1" dirty="0">
                  <a:solidFill>
                    <a:schemeClr val="bg1"/>
                  </a:solidFill>
                  <a:latin typeface="微软雅黑" panose="020B0503020204020204" charset="-122"/>
                  <a:ea typeface="微软雅黑" panose="020B0503020204020204" charset="-122"/>
                </a:rPr>
                <a:t>风控</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867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6238" y="332"/>
              <a:ext cx="2323"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结论</a:t>
              </a:r>
              <a:r>
                <a:rPr lang="en-US" altLang="zh-CN" sz="2000" b="1" dirty="0">
                  <a:solidFill>
                    <a:schemeClr val="tx1">
                      <a:lumMod val="50000"/>
                      <a:lumOff val="50000"/>
                    </a:schemeClr>
                  </a:solidFill>
                  <a:latin typeface="微软雅黑" panose="020B0503020204020204" charset="-122"/>
                  <a:ea typeface="微软雅黑" panose="020B0503020204020204" charset="-122"/>
                </a:rPr>
                <a:t> &amp; </a:t>
              </a:r>
              <a:r>
                <a:rPr lang="zh-CN" altLang="en-US" sz="2000" b="1" dirty="0">
                  <a:solidFill>
                    <a:schemeClr val="tx1">
                      <a:lumMod val="50000"/>
                      <a:lumOff val="50000"/>
                    </a:schemeClr>
                  </a:solidFill>
                  <a:latin typeface="微软雅黑" panose="020B0503020204020204" charset="-122"/>
                  <a:ea typeface="微软雅黑" panose="020B0503020204020204" charset="-122"/>
                </a:rPr>
                <a:t>展望</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118" y="170"/>
              <a:ext cx="3486" cy="892"/>
            </a:xfrm>
            <a:prstGeom prst="rect">
              <a:avLst/>
            </a:prstGeom>
          </p:spPr>
        </p:pic>
        <p:cxnSp>
          <p:nvCxnSpPr>
            <p:cNvPr id="11" name="直接连接符 10"/>
            <p:cNvCxnSpPr/>
            <p:nvPr/>
          </p:nvCxnSpPr>
          <p:spPr>
            <a:xfrm>
              <a:off x="6251" y="456"/>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标题"/>
          <p:cNvSpPr/>
          <p:nvPr>
            <p:custDataLst>
              <p:tags r:id="rId2"/>
            </p:custDataLst>
          </p:nvPr>
        </p:nvSpPr>
        <p:spPr>
          <a:xfrm>
            <a:off x="2790190" y="1438910"/>
            <a:ext cx="8879205" cy="1436370"/>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Bef>
                <a:spcPct val="0"/>
              </a:spcBef>
              <a:spcAft>
                <a:spcPct val="0"/>
              </a:spcAft>
            </a:pPr>
            <a:r>
              <a:rPr lang="zh-CN" altLang="en-US" sz="1600"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OOM / 通信死锁：</a:t>
            </a:r>
            <a:endParaRPr lang="zh-CN" altLang="en-US" sz="1600"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just">
              <a:spcBef>
                <a:spcPct val="0"/>
              </a:spcBef>
              <a:spcAft>
                <a:spcPct val="0"/>
              </a:spcAft>
            </a:pP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现象：全量</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SFT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出现</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CUDA OOM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或某</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rank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崩溃触发</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NCCL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死锁。</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just">
              <a:spcBef>
                <a:spcPct val="0"/>
              </a:spcBef>
              <a:spcAft>
                <a:spcPct val="0"/>
              </a:spcAft>
            </a:pP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处置：</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bs</a:t>
            </a:r>
            <a:r>
              <a:rPr lang="en-US"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 grad‐acc</a:t>
            </a:r>
            <a:r>
              <a:rPr lang="en-US"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 ZeRO‐2</a:t>
            </a:r>
            <a:r>
              <a:rPr lang="en-US"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 checkpointing</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
        <p:nvSpPr>
          <p:cNvPr id="38" name="圆角矩形 37"/>
          <p:cNvSpPr/>
          <p:nvPr/>
        </p:nvSpPr>
        <p:spPr>
          <a:xfrm>
            <a:off x="300990" y="2811145"/>
            <a:ext cx="1669415" cy="1623695"/>
          </a:xfrm>
          <a:prstGeom prst="roundRect">
            <a:avLst>
              <a:gd name="adj" fmla="val 6216"/>
            </a:avLst>
          </a:prstGeom>
          <a:solidFill>
            <a:schemeClr val="tx1">
              <a:lumMod val="65000"/>
              <a:lumOff val="35000"/>
            </a:schemeClr>
          </a:solidFill>
          <a:ln w="25400">
            <a:solidFill>
              <a:schemeClr val="bg1"/>
            </a:solid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dirty="0">
                <a:latin typeface="微软雅黑" panose="020B0503020204020204" charset="-122"/>
                <a:ea typeface="微软雅黑" panose="020B0503020204020204" charset="-122"/>
                <a:sym typeface="+mn-ea"/>
              </a:rPr>
              <a:t>问题</a:t>
            </a:r>
            <a:r>
              <a:rPr lang="zh-CN" altLang="en-US" b="1" dirty="0">
                <a:latin typeface="微软雅黑" panose="020B0503020204020204" charset="-122"/>
                <a:ea typeface="微软雅黑" panose="020B0503020204020204" charset="-122"/>
                <a:sym typeface="+mn-ea"/>
              </a:rPr>
              <a:t>处理</a:t>
            </a:r>
            <a:endParaRPr lang="zh-CN" altLang="en-US" b="1" dirty="0">
              <a:latin typeface="微软雅黑" panose="020B0503020204020204" charset="-122"/>
              <a:ea typeface="微软雅黑" panose="020B0503020204020204" charset="-122"/>
              <a:sym typeface="+mn-ea"/>
            </a:endParaRPr>
          </a:p>
        </p:txBody>
      </p:sp>
      <p:sp>
        <p:nvSpPr>
          <p:cNvPr id="40" name="左大括号 39"/>
          <p:cNvSpPr/>
          <p:nvPr/>
        </p:nvSpPr>
        <p:spPr>
          <a:xfrm>
            <a:off x="2059940" y="2026920"/>
            <a:ext cx="730250" cy="3594735"/>
          </a:xfrm>
          <a:prstGeom prst="leftBrace">
            <a:avLst>
              <a:gd name="adj1" fmla="val 0"/>
              <a:gd name="adj2" fmla="val 44952"/>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sp>
        <p:nvSpPr>
          <p:cNvPr id="41" name="标题"/>
          <p:cNvSpPr/>
          <p:nvPr>
            <p:custDataLst>
              <p:tags r:id="rId3"/>
            </p:custDataLst>
          </p:nvPr>
        </p:nvSpPr>
        <p:spPr>
          <a:xfrm>
            <a:off x="2790190" y="3214370"/>
            <a:ext cx="8879205" cy="1436370"/>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Bef>
                <a:spcPct val="0"/>
              </a:spcBef>
              <a:spcAft>
                <a:spcPct val="0"/>
              </a:spcAft>
            </a:pPr>
            <a:r>
              <a:rPr lang="zh-CN" altLang="en-US" sz="1600"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RoPE 形状不匹配（⻓序列）：</a:t>
            </a:r>
            <a:endParaRPr lang="zh-CN" altLang="en-US" sz="1600"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just">
              <a:spcBef>
                <a:spcPct val="0"/>
              </a:spcBef>
              <a:spcAft>
                <a:spcPct val="0"/>
              </a:spcAft>
            </a:pP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现象：样本编码</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长度超上限，位置编码</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broadcast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失败。</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just">
              <a:spcBef>
                <a:spcPct val="0"/>
              </a:spcBef>
              <a:spcAft>
                <a:spcPct val="0"/>
              </a:spcAft>
            </a:pP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处置：强制</a:t>
            </a:r>
            <a:r>
              <a:rPr lang="en-US"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度截断</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像素上限</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帧下采样；统</a:t>
            </a:r>
            <a:r>
              <a:rPr lang="en-US"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 max_sequence_length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与预处理策略</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just">
              <a:spcBef>
                <a:spcPct val="0"/>
              </a:spcBef>
              <a:spcAft>
                <a:spcPct val="0"/>
              </a:spcAft>
            </a:pP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（多图</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视频场景）。</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
        <p:nvSpPr>
          <p:cNvPr id="42" name="标题"/>
          <p:cNvSpPr/>
          <p:nvPr>
            <p:custDataLst>
              <p:tags r:id="rId4"/>
            </p:custDataLst>
          </p:nvPr>
        </p:nvSpPr>
        <p:spPr>
          <a:xfrm>
            <a:off x="2790190" y="4989830"/>
            <a:ext cx="8879205" cy="1436370"/>
          </a:xfrm>
          <a:prstGeom prst="roundRect">
            <a:avLst>
              <a:gd name="adj" fmla="val 8277"/>
            </a:avLst>
          </a:prstGeom>
          <a:gradFill>
            <a:gsLst>
              <a:gs pos="50000">
                <a:schemeClr val="accent2"/>
              </a:gs>
              <a:gs pos="0">
                <a:schemeClr val="tx2">
                  <a:lumMod val="50000"/>
                  <a:lumOff val="50000"/>
                </a:schemeClr>
              </a:gs>
              <a:gs pos="100000">
                <a:schemeClr val="accent2">
                  <a:lumMod val="85000"/>
                </a:schemeClr>
              </a:gs>
            </a:gsLst>
            <a:lin ang="11700000" scaled="1"/>
          </a:gradFill>
          <a:ln w="28575">
            <a:solidFill>
              <a:schemeClr val="bg1"/>
            </a:solidFill>
          </a:ln>
          <a:effectLst>
            <a:outerShdw blurRad="76200" sx="101000" sy="101000" algn="ctr" rotWithShape="0">
              <a:prstClr val="black">
                <a:alpha val="40000"/>
              </a:prstClr>
            </a:outerShdw>
          </a:effectLst>
        </p:spPr>
        <p:style>
          <a:lnRef idx="2">
            <a:schemeClr val="lt1"/>
          </a:lnRef>
          <a:fillRef idx="1">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Bef>
                <a:spcPct val="0"/>
              </a:spcBef>
              <a:spcAft>
                <a:spcPct val="0"/>
              </a:spcAft>
            </a:pPr>
            <a:r>
              <a:rPr lang="zh-CN" altLang="en-US" sz="1600"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评测与数据规范：</a:t>
            </a:r>
            <a:endParaRPr lang="zh-CN" altLang="en-US" sz="1600" b="1" dirty="0">
              <a:solidFill>
                <a:srgbClr val="FFC000"/>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a:p>
            <a:pPr algn="just">
              <a:spcBef>
                <a:spcPct val="0"/>
              </a:spcBef>
              <a:spcAft>
                <a:spcPct val="0"/>
              </a:spcAft>
            </a:pP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RefSpatial/Where2Place </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强制归</a:t>
            </a:r>
            <a:r>
              <a:rPr lang="en-US"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化坐标输出；多选题严格</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只给选项</a:t>
            </a:r>
            <a:r>
              <a:rPr lang="en-US" altLang="zh-CN"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r>
              <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rPr>
              <a:t>。</a:t>
            </a:r>
            <a:endParaRPr lang="zh-CN" altLang="en-US" sz="1600" b="1" dirty="0">
              <a:solidFill>
                <a:srgbClr val="F3F3E9"/>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3" name="组合 42"/>
          <p:cNvGrpSpPr/>
          <p:nvPr/>
        </p:nvGrpSpPr>
        <p:grpSpPr>
          <a:xfrm>
            <a:off x="-74930" y="0"/>
            <a:ext cx="12266930" cy="1099820"/>
            <a:chOff x="-118" y="0"/>
            <a:chExt cx="19318" cy="1732"/>
          </a:xfrm>
        </p:grpSpPr>
        <p:sp>
          <p:nvSpPr>
            <p:cNvPr id="22"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dirty="0"/>
            </a:p>
          </p:txBody>
        </p:sp>
        <p:sp>
          <p:nvSpPr>
            <p:cNvPr id="24" name="矩形 23"/>
            <p:cNvSpPr/>
            <p:nvPr/>
          </p:nvSpPr>
          <p:spPr>
            <a:xfrm>
              <a:off x="16049" y="0"/>
              <a:ext cx="2557" cy="1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dirty="0">
                <a:solidFill>
                  <a:schemeClr val="bg1"/>
                </a:solidFill>
              </a:endParaRPr>
            </a:p>
          </p:txBody>
        </p:sp>
        <p:sp>
          <p:nvSpPr>
            <p:cNvPr id="26" name="TextBox 6"/>
            <p:cNvSpPr txBox="1"/>
            <p:nvPr/>
          </p:nvSpPr>
          <p:spPr>
            <a:xfrm>
              <a:off x="3600" y="332"/>
              <a:ext cx="2419" cy="1119"/>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赛题理解</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bg1"/>
                </a:solidFill>
                <a:latin typeface="微软雅黑" panose="020B0503020204020204" charset="-122"/>
                <a:ea typeface="微软雅黑" panose="020B0503020204020204" charset="-122"/>
              </a:endParaRPr>
            </a:p>
          </p:txBody>
        </p:sp>
        <p:cxnSp>
          <p:nvCxnSpPr>
            <p:cNvPr id="31" name="直接连接符 30"/>
            <p:cNvCxnSpPr/>
            <p:nvPr/>
          </p:nvCxnSpPr>
          <p:spPr>
            <a:xfrm>
              <a:off x="853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13" y="343"/>
              <a:ext cx="2323" cy="1118"/>
            </a:xfrm>
            <a:prstGeom prst="rect">
              <a:avLst/>
            </a:prstGeom>
            <a:noFill/>
          </p:spPr>
          <p:txBody>
            <a:bodyPr wrap="square" lIns="0" tIns="48000" rIns="0" bIns="48000" rtlCol="0">
              <a:no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数据</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1103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7"/>
            <p:cNvSpPr txBox="1"/>
            <p:nvPr/>
          </p:nvSpPr>
          <p:spPr>
            <a:xfrm>
              <a:off x="8633" y="332"/>
              <a:ext cx="2323" cy="634"/>
            </a:xfrm>
            <a:prstGeom prst="rect">
              <a:avLst/>
            </a:prstGeom>
            <a:noFill/>
          </p:spPr>
          <p:txBody>
            <a:bodyPr wrap="square" lIns="0" tIns="48000" rIns="0" bIns="48000" rtlCol="0">
              <a:spAutoFit/>
            </a:bodyPr>
            <a:p>
              <a:pPr algn="ctr"/>
              <a:r>
                <a:rPr lang="zh-CN" altLang="en-US" sz="2000" b="1" dirty="0">
                  <a:solidFill>
                    <a:schemeClr val="tx1">
                      <a:lumMod val="50000"/>
                      <a:lumOff val="50000"/>
                    </a:schemeClr>
                  </a:solidFill>
                  <a:latin typeface="微软雅黑" panose="020B0503020204020204" charset="-122"/>
                  <a:ea typeface="微软雅黑" panose="020B0503020204020204" charset="-122"/>
                </a:rPr>
                <a:t>训练</a:t>
              </a:r>
              <a:r>
                <a:rPr lang="en-US" altLang="zh-CN" sz="2000" b="1" dirty="0">
                  <a:solidFill>
                    <a:schemeClr val="tx1">
                      <a:lumMod val="50000"/>
                      <a:lumOff val="50000"/>
                    </a:schemeClr>
                  </a:solidFill>
                  <a:latin typeface="微软雅黑" panose="020B0503020204020204" charset="-122"/>
                  <a:ea typeface="微软雅黑" panose="020B0503020204020204" charset="-122"/>
                </a:rPr>
                <a:t>&amp;</a:t>
              </a:r>
              <a:r>
                <a:rPr lang="zh-CN" altLang="en-US" sz="2000" b="1" dirty="0">
                  <a:solidFill>
                    <a:schemeClr val="tx1">
                      <a:lumMod val="50000"/>
                      <a:lumOff val="50000"/>
                    </a:schemeClr>
                  </a:solidFill>
                  <a:latin typeface="微软雅黑" panose="020B0503020204020204" charset="-122"/>
                  <a:ea typeface="微软雅黑" panose="020B0503020204020204" charset="-122"/>
                </a:rPr>
                <a:t>效果</a:t>
              </a: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1352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11117" y="128"/>
              <a:ext cx="2323" cy="1604"/>
            </a:xfrm>
            <a:prstGeom prst="rect">
              <a:avLst/>
            </a:prstGeom>
            <a:noFill/>
          </p:spPr>
          <p:txBody>
            <a:bodyPr wrap="square" lIns="0" tIns="48000" rIns="0" bIns="48000" rtlCol="0">
              <a:spAutoFit/>
            </a:bodyPr>
            <a:p>
              <a:pPr algn="ctr"/>
              <a:r>
                <a:rPr lang="en-US" altLang="zh-CN" sz="2000" b="1" dirty="0">
                  <a:solidFill>
                    <a:schemeClr val="tx1">
                      <a:lumMod val="50000"/>
                      <a:lumOff val="50000"/>
                    </a:schemeClr>
                  </a:solidFill>
                  <a:latin typeface="微软雅黑" panose="020B0503020204020204" charset="-122"/>
                  <a:ea typeface="微软雅黑" panose="020B0503020204020204" charset="-122"/>
                </a:rPr>
                <a:t>关键技术点 &amp; 创新</a:t>
              </a: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a:p>
              <a:pPr algn="ct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16021"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13626" y="128"/>
              <a:ext cx="2323" cy="1604"/>
            </a:xfrm>
            <a:prstGeom prst="rect">
              <a:avLst/>
            </a:prstGeom>
            <a:noFill/>
          </p:spPr>
          <p:txBody>
            <a:bodyPr wrap="square" lIns="0" tIns="48000" rIns="0" bIns="48000" rtlCol="0">
              <a:spAutoFit/>
            </a:bodyPr>
            <a:p>
              <a:pPr algn="ctr"/>
              <a:r>
                <a:rPr lang="en-US" altLang="zh-CN" sz="2000" b="1" dirty="0">
                  <a:solidFill>
                    <a:schemeClr val="tx1">
                      <a:lumMod val="50000"/>
                      <a:lumOff val="50000"/>
                    </a:schemeClr>
                  </a:solidFill>
                  <a:latin typeface="微软雅黑" panose="020B0503020204020204" charset="-122"/>
                  <a:ea typeface="微软雅黑" panose="020B0503020204020204" charset="-122"/>
                </a:rPr>
                <a:t>资源、进度与</a:t>
              </a:r>
              <a:r>
                <a:rPr lang="zh-CN" altLang="en-US" sz="2000" b="1" dirty="0">
                  <a:solidFill>
                    <a:schemeClr val="tx1">
                      <a:lumMod val="50000"/>
                      <a:lumOff val="50000"/>
                    </a:schemeClr>
                  </a:solidFill>
                  <a:latin typeface="微软雅黑" panose="020B0503020204020204" charset="-122"/>
                  <a:ea typeface="微软雅黑" panose="020B0503020204020204" charset="-122"/>
                </a:rPr>
                <a:t>风</a:t>
              </a:r>
              <a:r>
                <a:rPr lang="en-US" altLang="zh-CN" sz="2000" b="1" dirty="0">
                  <a:solidFill>
                    <a:schemeClr val="tx1">
                      <a:lumMod val="50000"/>
                      <a:lumOff val="50000"/>
                    </a:schemeClr>
                  </a:solidFill>
                  <a:latin typeface="微软雅黑" panose="020B0503020204020204" charset="-122"/>
                  <a:ea typeface="微软雅黑" panose="020B0503020204020204" charset="-122"/>
                </a:rPr>
                <a:t>控</a:t>
              </a:r>
              <a:endParaRPr lang="en-US" altLang="zh-CN" sz="2000" b="1" dirty="0">
                <a:solidFill>
                  <a:schemeClr val="tx1">
                    <a:lumMod val="50000"/>
                    <a:lumOff val="50000"/>
                  </a:schemeClr>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直接连接符 8"/>
            <p:cNvCxnSpPr/>
            <p:nvPr/>
          </p:nvCxnSpPr>
          <p:spPr>
            <a:xfrm>
              <a:off x="18676" y="399"/>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7"/>
            <p:cNvSpPr txBox="1"/>
            <p:nvPr/>
          </p:nvSpPr>
          <p:spPr>
            <a:xfrm>
              <a:off x="16238" y="332"/>
              <a:ext cx="2323" cy="1119"/>
            </a:xfrm>
            <a:prstGeom prst="rect">
              <a:avLst/>
            </a:prstGeom>
            <a:noFill/>
          </p:spPr>
          <p:txBody>
            <a:bodyPr wrap="square" lIns="0" tIns="48000" rIns="0" bIns="48000" rtlCol="0">
              <a:spAutoFit/>
            </a:bodyPr>
            <a:p>
              <a:pPr algn="ctr"/>
              <a:r>
                <a:rPr lang="zh-CN" altLang="en-US" sz="2000" b="1" dirty="0">
                  <a:solidFill>
                    <a:schemeClr val="bg1"/>
                  </a:solidFill>
                  <a:latin typeface="微软雅黑" panose="020B0503020204020204" charset="-122"/>
                  <a:ea typeface="微软雅黑" panose="020B0503020204020204" charset="-122"/>
                </a:rPr>
                <a:t>结论 &amp; 展望</a:t>
              </a:r>
              <a:endParaRPr lang="zh-CN" altLang="en-US" sz="2000" b="1" dirty="0">
                <a:solidFill>
                  <a:schemeClr val="bg1"/>
                </a:solidFill>
                <a:latin typeface="微软雅黑" panose="020B0503020204020204" charset="-122"/>
                <a:ea typeface="微软雅黑" panose="020B0503020204020204" charset="-122"/>
              </a:endParaRPr>
            </a:p>
            <a:p>
              <a:pPr algn="ctr"/>
              <a:endParaRPr lang="zh-CN" altLang="en-US" sz="2000" b="1" dirty="0">
                <a:solidFill>
                  <a:schemeClr val="tx1">
                    <a:lumMod val="50000"/>
                    <a:lumOff val="50000"/>
                  </a:schemeClr>
                </a:solidFill>
                <a:latin typeface="微软雅黑" panose="020B0503020204020204" charset="-122"/>
                <a:ea typeface="微软雅黑" panose="020B0503020204020204" charset="-122"/>
              </a:endParaRPr>
            </a:p>
          </p:txBody>
        </p:sp>
        <p:pic>
          <p:nvPicPr>
            <p:cNvPr id="33" name="图片 32"/>
            <p:cNvPicPr/>
            <p:nvPr/>
          </p:nvPicPr>
          <p:blipFill>
            <a:blip r:embed="rId1"/>
            <a:srcRect t="31267" b="33250"/>
            <a:stretch>
              <a:fillRect/>
            </a:stretch>
          </p:blipFill>
          <p:spPr>
            <a:xfrm>
              <a:off x="-118" y="170"/>
              <a:ext cx="3486" cy="892"/>
            </a:xfrm>
            <a:prstGeom prst="rect">
              <a:avLst/>
            </a:prstGeom>
          </p:spPr>
        </p:pic>
        <p:cxnSp>
          <p:nvCxnSpPr>
            <p:cNvPr id="11" name="直接连接符 10"/>
            <p:cNvCxnSpPr/>
            <p:nvPr/>
          </p:nvCxnSpPr>
          <p:spPr>
            <a:xfrm>
              <a:off x="6251" y="456"/>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4" name="组合 83"/>
          <p:cNvGrpSpPr/>
          <p:nvPr/>
        </p:nvGrpSpPr>
        <p:grpSpPr>
          <a:xfrm>
            <a:off x="742315" y="1099820"/>
            <a:ext cx="10928985" cy="5450840"/>
            <a:chOff x="1619" y="1657"/>
            <a:chExt cx="16809" cy="8584"/>
          </a:xfrm>
        </p:grpSpPr>
        <p:sp>
          <p:nvSpPr>
            <p:cNvPr id="57" name="矩形: 圆角 3"/>
            <p:cNvSpPr/>
            <p:nvPr/>
          </p:nvSpPr>
          <p:spPr>
            <a:xfrm>
              <a:off x="1619" y="1657"/>
              <a:ext cx="15964" cy="8583"/>
            </a:xfrm>
            <a:prstGeom prst="roundRect">
              <a:avLst>
                <a:gd name="adj" fmla="val 7546"/>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 name="矩形: 圆角 4"/>
            <p:cNvSpPr/>
            <p:nvPr/>
          </p:nvSpPr>
          <p:spPr>
            <a:xfrm>
              <a:off x="2464" y="1761"/>
              <a:ext cx="15964" cy="8480"/>
            </a:xfrm>
            <a:prstGeom prst="roundRect">
              <a:avLst>
                <a:gd name="adj" fmla="val 12059"/>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grpSp>
      <p:sp>
        <p:nvSpPr>
          <p:cNvPr id="60" name="文本框 59"/>
          <p:cNvSpPr txBox="1"/>
          <p:nvPr>
            <p:custDataLst>
              <p:tags r:id="rId2"/>
            </p:custDataLst>
          </p:nvPr>
        </p:nvSpPr>
        <p:spPr>
          <a:xfrm>
            <a:off x="1951990" y="3869690"/>
            <a:ext cx="9328785" cy="1753235"/>
          </a:xfrm>
          <a:prstGeom prst="rect">
            <a:avLst/>
          </a:prstGeom>
          <a:noFill/>
        </p:spPr>
        <p:txBody>
          <a:bodyPr wrap="square" rtlCol="0">
            <a:spAutoFit/>
          </a:bodyPr>
          <a:lstStyle/>
          <a:p>
            <a:pPr algn="just">
              <a:lnSpc>
                <a:spcPct val="150000"/>
              </a:lnSpc>
            </a:pPr>
            <a:r>
              <a:rPr lang="zh-CN" altLang="en-US" sz="1600" b="1" dirty="0">
                <a:solidFill>
                  <a:srgbClr val="1F2328"/>
                </a:solidFill>
                <a:latin typeface="微软雅黑" panose="020B0503020204020204" charset="-122"/>
                <a:ea typeface="微软雅黑" panose="020B0503020204020204" charset="-122"/>
              </a:rPr>
              <a:t>      后续有机会可增强：</a:t>
            </a:r>
            <a:endParaRPr lang="en-US" altLang="zh-CN" sz="1600" b="1" dirty="0">
              <a:solidFill>
                <a:srgbClr val="1F2328"/>
              </a:solidFill>
              <a:latin typeface="微软雅黑" panose="020B0503020204020204" charset="-122"/>
              <a:ea typeface="微软雅黑" panose="020B0503020204020204" charset="-122"/>
            </a:endParaRPr>
          </a:p>
          <a:p>
            <a:pPr marL="742950" lvl="1" indent="-285750" algn="just">
              <a:lnSpc>
                <a:spcPct val="150000"/>
              </a:lnSpc>
              <a:buFont typeface="Arial" panose="020B0604020202020204" pitchFamily="34" charset="0"/>
              <a:buChar char="•"/>
            </a:pP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更</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长</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链/多视</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角</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⼀致性：扩展 CoT 模板</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至</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更多并引</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入</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视</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角</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对</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齐</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步骤；对 OmniSpatial/VSI 做阶段性 curriculum。</a:t>
            </a:r>
            <a:endPar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endParaRPr>
          </a:p>
          <a:p>
            <a:pPr marL="742950" lvl="1" indent="-285750" algn="just">
              <a:lnSpc>
                <a:spcPct val="150000"/>
              </a:lnSpc>
              <a:buFont typeface="Arial" panose="020B0604020202020204" pitchFamily="34" charset="0"/>
              <a:buChar char="•"/>
            </a:pP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偏好对</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齐走</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向在线闭环：在仿真中按 DPO → 在线 RL 微调渐进式策略，继续利</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用</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AI2‐THOR </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生</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成失败→修正轨迹</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对</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；DPO 的轻量特性使其适合作为在线对</a:t>
            </a:r>
            <a:r>
              <a:rPr lang="zh-CN" altLang="en-US"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齐</a:t>
            </a:r>
            <a:r>
              <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rPr>
              <a:t>的起点。</a:t>
            </a:r>
            <a:endParaRPr lang="en-US" altLang="zh-CN" sz="1400" dirty="0">
              <a:solidFill>
                <a:srgbClr val="1F2328"/>
              </a:solidFill>
              <a:effectLst/>
              <a:highlight>
                <a:srgbClr val="FFFFFF"/>
              </a:highlight>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3"/>
            </p:custDataLst>
          </p:nvPr>
        </p:nvSpPr>
        <p:spPr>
          <a:xfrm>
            <a:off x="1954530" y="1702435"/>
            <a:ext cx="9326245" cy="2076450"/>
          </a:xfrm>
          <a:prstGeom prst="rect">
            <a:avLst/>
          </a:prstGeom>
          <a:noFill/>
        </p:spPr>
        <p:txBody>
          <a:bodyPr wrap="square" rtlCol="0">
            <a:spAutoFit/>
          </a:bodyPr>
          <a:lstStyle>
            <a:defPPr>
              <a:defRPr lang="zh-CN"/>
            </a:defPPr>
            <a:lvl1pPr>
              <a:lnSpc>
                <a:spcPct val="150000"/>
              </a:lnSpc>
              <a:defRPr sz="1600" i="0">
                <a:solidFill>
                  <a:srgbClr val="1F2328"/>
                </a:solidFill>
                <a:effectLst/>
                <a:highlight>
                  <a:srgbClr val="FFFFFF"/>
                </a:highlight>
                <a:latin typeface="+mj-ea"/>
                <a:ea typeface="+mj-ea"/>
              </a:defRPr>
            </a:lvl1pPr>
            <a:lvl2pPr lvl="1">
              <a:lnSpc>
                <a:spcPct val="150000"/>
              </a:lnSpc>
              <a:defRPr sz="1600" b="0" i="0">
                <a:solidFill>
                  <a:srgbClr val="1F2328"/>
                </a:solidFill>
                <a:effectLst/>
                <a:highlight>
                  <a:srgbClr val="FFFFFF"/>
                </a:highlight>
                <a:latin typeface="-apple-system"/>
              </a:defRPr>
            </a:lvl2pPr>
          </a:lstStyle>
          <a:p>
            <a:pPr algn="just"/>
            <a:r>
              <a:rPr lang="zh-CN" altLang="en-US" b="1" dirty="0">
                <a:latin typeface="微软雅黑" panose="020B0503020204020204" charset="-122"/>
                <a:ea typeface="微软雅黑" panose="020B0503020204020204" charset="-122"/>
              </a:rPr>
              <a:t>    本轮结论：</a:t>
            </a:r>
            <a:endParaRPr lang="en-US" altLang="zh-CN" b="1" dirty="0">
              <a:latin typeface="微软雅黑" panose="020B0503020204020204" charset="-122"/>
              <a:ea typeface="微软雅黑" panose="020B0503020204020204" charset="-122"/>
            </a:endParaRPr>
          </a:p>
          <a:p>
            <a:pPr marL="742950" lvl="1" indent="-285750" algn="just">
              <a:buFont typeface="Arial" panose="020B0604020202020204" pitchFamily="34" charset="0"/>
              <a:buChar char="•"/>
            </a:pPr>
            <a:r>
              <a:rPr lang="zh-CN" altLang="en-US" sz="1400" dirty="0">
                <a:latin typeface="微软雅黑" panose="020B0503020204020204" charset="-122"/>
                <a:ea typeface="微软雅黑" panose="020B0503020204020204" charset="-122"/>
                <a:cs typeface="微软雅黑" panose="020B0503020204020204" charset="-122"/>
              </a:rPr>
              <a:t>结构化</a:t>
            </a:r>
            <a:r>
              <a:rPr lang="en-US" altLang="zh-CN" sz="1400" dirty="0">
                <a:latin typeface="微软雅黑" panose="020B0503020204020204" charset="-122"/>
                <a:ea typeface="微软雅黑" panose="020B0503020204020204" charset="-122"/>
                <a:cs typeface="微软雅黑" panose="020B0503020204020204" charset="-122"/>
              </a:rPr>
              <a:t> CoT + </a:t>
            </a:r>
            <a:r>
              <a:rPr lang="zh-CN" altLang="en-US" sz="1400" dirty="0">
                <a:latin typeface="微软雅黑" panose="020B0503020204020204" charset="-122"/>
                <a:ea typeface="微软雅黑" panose="020B0503020204020204" charset="-122"/>
                <a:cs typeface="微软雅黑" panose="020B0503020204020204" charset="-122"/>
              </a:rPr>
              <a:t>高层规划模板</a:t>
            </a:r>
            <a:r>
              <a:rPr lang="en-US" altLang="zh-CN" sz="1400" dirty="0">
                <a:latin typeface="微软雅黑" panose="020B0503020204020204" charset="-122"/>
                <a:ea typeface="微软雅黑" panose="020B0503020204020204" charset="-122"/>
                <a:cs typeface="微软雅黑" panose="020B0503020204020204" charset="-122"/>
              </a:rPr>
              <a:t> + </a:t>
            </a:r>
            <a:r>
              <a:rPr lang="zh-CN" altLang="en-US" sz="1400" dirty="0">
                <a:latin typeface="微软雅黑" panose="020B0503020204020204" charset="-122"/>
                <a:ea typeface="微软雅黑" panose="020B0503020204020204" charset="-122"/>
                <a:cs typeface="微软雅黑" panose="020B0503020204020204" charset="-122"/>
              </a:rPr>
              <a:t>轻量</a:t>
            </a:r>
            <a:r>
              <a:rPr lang="en-US" altLang="zh-CN" sz="1400" dirty="0">
                <a:latin typeface="微软雅黑" panose="020B0503020204020204" charset="-122"/>
                <a:ea typeface="微软雅黑" panose="020B0503020204020204" charset="-122"/>
                <a:cs typeface="微软雅黑" panose="020B0503020204020204" charset="-122"/>
              </a:rPr>
              <a:t> DPO </a:t>
            </a:r>
            <a:r>
              <a:rPr lang="zh-CN" altLang="en-US" sz="1400" dirty="0">
                <a:latin typeface="微软雅黑" panose="020B0503020204020204" charset="-122"/>
                <a:ea typeface="微软雅黑" panose="020B0503020204020204" charset="-122"/>
                <a:cs typeface="微软雅黑" panose="020B0503020204020204" charset="-122"/>
              </a:rPr>
              <a:t>的组合，在需要</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先聚焦后回答</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先规划再行动</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的基准上（如</a:t>
            </a:r>
            <a:r>
              <a:rPr lang="en-US" altLang="zh-CN" sz="1400" dirty="0">
                <a:latin typeface="微软雅黑" panose="020B0503020204020204" charset="-122"/>
                <a:ea typeface="微软雅黑" panose="020B0503020204020204" charset="-122"/>
                <a:cs typeface="微软雅黑" panose="020B0503020204020204" charset="-122"/>
              </a:rPr>
              <a:t> EmbSpatial</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MMSI</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CVBench</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RealWorldQA</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All-Angles</a:t>
            </a:r>
            <a:r>
              <a:rPr lang="zh-CN" altLang="en-US" sz="1400" dirty="0">
                <a:latin typeface="微软雅黑" panose="020B0503020204020204" charset="-122"/>
                <a:ea typeface="微软雅黑" panose="020B0503020204020204" charset="-122"/>
                <a:cs typeface="微软雅黑" panose="020B0503020204020204" charset="-122"/>
              </a:rPr>
              <a:t>）显著高于</a:t>
            </a:r>
            <a:r>
              <a:rPr lang="zh-CN" altLang="en-US" sz="1400" dirty="0">
                <a:latin typeface="微软雅黑" panose="020B0503020204020204" charset="-122"/>
                <a:ea typeface="微软雅黑" panose="020B0503020204020204" charset="-122"/>
                <a:cs typeface="微软雅黑" panose="020B0503020204020204" charset="-122"/>
              </a:rPr>
              <a:t>基准。</a:t>
            </a:r>
            <a:endParaRPr lang="zh-CN" altLang="en-US" sz="1400" dirty="0">
              <a:latin typeface="微软雅黑" panose="020B0503020204020204" charset="-122"/>
              <a:ea typeface="微软雅黑" panose="020B0503020204020204" charset="-122"/>
              <a:cs typeface="微软雅黑" panose="020B0503020204020204" charset="-122"/>
            </a:endParaRPr>
          </a:p>
          <a:p>
            <a:pPr marL="742950" lvl="1" indent="-285750" algn="just">
              <a:buFont typeface="Arial" panose="020B0604020202020204" pitchFamily="34" charset="0"/>
              <a:buChar char="•"/>
            </a:pPr>
            <a:r>
              <a:rPr lang="zh-CN" altLang="en-US" sz="1400" dirty="0">
                <a:latin typeface="微软雅黑" panose="020B0503020204020204" charset="-122"/>
                <a:ea typeface="微软雅黑" panose="020B0503020204020204" charset="-122"/>
                <a:cs typeface="微软雅黑" panose="020B0503020204020204" charset="-122"/>
              </a:rPr>
              <a:t>对长链推理</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坐标几何型输出（</a:t>
            </a:r>
            <a:r>
              <a:rPr lang="en-US" altLang="zh-CN" sz="1400" dirty="0">
                <a:latin typeface="微软雅黑" panose="020B0503020204020204" charset="-122"/>
                <a:ea typeface="微软雅黑" panose="020B0503020204020204" charset="-122"/>
                <a:cs typeface="微软雅黑" panose="020B0503020204020204" charset="-122"/>
              </a:rPr>
              <a:t>OmniSpatial</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VSI</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RefSpatial</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Where2Place</a:t>
            </a:r>
            <a:r>
              <a:rPr lang="zh-CN" altLang="en-US" sz="1400" dirty="0">
                <a:latin typeface="微软雅黑" panose="020B0503020204020204" charset="-122"/>
                <a:ea typeface="微软雅黑" panose="020B0503020204020204" charset="-122"/>
                <a:cs typeface="微软雅黑" panose="020B0503020204020204" charset="-122"/>
              </a:rPr>
              <a:t>）仍有提升空间，短板为推理链不够长</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推理过程容易</a:t>
            </a:r>
            <a:r>
              <a:rPr lang="zh-CN" altLang="en-US" sz="1400" dirty="0">
                <a:latin typeface="微软雅黑" panose="020B0503020204020204" charset="-122"/>
                <a:ea typeface="微软雅黑" panose="020B0503020204020204" charset="-122"/>
                <a:cs typeface="微软雅黑" panose="020B0503020204020204" charset="-122"/>
              </a:rPr>
              <a:t>出错。</a:t>
            </a:r>
            <a:endParaRPr lang="zh-CN" altLang="en-US" sz="1400" dirty="0">
              <a:latin typeface="微软雅黑" panose="020B0503020204020204" charset="-122"/>
              <a:ea typeface="微软雅黑" panose="020B0503020204020204" charset="-122"/>
              <a:cs typeface="微软雅黑" panose="020B0503020204020204" charset="-122"/>
            </a:endParaRPr>
          </a:p>
          <a:p>
            <a:pPr marL="742950" lvl="1" indent="-285750" algn="just">
              <a:buFont typeface="Arial" panose="020B0604020202020204" pitchFamily="34" charset="0"/>
              <a:buChar char="•"/>
            </a:pPr>
            <a:r>
              <a:rPr lang="en-US" altLang="zh-CN" sz="1400" dirty="0">
                <a:latin typeface="微软雅黑" panose="020B0503020204020204" charset="-122"/>
                <a:ea typeface="微软雅黑" panose="020B0503020204020204" charset="-122"/>
                <a:cs typeface="微软雅黑" panose="020B0503020204020204" charset="-122"/>
              </a:rPr>
              <a:t>7 </a:t>
            </a:r>
            <a:r>
              <a:rPr lang="zh-CN" altLang="en-US" sz="1400" dirty="0">
                <a:latin typeface="微软雅黑" panose="020B0503020204020204" charset="-122"/>
                <a:ea typeface="微软雅黑" panose="020B0503020204020204" charset="-122"/>
                <a:cs typeface="微软雅黑" panose="020B0503020204020204" charset="-122"/>
              </a:rPr>
              <a:t>项数据集</a:t>
            </a:r>
            <a:r>
              <a:rPr lang="en-US" altLang="zh-CN" sz="1400" dirty="0">
                <a:latin typeface="微软雅黑" panose="020B0503020204020204" charset="-122"/>
                <a:ea typeface="微软雅黑" panose="020B0503020204020204" charset="-122"/>
                <a:cs typeface="微软雅黑" panose="020B0503020204020204" charset="-122"/>
              </a:rPr>
              <a:t> Accuracy </a:t>
            </a:r>
            <a:r>
              <a:rPr lang="zh-CN" altLang="en-US" sz="1400" dirty="0">
                <a:latin typeface="微软雅黑" panose="020B0503020204020204" charset="-122"/>
                <a:ea typeface="微软雅黑" panose="020B0503020204020204" charset="-122"/>
                <a:cs typeface="微软雅黑" panose="020B0503020204020204" charset="-122"/>
              </a:rPr>
              <a:t>显著超过使用</a:t>
            </a:r>
            <a:r>
              <a:rPr lang="en-US" altLang="zh-CN" sz="1400" dirty="0">
                <a:latin typeface="微软雅黑" panose="020B0503020204020204" charset="-122"/>
                <a:ea typeface="微软雅黑" panose="020B0503020204020204" charset="-122"/>
                <a:cs typeface="微软雅黑" panose="020B0503020204020204" charset="-122"/>
              </a:rPr>
              <a:t> FlagEvalMM </a:t>
            </a:r>
            <a:r>
              <a:rPr lang="zh-CN" altLang="en-US" sz="1400" dirty="0">
                <a:latin typeface="微软雅黑" panose="020B0503020204020204" charset="-122"/>
                <a:ea typeface="微软雅黑" panose="020B0503020204020204" charset="-122"/>
                <a:cs typeface="微软雅黑" panose="020B0503020204020204" charset="-122"/>
              </a:rPr>
              <a:t>自测的</a:t>
            </a:r>
            <a:r>
              <a:rPr lang="en-US" altLang="zh-CN" sz="1400" dirty="0">
                <a:latin typeface="微软雅黑" panose="020B0503020204020204" charset="-122"/>
                <a:ea typeface="微软雅黑" panose="020B0503020204020204" charset="-122"/>
                <a:cs typeface="微软雅黑" panose="020B0503020204020204" charset="-122"/>
              </a:rPr>
              <a:t> RoboBrain2.0-7B Baseline</a:t>
            </a:r>
            <a:r>
              <a:rPr lang="zh-CN" altLang="en-US" sz="1400" dirty="0">
                <a:latin typeface="微软雅黑" panose="020B0503020204020204" charset="-122"/>
                <a:ea typeface="微软雅黑" panose="020B0503020204020204" charset="-122"/>
                <a:cs typeface="微软雅黑" panose="020B0503020204020204" charset="-122"/>
              </a:rPr>
              <a:t>。</a:t>
            </a:r>
            <a:endParaRPr lang="zh-CN" altLang="en-US" sz="1400" dirty="0">
              <a:latin typeface="微软雅黑" panose="020B0503020204020204" charset="-122"/>
              <a:ea typeface="微软雅黑" panose="020B0503020204020204" charset="-122"/>
              <a:cs typeface="微软雅黑" panose="020B0503020204020204" charset="-122"/>
            </a:endParaRPr>
          </a:p>
        </p:txBody>
      </p:sp>
      <p:grpSp>
        <p:nvGrpSpPr>
          <p:cNvPr id="62" name="Gruppieren 1071"/>
          <p:cNvGrpSpPr/>
          <p:nvPr>
            <p:custDataLst>
              <p:tags r:id="rId4"/>
            </p:custDataLst>
          </p:nvPr>
        </p:nvGrpSpPr>
        <p:grpSpPr>
          <a:xfrm rot="0">
            <a:off x="1814830" y="1779905"/>
            <a:ext cx="344805" cy="330200"/>
            <a:chOff x="4148138" y="3917951"/>
            <a:chExt cx="266700" cy="341312"/>
          </a:xfrm>
          <a:solidFill>
            <a:schemeClr val="accent1"/>
          </a:solidFill>
        </p:grpSpPr>
        <p:sp>
          <p:nvSpPr>
            <p:cNvPr id="63" name="Freeform 257"/>
            <p:cNvSpPr>
              <a:spLocks noEditPoints="1"/>
            </p:cNvSpPr>
            <p:nvPr>
              <p:custDataLst>
                <p:tags r:id="rId5"/>
              </p:custDataLst>
            </p:nvPr>
          </p:nvSpPr>
          <p:spPr bwMode="auto">
            <a:xfrm>
              <a:off x="4321175" y="4167188"/>
              <a:ext cx="93663" cy="92075"/>
            </a:xfrm>
            <a:custGeom>
              <a:avLst/>
              <a:gdLst>
                <a:gd name="T0" fmla="*/ 36 w 64"/>
                <a:gd name="T1" fmla="*/ 64 h 64"/>
                <a:gd name="T2" fmla="*/ 28 w 64"/>
                <a:gd name="T3" fmla="*/ 64 h 64"/>
                <a:gd name="T4" fmla="*/ 20 w 64"/>
                <a:gd name="T5" fmla="*/ 56 h 64"/>
                <a:gd name="T6" fmla="*/ 20 w 64"/>
                <a:gd name="T7" fmla="*/ 44 h 64"/>
                <a:gd name="T8" fmla="*/ 8 w 64"/>
                <a:gd name="T9" fmla="*/ 44 h 64"/>
                <a:gd name="T10" fmla="*/ 0 w 64"/>
                <a:gd name="T11" fmla="*/ 36 h 64"/>
                <a:gd name="T12" fmla="*/ 0 w 64"/>
                <a:gd name="T13" fmla="*/ 28 h 64"/>
                <a:gd name="T14" fmla="*/ 8 w 64"/>
                <a:gd name="T15" fmla="*/ 20 h 64"/>
                <a:gd name="T16" fmla="*/ 20 w 64"/>
                <a:gd name="T17" fmla="*/ 20 h 64"/>
                <a:gd name="T18" fmla="*/ 20 w 64"/>
                <a:gd name="T19" fmla="*/ 8 h 64"/>
                <a:gd name="T20" fmla="*/ 28 w 64"/>
                <a:gd name="T21" fmla="*/ 0 h 64"/>
                <a:gd name="T22" fmla="*/ 36 w 64"/>
                <a:gd name="T23" fmla="*/ 0 h 64"/>
                <a:gd name="T24" fmla="*/ 44 w 64"/>
                <a:gd name="T25" fmla="*/ 8 h 64"/>
                <a:gd name="T26" fmla="*/ 44 w 64"/>
                <a:gd name="T27" fmla="*/ 20 h 64"/>
                <a:gd name="T28" fmla="*/ 56 w 64"/>
                <a:gd name="T29" fmla="*/ 20 h 64"/>
                <a:gd name="T30" fmla="*/ 64 w 64"/>
                <a:gd name="T31" fmla="*/ 28 h 64"/>
                <a:gd name="T32" fmla="*/ 64 w 64"/>
                <a:gd name="T33" fmla="*/ 36 h 64"/>
                <a:gd name="T34" fmla="*/ 56 w 64"/>
                <a:gd name="T35" fmla="*/ 44 h 64"/>
                <a:gd name="T36" fmla="*/ 44 w 64"/>
                <a:gd name="T37" fmla="*/ 44 h 64"/>
                <a:gd name="T38" fmla="*/ 44 w 64"/>
                <a:gd name="T39" fmla="*/ 56 h 64"/>
                <a:gd name="T40" fmla="*/ 36 w 64"/>
                <a:gd name="T41" fmla="*/ 64 h 64"/>
                <a:gd name="T42" fmla="*/ 20 w 64"/>
                <a:gd name="T43" fmla="*/ 36 h 64"/>
                <a:gd name="T44" fmla="*/ 28 w 64"/>
                <a:gd name="T45" fmla="*/ 44 h 64"/>
                <a:gd name="T46" fmla="*/ 28 w 64"/>
                <a:gd name="T47" fmla="*/ 56 h 64"/>
                <a:gd name="T48" fmla="*/ 36 w 64"/>
                <a:gd name="T49" fmla="*/ 56 h 64"/>
                <a:gd name="T50" fmla="*/ 36 w 64"/>
                <a:gd name="T51" fmla="*/ 44 h 64"/>
                <a:gd name="T52" fmla="*/ 44 w 64"/>
                <a:gd name="T53" fmla="*/ 36 h 64"/>
                <a:gd name="T54" fmla="*/ 56 w 64"/>
                <a:gd name="T55" fmla="*/ 36 h 64"/>
                <a:gd name="T56" fmla="*/ 56 w 64"/>
                <a:gd name="T57" fmla="*/ 28 h 64"/>
                <a:gd name="T58" fmla="*/ 44 w 64"/>
                <a:gd name="T59" fmla="*/ 28 h 64"/>
                <a:gd name="T60" fmla="*/ 36 w 64"/>
                <a:gd name="T61" fmla="*/ 20 h 64"/>
                <a:gd name="T62" fmla="*/ 36 w 64"/>
                <a:gd name="T63" fmla="*/ 8 h 64"/>
                <a:gd name="T64" fmla="*/ 28 w 64"/>
                <a:gd name="T65" fmla="*/ 8 h 64"/>
                <a:gd name="T66" fmla="*/ 28 w 64"/>
                <a:gd name="T67" fmla="*/ 20 h 64"/>
                <a:gd name="T68" fmla="*/ 20 w 64"/>
                <a:gd name="T69" fmla="*/ 28 h 64"/>
                <a:gd name="T70" fmla="*/ 8 w 64"/>
                <a:gd name="T71" fmla="*/ 28 h 64"/>
                <a:gd name="T72" fmla="*/ 8 w 64"/>
                <a:gd name="T73" fmla="*/ 36 h 64"/>
                <a:gd name="T74" fmla="*/ 20 w 64"/>
                <a:gd name="T75" fmla="*/ 3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 h="64">
                  <a:moveTo>
                    <a:pt x="36" y="64"/>
                  </a:moveTo>
                  <a:cubicBezTo>
                    <a:pt x="28" y="64"/>
                    <a:pt x="28" y="64"/>
                    <a:pt x="28" y="64"/>
                  </a:cubicBezTo>
                  <a:cubicBezTo>
                    <a:pt x="24" y="64"/>
                    <a:pt x="20" y="60"/>
                    <a:pt x="20" y="56"/>
                  </a:cubicBezTo>
                  <a:cubicBezTo>
                    <a:pt x="20" y="44"/>
                    <a:pt x="20" y="44"/>
                    <a:pt x="20" y="44"/>
                  </a:cubicBezTo>
                  <a:cubicBezTo>
                    <a:pt x="8" y="44"/>
                    <a:pt x="8" y="44"/>
                    <a:pt x="8" y="44"/>
                  </a:cubicBezTo>
                  <a:cubicBezTo>
                    <a:pt x="4" y="44"/>
                    <a:pt x="0" y="40"/>
                    <a:pt x="0" y="36"/>
                  </a:cubicBezTo>
                  <a:cubicBezTo>
                    <a:pt x="0" y="28"/>
                    <a:pt x="0" y="28"/>
                    <a:pt x="0" y="28"/>
                  </a:cubicBezTo>
                  <a:cubicBezTo>
                    <a:pt x="0" y="24"/>
                    <a:pt x="4" y="20"/>
                    <a:pt x="8" y="20"/>
                  </a:cubicBezTo>
                  <a:cubicBezTo>
                    <a:pt x="20" y="20"/>
                    <a:pt x="20" y="20"/>
                    <a:pt x="20" y="20"/>
                  </a:cubicBezTo>
                  <a:cubicBezTo>
                    <a:pt x="20" y="8"/>
                    <a:pt x="20" y="8"/>
                    <a:pt x="20" y="8"/>
                  </a:cubicBezTo>
                  <a:cubicBezTo>
                    <a:pt x="20" y="4"/>
                    <a:pt x="24" y="0"/>
                    <a:pt x="28" y="0"/>
                  </a:cubicBezTo>
                  <a:cubicBezTo>
                    <a:pt x="36" y="0"/>
                    <a:pt x="36" y="0"/>
                    <a:pt x="36" y="0"/>
                  </a:cubicBezTo>
                  <a:cubicBezTo>
                    <a:pt x="40" y="0"/>
                    <a:pt x="44" y="4"/>
                    <a:pt x="44" y="8"/>
                  </a:cubicBezTo>
                  <a:cubicBezTo>
                    <a:pt x="44" y="20"/>
                    <a:pt x="44" y="20"/>
                    <a:pt x="44" y="20"/>
                  </a:cubicBezTo>
                  <a:cubicBezTo>
                    <a:pt x="56" y="20"/>
                    <a:pt x="56" y="20"/>
                    <a:pt x="56" y="20"/>
                  </a:cubicBezTo>
                  <a:cubicBezTo>
                    <a:pt x="60" y="20"/>
                    <a:pt x="64" y="24"/>
                    <a:pt x="64" y="28"/>
                  </a:cubicBezTo>
                  <a:cubicBezTo>
                    <a:pt x="64" y="36"/>
                    <a:pt x="64" y="36"/>
                    <a:pt x="64" y="36"/>
                  </a:cubicBezTo>
                  <a:cubicBezTo>
                    <a:pt x="64" y="40"/>
                    <a:pt x="60" y="44"/>
                    <a:pt x="56" y="44"/>
                  </a:cubicBezTo>
                  <a:cubicBezTo>
                    <a:pt x="44" y="44"/>
                    <a:pt x="44" y="44"/>
                    <a:pt x="44" y="44"/>
                  </a:cubicBezTo>
                  <a:cubicBezTo>
                    <a:pt x="44" y="56"/>
                    <a:pt x="44" y="56"/>
                    <a:pt x="44" y="56"/>
                  </a:cubicBezTo>
                  <a:cubicBezTo>
                    <a:pt x="44" y="60"/>
                    <a:pt x="40" y="64"/>
                    <a:pt x="36" y="64"/>
                  </a:cubicBezTo>
                  <a:close/>
                  <a:moveTo>
                    <a:pt x="20" y="36"/>
                  </a:moveTo>
                  <a:cubicBezTo>
                    <a:pt x="24" y="36"/>
                    <a:pt x="28" y="40"/>
                    <a:pt x="28" y="44"/>
                  </a:cubicBezTo>
                  <a:cubicBezTo>
                    <a:pt x="28" y="56"/>
                    <a:pt x="28" y="56"/>
                    <a:pt x="28" y="56"/>
                  </a:cubicBezTo>
                  <a:cubicBezTo>
                    <a:pt x="36" y="56"/>
                    <a:pt x="36" y="56"/>
                    <a:pt x="36" y="56"/>
                  </a:cubicBezTo>
                  <a:cubicBezTo>
                    <a:pt x="36" y="44"/>
                    <a:pt x="36" y="44"/>
                    <a:pt x="36" y="44"/>
                  </a:cubicBezTo>
                  <a:cubicBezTo>
                    <a:pt x="36" y="40"/>
                    <a:pt x="40" y="36"/>
                    <a:pt x="44" y="36"/>
                  </a:cubicBezTo>
                  <a:cubicBezTo>
                    <a:pt x="56" y="36"/>
                    <a:pt x="56" y="36"/>
                    <a:pt x="56" y="36"/>
                  </a:cubicBezTo>
                  <a:cubicBezTo>
                    <a:pt x="56" y="28"/>
                    <a:pt x="56" y="28"/>
                    <a:pt x="56" y="28"/>
                  </a:cubicBezTo>
                  <a:cubicBezTo>
                    <a:pt x="44" y="28"/>
                    <a:pt x="44" y="28"/>
                    <a:pt x="44" y="28"/>
                  </a:cubicBezTo>
                  <a:cubicBezTo>
                    <a:pt x="40" y="28"/>
                    <a:pt x="36" y="24"/>
                    <a:pt x="36" y="20"/>
                  </a:cubicBezTo>
                  <a:cubicBezTo>
                    <a:pt x="36" y="8"/>
                    <a:pt x="36" y="8"/>
                    <a:pt x="36" y="8"/>
                  </a:cubicBezTo>
                  <a:cubicBezTo>
                    <a:pt x="28" y="8"/>
                    <a:pt x="28" y="8"/>
                    <a:pt x="28" y="8"/>
                  </a:cubicBezTo>
                  <a:cubicBezTo>
                    <a:pt x="28" y="20"/>
                    <a:pt x="28" y="20"/>
                    <a:pt x="28" y="20"/>
                  </a:cubicBezTo>
                  <a:cubicBezTo>
                    <a:pt x="28" y="24"/>
                    <a:pt x="24" y="28"/>
                    <a:pt x="20" y="28"/>
                  </a:cubicBezTo>
                  <a:cubicBezTo>
                    <a:pt x="8" y="28"/>
                    <a:pt x="8" y="28"/>
                    <a:pt x="8" y="28"/>
                  </a:cubicBezTo>
                  <a:cubicBezTo>
                    <a:pt x="8" y="36"/>
                    <a:pt x="8" y="36"/>
                    <a:pt x="8" y="36"/>
                  </a:cubicBezTo>
                  <a:lnTo>
                    <a:pt x="20"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64" name="Freeform 258"/>
            <p:cNvSpPr/>
            <p:nvPr>
              <p:custDataLst>
                <p:tags r:id="rId6"/>
              </p:custDataLst>
            </p:nvPr>
          </p:nvSpPr>
          <p:spPr bwMode="auto">
            <a:xfrm>
              <a:off x="4170363" y="3963988"/>
              <a:ext cx="128588" cy="249238"/>
            </a:xfrm>
            <a:custGeom>
              <a:avLst/>
              <a:gdLst>
                <a:gd name="T0" fmla="*/ 88 w 88"/>
                <a:gd name="T1" fmla="*/ 172 h 172"/>
                <a:gd name="T2" fmla="*/ 10 w 88"/>
                <a:gd name="T3" fmla="*/ 172 h 172"/>
                <a:gd name="T4" fmla="*/ 0 w 88"/>
                <a:gd name="T5" fmla="*/ 162 h 172"/>
                <a:gd name="T6" fmla="*/ 0 w 88"/>
                <a:gd name="T7" fmla="*/ 10 h 172"/>
                <a:gd name="T8" fmla="*/ 10 w 88"/>
                <a:gd name="T9" fmla="*/ 0 h 172"/>
                <a:gd name="T10" fmla="*/ 20 w 88"/>
                <a:gd name="T11" fmla="*/ 0 h 172"/>
                <a:gd name="T12" fmla="*/ 20 w 88"/>
                <a:gd name="T13" fmla="*/ 8 h 172"/>
                <a:gd name="T14" fmla="*/ 10 w 88"/>
                <a:gd name="T15" fmla="*/ 8 h 172"/>
                <a:gd name="T16" fmla="*/ 8 w 88"/>
                <a:gd name="T17" fmla="*/ 10 h 172"/>
                <a:gd name="T18" fmla="*/ 8 w 88"/>
                <a:gd name="T19" fmla="*/ 162 h 172"/>
                <a:gd name="T20" fmla="*/ 10 w 88"/>
                <a:gd name="T21" fmla="*/ 164 h 172"/>
                <a:gd name="T22" fmla="*/ 88 w 88"/>
                <a:gd name="T23" fmla="*/ 164 h 172"/>
                <a:gd name="T24" fmla="*/ 88 w 88"/>
                <a:gd name="T25"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72">
                  <a:moveTo>
                    <a:pt x="88" y="172"/>
                  </a:moveTo>
                  <a:cubicBezTo>
                    <a:pt x="10" y="172"/>
                    <a:pt x="10" y="172"/>
                    <a:pt x="10" y="172"/>
                  </a:cubicBezTo>
                  <a:cubicBezTo>
                    <a:pt x="5" y="172"/>
                    <a:pt x="0" y="167"/>
                    <a:pt x="0" y="162"/>
                  </a:cubicBezTo>
                  <a:cubicBezTo>
                    <a:pt x="0" y="10"/>
                    <a:pt x="0" y="10"/>
                    <a:pt x="0" y="10"/>
                  </a:cubicBezTo>
                  <a:cubicBezTo>
                    <a:pt x="0" y="5"/>
                    <a:pt x="5" y="0"/>
                    <a:pt x="10" y="0"/>
                  </a:cubicBezTo>
                  <a:cubicBezTo>
                    <a:pt x="20" y="0"/>
                    <a:pt x="20" y="0"/>
                    <a:pt x="20" y="0"/>
                  </a:cubicBezTo>
                  <a:cubicBezTo>
                    <a:pt x="20" y="8"/>
                    <a:pt x="20" y="8"/>
                    <a:pt x="20" y="8"/>
                  </a:cubicBezTo>
                  <a:cubicBezTo>
                    <a:pt x="10" y="8"/>
                    <a:pt x="10" y="8"/>
                    <a:pt x="10" y="8"/>
                  </a:cubicBezTo>
                  <a:cubicBezTo>
                    <a:pt x="9" y="8"/>
                    <a:pt x="8" y="9"/>
                    <a:pt x="8" y="10"/>
                  </a:cubicBezTo>
                  <a:cubicBezTo>
                    <a:pt x="8" y="162"/>
                    <a:pt x="8" y="162"/>
                    <a:pt x="8" y="162"/>
                  </a:cubicBezTo>
                  <a:cubicBezTo>
                    <a:pt x="8" y="163"/>
                    <a:pt x="9" y="164"/>
                    <a:pt x="10" y="164"/>
                  </a:cubicBezTo>
                  <a:cubicBezTo>
                    <a:pt x="88" y="164"/>
                    <a:pt x="88" y="164"/>
                    <a:pt x="88" y="164"/>
                  </a:cubicBezTo>
                  <a:lnTo>
                    <a:pt x="88" y="17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65" name="Freeform 259"/>
            <p:cNvSpPr/>
            <p:nvPr>
              <p:custDataLst>
                <p:tags r:id="rId7"/>
              </p:custDataLst>
            </p:nvPr>
          </p:nvSpPr>
          <p:spPr bwMode="auto">
            <a:xfrm>
              <a:off x="4333875" y="3963988"/>
              <a:ext cx="22225" cy="179388"/>
            </a:xfrm>
            <a:custGeom>
              <a:avLst/>
              <a:gdLst>
                <a:gd name="T0" fmla="*/ 16 w 16"/>
                <a:gd name="T1" fmla="*/ 124 h 124"/>
                <a:gd name="T2" fmla="*/ 8 w 16"/>
                <a:gd name="T3" fmla="*/ 124 h 124"/>
                <a:gd name="T4" fmla="*/ 8 w 16"/>
                <a:gd name="T5" fmla="*/ 10 h 124"/>
                <a:gd name="T6" fmla="*/ 6 w 16"/>
                <a:gd name="T7" fmla="*/ 8 h 124"/>
                <a:gd name="T8" fmla="*/ 0 w 16"/>
                <a:gd name="T9" fmla="*/ 8 h 124"/>
                <a:gd name="T10" fmla="*/ 0 w 16"/>
                <a:gd name="T11" fmla="*/ 0 h 124"/>
                <a:gd name="T12" fmla="*/ 6 w 16"/>
                <a:gd name="T13" fmla="*/ 0 h 124"/>
                <a:gd name="T14" fmla="*/ 16 w 16"/>
                <a:gd name="T15" fmla="*/ 10 h 124"/>
                <a:gd name="T16" fmla="*/ 16 w 16"/>
                <a:gd name="T17"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24">
                  <a:moveTo>
                    <a:pt x="16" y="124"/>
                  </a:moveTo>
                  <a:cubicBezTo>
                    <a:pt x="8" y="124"/>
                    <a:pt x="8" y="124"/>
                    <a:pt x="8" y="124"/>
                  </a:cubicBezTo>
                  <a:cubicBezTo>
                    <a:pt x="8" y="10"/>
                    <a:pt x="8" y="10"/>
                    <a:pt x="8" y="10"/>
                  </a:cubicBezTo>
                  <a:cubicBezTo>
                    <a:pt x="8" y="9"/>
                    <a:pt x="7" y="8"/>
                    <a:pt x="6" y="8"/>
                  </a:cubicBezTo>
                  <a:cubicBezTo>
                    <a:pt x="0" y="8"/>
                    <a:pt x="0" y="8"/>
                    <a:pt x="0" y="8"/>
                  </a:cubicBezTo>
                  <a:cubicBezTo>
                    <a:pt x="0" y="0"/>
                    <a:pt x="0" y="0"/>
                    <a:pt x="0" y="0"/>
                  </a:cubicBezTo>
                  <a:cubicBezTo>
                    <a:pt x="6" y="0"/>
                    <a:pt x="6" y="0"/>
                    <a:pt x="6" y="0"/>
                  </a:cubicBezTo>
                  <a:cubicBezTo>
                    <a:pt x="11" y="0"/>
                    <a:pt x="16" y="5"/>
                    <a:pt x="16" y="10"/>
                  </a:cubicBezTo>
                  <a:lnTo>
                    <a:pt x="16" y="1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66" name="Freeform 260"/>
            <p:cNvSpPr/>
            <p:nvPr>
              <p:custDataLst>
                <p:tags r:id="rId8"/>
              </p:custDataLst>
            </p:nvPr>
          </p:nvSpPr>
          <p:spPr bwMode="auto">
            <a:xfrm>
              <a:off x="4286250" y="4005263"/>
              <a:ext cx="47625" cy="11113"/>
            </a:xfrm>
            <a:custGeom>
              <a:avLst/>
              <a:gdLst>
                <a:gd name="T0" fmla="*/ 28 w 32"/>
                <a:gd name="T1" fmla="*/ 8 h 8"/>
                <a:gd name="T2" fmla="*/ 4 w 32"/>
                <a:gd name="T3" fmla="*/ 8 h 8"/>
                <a:gd name="T4" fmla="*/ 0 w 32"/>
                <a:gd name="T5" fmla="*/ 4 h 8"/>
                <a:gd name="T6" fmla="*/ 4 w 32"/>
                <a:gd name="T7" fmla="*/ 0 h 8"/>
                <a:gd name="T8" fmla="*/ 28 w 32"/>
                <a:gd name="T9" fmla="*/ 0 h 8"/>
                <a:gd name="T10" fmla="*/ 32 w 32"/>
                <a:gd name="T11" fmla="*/ 4 h 8"/>
                <a:gd name="T12" fmla="*/ 28 w 3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8"/>
                  </a:moveTo>
                  <a:cubicBezTo>
                    <a:pt x="4" y="8"/>
                    <a:pt x="4" y="8"/>
                    <a:pt x="4" y="8"/>
                  </a:cubicBezTo>
                  <a:cubicBezTo>
                    <a:pt x="2" y="8"/>
                    <a:pt x="0" y="6"/>
                    <a:pt x="0" y="4"/>
                  </a:cubicBezTo>
                  <a:cubicBezTo>
                    <a:pt x="0" y="2"/>
                    <a:pt x="2" y="0"/>
                    <a:pt x="4" y="0"/>
                  </a:cubicBezTo>
                  <a:cubicBezTo>
                    <a:pt x="28" y="0"/>
                    <a:pt x="28" y="0"/>
                    <a:pt x="28" y="0"/>
                  </a:cubicBezTo>
                  <a:cubicBezTo>
                    <a:pt x="30" y="0"/>
                    <a:pt x="32" y="2"/>
                    <a:pt x="32" y="4"/>
                  </a:cubicBezTo>
                  <a:cubicBezTo>
                    <a:pt x="32" y="6"/>
                    <a:pt x="30" y="8"/>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67" name="Freeform 261"/>
            <p:cNvSpPr/>
            <p:nvPr>
              <p:custDataLst>
                <p:tags r:id="rId9"/>
              </p:custDataLst>
            </p:nvPr>
          </p:nvSpPr>
          <p:spPr bwMode="auto">
            <a:xfrm>
              <a:off x="4286250" y="4033838"/>
              <a:ext cx="47625" cy="11113"/>
            </a:xfrm>
            <a:custGeom>
              <a:avLst/>
              <a:gdLst>
                <a:gd name="T0" fmla="*/ 28 w 32"/>
                <a:gd name="T1" fmla="*/ 8 h 8"/>
                <a:gd name="T2" fmla="*/ 4 w 32"/>
                <a:gd name="T3" fmla="*/ 8 h 8"/>
                <a:gd name="T4" fmla="*/ 0 w 32"/>
                <a:gd name="T5" fmla="*/ 4 h 8"/>
                <a:gd name="T6" fmla="*/ 4 w 32"/>
                <a:gd name="T7" fmla="*/ 0 h 8"/>
                <a:gd name="T8" fmla="*/ 28 w 32"/>
                <a:gd name="T9" fmla="*/ 0 h 8"/>
                <a:gd name="T10" fmla="*/ 32 w 32"/>
                <a:gd name="T11" fmla="*/ 4 h 8"/>
                <a:gd name="T12" fmla="*/ 28 w 3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8"/>
                  </a:moveTo>
                  <a:cubicBezTo>
                    <a:pt x="4" y="8"/>
                    <a:pt x="4" y="8"/>
                    <a:pt x="4" y="8"/>
                  </a:cubicBezTo>
                  <a:cubicBezTo>
                    <a:pt x="2" y="8"/>
                    <a:pt x="0" y="6"/>
                    <a:pt x="0" y="4"/>
                  </a:cubicBezTo>
                  <a:cubicBezTo>
                    <a:pt x="0" y="2"/>
                    <a:pt x="2" y="0"/>
                    <a:pt x="4" y="0"/>
                  </a:cubicBezTo>
                  <a:cubicBezTo>
                    <a:pt x="28" y="0"/>
                    <a:pt x="28" y="0"/>
                    <a:pt x="28" y="0"/>
                  </a:cubicBezTo>
                  <a:cubicBezTo>
                    <a:pt x="30" y="0"/>
                    <a:pt x="32" y="2"/>
                    <a:pt x="32" y="4"/>
                  </a:cubicBezTo>
                  <a:cubicBezTo>
                    <a:pt x="32" y="6"/>
                    <a:pt x="30" y="8"/>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68" name="Freeform 262"/>
            <p:cNvSpPr/>
            <p:nvPr>
              <p:custDataLst>
                <p:tags r:id="rId10"/>
              </p:custDataLst>
            </p:nvPr>
          </p:nvSpPr>
          <p:spPr bwMode="auto">
            <a:xfrm>
              <a:off x="4286250" y="4062413"/>
              <a:ext cx="47625" cy="11113"/>
            </a:xfrm>
            <a:custGeom>
              <a:avLst/>
              <a:gdLst>
                <a:gd name="T0" fmla="*/ 28 w 32"/>
                <a:gd name="T1" fmla="*/ 8 h 8"/>
                <a:gd name="T2" fmla="*/ 4 w 32"/>
                <a:gd name="T3" fmla="*/ 8 h 8"/>
                <a:gd name="T4" fmla="*/ 0 w 32"/>
                <a:gd name="T5" fmla="*/ 4 h 8"/>
                <a:gd name="T6" fmla="*/ 4 w 32"/>
                <a:gd name="T7" fmla="*/ 0 h 8"/>
                <a:gd name="T8" fmla="*/ 28 w 32"/>
                <a:gd name="T9" fmla="*/ 0 h 8"/>
                <a:gd name="T10" fmla="*/ 32 w 32"/>
                <a:gd name="T11" fmla="*/ 4 h 8"/>
                <a:gd name="T12" fmla="*/ 28 w 3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8"/>
                  </a:moveTo>
                  <a:cubicBezTo>
                    <a:pt x="4" y="8"/>
                    <a:pt x="4" y="8"/>
                    <a:pt x="4" y="8"/>
                  </a:cubicBezTo>
                  <a:cubicBezTo>
                    <a:pt x="2" y="8"/>
                    <a:pt x="0" y="6"/>
                    <a:pt x="0" y="4"/>
                  </a:cubicBezTo>
                  <a:cubicBezTo>
                    <a:pt x="0" y="2"/>
                    <a:pt x="2" y="0"/>
                    <a:pt x="4" y="0"/>
                  </a:cubicBezTo>
                  <a:cubicBezTo>
                    <a:pt x="28" y="0"/>
                    <a:pt x="28" y="0"/>
                    <a:pt x="28" y="0"/>
                  </a:cubicBezTo>
                  <a:cubicBezTo>
                    <a:pt x="30" y="0"/>
                    <a:pt x="32" y="2"/>
                    <a:pt x="32" y="4"/>
                  </a:cubicBezTo>
                  <a:cubicBezTo>
                    <a:pt x="32" y="6"/>
                    <a:pt x="30" y="8"/>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69" name="Freeform 263"/>
            <p:cNvSpPr/>
            <p:nvPr>
              <p:custDataLst>
                <p:tags r:id="rId11"/>
              </p:custDataLst>
            </p:nvPr>
          </p:nvSpPr>
          <p:spPr bwMode="auto">
            <a:xfrm>
              <a:off x="4286250" y="4090988"/>
              <a:ext cx="47625" cy="12700"/>
            </a:xfrm>
            <a:custGeom>
              <a:avLst/>
              <a:gdLst>
                <a:gd name="T0" fmla="*/ 28 w 32"/>
                <a:gd name="T1" fmla="*/ 8 h 8"/>
                <a:gd name="T2" fmla="*/ 4 w 32"/>
                <a:gd name="T3" fmla="*/ 8 h 8"/>
                <a:gd name="T4" fmla="*/ 0 w 32"/>
                <a:gd name="T5" fmla="*/ 4 h 8"/>
                <a:gd name="T6" fmla="*/ 4 w 32"/>
                <a:gd name="T7" fmla="*/ 0 h 8"/>
                <a:gd name="T8" fmla="*/ 28 w 32"/>
                <a:gd name="T9" fmla="*/ 0 h 8"/>
                <a:gd name="T10" fmla="*/ 32 w 32"/>
                <a:gd name="T11" fmla="*/ 4 h 8"/>
                <a:gd name="T12" fmla="*/ 28 w 3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8"/>
                  </a:moveTo>
                  <a:cubicBezTo>
                    <a:pt x="4" y="8"/>
                    <a:pt x="4" y="8"/>
                    <a:pt x="4" y="8"/>
                  </a:cubicBezTo>
                  <a:cubicBezTo>
                    <a:pt x="2" y="8"/>
                    <a:pt x="0" y="6"/>
                    <a:pt x="0" y="4"/>
                  </a:cubicBezTo>
                  <a:cubicBezTo>
                    <a:pt x="0" y="2"/>
                    <a:pt x="2" y="0"/>
                    <a:pt x="4" y="0"/>
                  </a:cubicBezTo>
                  <a:cubicBezTo>
                    <a:pt x="28" y="0"/>
                    <a:pt x="28" y="0"/>
                    <a:pt x="28" y="0"/>
                  </a:cubicBezTo>
                  <a:cubicBezTo>
                    <a:pt x="30" y="0"/>
                    <a:pt x="32" y="2"/>
                    <a:pt x="32" y="4"/>
                  </a:cubicBezTo>
                  <a:cubicBezTo>
                    <a:pt x="32" y="6"/>
                    <a:pt x="30" y="8"/>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0" name="Freeform 264"/>
            <p:cNvSpPr/>
            <p:nvPr>
              <p:custDataLst>
                <p:tags r:id="rId12"/>
              </p:custDataLst>
            </p:nvPr>
          </p:nvSpPr>
          <p:spPr bwMode="auto">
            <a:xfrm>
              <a:off x="4286250" y="4121151"/>
              <a:ext cx="47625" cy="11113"/>
            </a:xfrm>
            <a:custGeom>
              <a:avLst/>
              <a:gdLst>
                <a:gd name="T0" fmla="*/ 28 w 32"/>
                <a:gd name="T1" fmla="*/ 8 h 8"/>
                <a:gd name="T2" fmla="*/ 4 w 32"/>
                <a:gd name="T3" fmla="*/ 8 h 8"/>
                <a:gd name="T4" fmla="*/ 0 w 32"/>
                <a:gd name="T5" fmla="*/ 4 h 8"/>
                <a:gd name="T6" fmla="*/ 4 w 32"/>
                <a:gd name="T7" fmla="*/ 0 h 8"/>
                <a:gd name="T8" fmla="*/ 28 w 32"/>
                <a:gd name="T9" fmla="*/ 0 h 8"/>
                <a:gd name="T10" fmla="*/ 32 w 32"/>
                <a:gd name="T11" fmla="*/ 4 h 8"/>
                <a:gd name="T12" fmla="*/ 28 w 3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8"/>
                  </a:moveTo>
                  <a:cubicBezTo>
                    <a:pt x="4" y="8"/>
                    <a:pt x="4" y="8"/>
                    <a:pt x="4" y="8"/>
                  </a:cubicBezTo>
                  <a:cubicBezTo>
                    <a:pt x="2" y="8"/>
                    <a:pt x="0" y="6"/>
                    <a:pt x="0" y="4"/>
                  </a:cubicBezTo>
                  <a:cubicBezTo>
                    <a:pt x="0" y="2"/>
                    <a:pt x="2" y="0"/>
                    <a:pt x="4" y="0"/>
                  </a:cubicBezTo>
                  <a:cubicBezTo>
                    <a:pt x="28" y="0"/>
                    <a:pt x="28" y="0"/>
                    <a:pt x="28" y="0"/>
                  </a:cubicBezTo>
                  <a:cubicBezTo>
                    <a:pt x="30" y="0"/>
                    <a:pt x="32" y="2"/>
                    <a:pt x="32" y="4"/>
                  </a:cubicBezTo>
                  <a:cubicBezTo>
                    <a:pt x="32" y="6"/>
                    <a:pt x="30" y="8"/>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1" name="Freeform 265"/>
            <p:cNvSpPr/>
            <p:nvPr>
              <p:custDataLst>
                <p:tags r:id="rId13"/>
              </p:custDataLst>
            </p:nvPr>
          </p:nvSpPr>
          <p:spPr bwMode="auto">
            <a:xfrm>
              <a:off x="4194175" y="4005263"/>
              <a:ext cx="74613" cy="11113"/>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2" name="Freeform 266"/>
            <p:cNvSpPr/>
            <p:nvPr>
              <p:custDataLst>
                <p:tags r:id="rId14"/>
              </p:custDataLst>
            </p:nvPr>
          </p:nvSpPr>
          <p:spPr bwMode="auto">
            <a:xfrm>
              <a:off x="4194175" y="4033838"/>
              <a:ext cx="74613" cy="11113"/>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3" name="Freeform 267"/>
            <p:cNvSpPr/>
            <p:nvPr>
              <p:custDataLst>
                <p:tags r:id="rId15"/>
              </p:custDataLst>
            </p:nvPr>
          </p:nvSpPr>
          <p:spPr bwMode="auto">
            <a:xfrm>
              <a:off x="4194175" y="4062413"/>
              <a:ext cx="74613" cy="11113"/>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4" name="Freeform 268"/>
            <p:cNvSpPr/>
            <p:nvPr>
              <p:custDataLst>
                <p:tags r:id="rId16"/>
              </p:custDataLst>
            </p:nvPr>
          </p:nvSpPr>
          <p:spPr bwMode="auto">
            <a:xfrm>
              <a:off x="4194175" y="4090988"/>
              <a:ext cx="74613" cy="12700"/>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5" name="Freeform 269"/>
            <p:cNvSpPr/>
            <p:nvPr>
              <p:custDataLst>
                <p:tags r:id="rId17"/>
              </p:custDataLst>
            </p:nvPr>
          </p:nvSpPr>
          <p:spPr bwMode="auto">
            <a:xfrm>
              <a:off x="4194175" y="4121151"/>
              <a:ext cx="74613" cy="11113"/>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6" name="Freeform 270"/>
            <p:cNvSpPr/>
            <p:nvPr>
              <p:custDataLst>
                <p:tags r:id="rId18"/>
              </p:custDataLst>
            </p:nvPr>
          </p:nvSpPr>
          <p:spPr bwMode="auto">
            <a:xfrm>
              <a:off x="4286250" y="4149726"/>
              <a:ext cx="47625" cy="11113"/>
            </a:xfrm>
            <a:custGeom>
              <a:avLst/>
              <a:gdLst>
                <a:gd name="T0" fmla="*/ 28 w 32"/>
                <a:gd name="T1" fmla="*/ 8 h 8"/>
                <a:gd name="T2" fmla="*/ 4 w 32"/>
                <a:gd name="T3" fmla="*/ 8 h 8"/>
                <a:gd name="T4" fmla="*/ 0 w 32"/>
                <a:gd name="T5" fmla="*/ 4 h 8"/>
                <a:gd name="T6" fmla="*/ 4 w 32"/>
                <a:gd name="T7" fmla="*/ 0 h 8"/>
                <a:gd name="T8" fmla="*/ 28 w 32"/>
                <a:gd name="T9" fmla="*/ 0 h 8"/>
                <a:gd name="T10" fmla="*/ 32 w 32"/>
                <a:gd name="T11" fmla="*/ 4 h 8"/>
                <a:gd name="T12" fmla="*/ 28 w 3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8"/>
                  </a:moveTo>
                  <a:cubicBezTo>
                    <a:pt x="4" y="8"/>
                    <a:pt x="4" y="8"/>
                    <a:pt x="4" y="8"/>
                  </a:cubicBezTo>
                  <a:cubicBezTo>
                    <a:pt x="2" y="8"/>
                    <a:pt x="0" y="6"/>
                    <a:pt x="0" y="4"/>
                  </a:cubicBezTo>
                  <a:cubicBezTo>
                    <a:pt x="0" y="2"/>
                    <a:pt x="2" y="0"/>
                    <a:pt x="4" y="0"/>
                  </a:cubicBezTo>
                  <a:cubicBezTo>
                    <a:pt x="28" y="0"/>
                    <a:pt x="28" y="0"/>
                    <a:pt x="28" y="0"/>
                  </a:cubicBezTo>
                  <a:cubicBezTo>
                    <a:pt x="30" y="0"/>
                    <a:pt x="32" y="2"/>
                    <a:pt x="32" y="4"/>
                  </a:cubicBezTo>
                  <a:cubicBezTo>
                    <a:pt x="32" y="6"/>
                    <a:pt x="30" y="8"/>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7" name="Freeform 271"/>
            <p:cNvSpPr/>
            <p:nvPr>
              <p:custDataLst>
                <p:tags r:id="rId19"/>
              </p:custDataLst>
            </p:nvPr>
          </p:nvSpPr>
          <p:spPr bwMode="auto">
            <a:xfrm>
              <a:off x="4194175" y="4149726"/>
              <a:ext cx="74613" cy="11113"/>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8" name="Freeform 272"/>
            <p:cNvSpPr>
              <a:spLocks noEditPoints="1"/>
            </p:cNvSpPr>
            <p:nvPr>
              <p:custDataLst>
                <p:tags r:id="rId20"/>
              </p:custDataLst>
            </p:nvPr>
          </p:nvSpPr>
          <p:spPr bwMode="auto">
            <a:xfrm>
              <a:off x="4211638" y="3917951"/>
              <a:ext cx="109538" cy="57150"/>
            </a:xfrm>
            <a:custGeom>
              <a:avLst/>
              <a:gdLst>
                <a:gd name="T0" fmla="*/ 72 w 76"/>
                <a:gd name="T1" fmla="*/ 40 h 40"/>
                <a:gd name="T2" fmla="*/ 4 w 76"/>
                <a:gd name="T3" fmla="*/ 40 h 40"/>
                <a:gd name="T4" fmla="*/ 0 w 76"/>
                <a:gd name="T5" fmla="*/ 36 h 40"/>
                <a:gd name="T6" fmla="*/ 0 w 76"/>
                <a:gd name="T7" fmla="*/ 20 h 40"/>
                <a:gd name="T8" fmla="*/ 4 w 76"/>
                <a:gd name="T9" fmla="*/ 16 h 40"/>
                <a:gd name="T10" fmla="*/ 8 w 76"/>
                <a:gd name="T11" fmla="*/ 16 h 40"/>
                <a:gd name="T12" fmla="*/ 28 w 76"/>
                <a:gd name="T13" fmla="*/ 0 h 40"/>
                <a:gd name="T14" fmla="*/ 48 w 76"/>
                <a:gd name="T15" fmla="*/ 0 h 40"/>
                <a:gd name="T16" fmla="*/ 68 w 76"/>
                <a:gd name="T17" fmla="*/ 16 h 40"/>
                <a:gd name="T18" fmla="*/ 72 w 76"/>
                <a:gd name="T19" fmla="*/ 16 h 40"/>
                <a:gd name="T20" fmla="*/ 76 w 76"/>
                <a:gd name="T21" fmla="*/ 20 h 40"/>
                <a:gd name="T22" fmla="*/ 76 w 76"/>
                <a:gd name="T23" fmla="*/ 36 h 40"/>
                <a:gd name="T24" fmla="*/ 72 w 76"/>
                <a:gd name="T25" fmla="*/ 40 h 40"/>
                <a:gd name="T26" fmla="*/ 8 w 76"/>
                <a:gd name="T27" fmla="*/ 32 h 40"/>
                <a:gd name="T28" fmla="*/ 68 w 76"/>
                <a:gd name="T29" fmla="*/ 32 h 40"/>
                <a:gd name="T30" fmla="*/ 68 w 76"/>
                <a:gd name="T31" fmla="*/ 24 h 40"/>
                <a:gd name="T32" fmla="*/ 64 w 76"/>
                <a:gd name="T33" fmla="*/ 24 h 40"/>
                <a:gd name="T34" fmla="*/ 60 w 76"/>
                <a:gd name="T35" fmla="*/ 20 h 40"/>
                <a:gd name="T36" fmla="*/ 48 w 76"/>
                <a:gd name="T37" fmla="*/ 8 h 40"/>
                <a:gd name="T38" fmla="*/ 28 w 76"/>
                <a:gd name="T39" fmla="*/ 8 h 40"/>
                <a:gd name="T40" fmla="*/ 16 w 76"/>
                <a:gd name="T41" fmla="*/ 20 h 40"/>
                <a:gd name="T42" fmla="*/ 12 w 76"/>
                <a:gd name="T43" fmla="*/ 24 h 40"/>
                <a:gd name="T44" fmla="*/ 8 w 76"/>
                <a:gd name="T45" fmla="*/ 24 h 40"/>
                <a:gd name="T46" fmla="*/ 8 w 76"/>
                <a:gd name="T47" fmla="*/ 3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6" h="40">
                  <a:moveTo>
                    <a:pt x="72" y="40"/>
                  </a:moveTo>
                  <a:cubicBezTo>
                    <a:pt x="4" y="40"/>
                    <a:pt x="4" y="40"/>
                    <a:pt x="4" y="40"/>
                  </a:cubicBezTo>
                  <a:cubicBezTo>
                    <a:pt x="2" y="40"/>
                    <a:pt x="0" y="38"/>
                    <a:pt x="0" y="36"/>
                  </a:cubicBezTo>
                  <a:cubicBezTo>
                    <a:pt x="0" y="20"/>
                    <a:pt x="0" y="20"/>
                    <a:pt x="0" y="20"/>
                  </a:cubicBezTo>
                  <a:cubicBezTo>
                    <a:pt x="0" y="18"/>
                    <a:pt x="2" y="16"/>
                    <a:pt x="4" y="16"/>
                  </a:cubicBezTo>
                  <a:cubicBezTo>
                    <a:pt x="8" y="16"/>
                    <a:pt x="8" y="16"/>
                    <a:pt x="8" y="16"/>
                  </a:cubicBezTo>
                  <a:cubicBezTo>
                    <a:pt x="10" y="7"/>
                    <a:pt x="18" y="0"/>
                    <a:pt x="28" y="0"/>
                  </a:cubicBezTo>
                  <a:cubicBezTo>
                    <a:pt x="48" y="0"/>
                    <a:pt x="48" y="0"/>
                    <a:pt x="48" y="0"/>
                  </a:cubicBezTo>
                  <a:cubicBezTo>
                    <a:pt x="58" y="0"/>
                    <a:pt x="66" y="7"/>
                    <a:pt x="68" y="16"/>
                  </a:cubicBezTo>
                  <a:cubicBezTo>
                    <a:pt x="72" y="16"/>
                    <a:pt x="72" y="16"/>
                    <a:pt x="72" y="16"/>
                  </a:cubicBezTo>
                  <a:cubicBezTo>
                    <a:pt x="74" y="16"/>
                    <a:pt x="76" y="18"/>
                    <a:pt x="76" y="20"/>
                  </a:cubicBezTo>
                  <a:cubicBezTo>
                    <a:pt x="76" y="36"/>
                    <a:pt x="76" y="36"/>
                    <a:pt x="76" y="36"/>
                  </a:cubicBezTo>
                  <a:cubicBezTo>
                    <a:pt x="76" y="38"/>
                    <a:pt x="74" y="40"/>
                    <a:pt x="72" y="40"/>
                  </a:cubicBezTo>
                  <a:close/>
                  <a:moveTo>
                    <a:pt x="8" y="32"/>
                  </a:moveTo>
                  <a:cubicBezTo>
                    <a:pt x="68" y="32"/>
                    <a:pt x="68" y="32"/>
                    <a:pt x="68" y="32"/>
                  </a:cubicBezTo>
                  <a:cubicBezTo>
                    <a:pt x="68" y="24"/>
                    <a:pt x="68" y="24"/>
                    <a:pt x="68" y="24"/>
                  </a:cubicBezTo>
                  <a:cubicBezTo>
                    <a:pt x="64" y="24"/>
                    <a:pt x="64" y="24"/>
                    <a:pt x="64" y="24"/>
                  </a:cubicBezTo>
                  <a:cubicBezTo>
                    <a:pt x="62" y="24"/>
                    <a:pt x="60" y="22"/>
                    <a:pt x="60" y="20"/>
                  </a:cubicBezTo>
                  <a:cubicBezTo>
                    <a:pt x="60" y="13"/>
                    <a:pt x="55" y="8"/>
                    <a:pt x="48" y="8"/>
                  </a:cubicBezTo>
                  <a:cubicBezTo>
                    <a:pt x="28" y="8"/>
                    <a:pt x="28" y="8"/>
                    <a:pt x="28" y="8"/>
                  </a:cubicBezTo>
                  <a:cubicBezTo>
                    <a:pt x="21" y="8"/>
                    <a:pt x="16" y="13"/>
                    <a:pt x="16" y="20"/>
                  </a:cubicBezTo>
                  <a:cubicBezTo>
                    <a:pt x="16" y="22"/>
                    <a:pt x="14" y="24"/>
                    <a:pt x="12" y="24"/>
                  </a:cubicBezTo>
                  <a:cubicBezTo>
                    <a:pt x="8" y="24"/>
                    <a:pt x="8" y="24"/>
                    <a:pt x="8" y="24"/>
                  </a:cubicBezTo>
                  <a:lnTo>
                    <a:pt x="8"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79" name="Freeform 273"/>
            <p:cNvSpPr/>
            <p:nvPr>
              <p:custDataLst>
                <p:tags r:id="rId21"/>
              </p:custDataLst>
            </p:nvPr>
          </p:nvSpPr>
          <p:spPr bwMode="auto">
            <a:xfrm>
              <a:off x="4333875" y="3940176"/>
              <a:ext cx="46038" cy="203200"/>
            </a:xfrm>
            <a:custGeom>
              <a:avLst/>
              <a:gdLst>
                <a:gd name="T0" fmla="*/ 32 w 32"/>
                <a:gd name="T1" fmla="*/ 140 h 140"/>
                <a:gd name="T2" fmla="*/ 24 w 32"/>
                <a:gd name="T3" fmla="*/ 140 h 140"/>
                <a:gd name="T4" fmla="*/ 24 w 32"/>
                <a:gd name="T5" fmla="*/ 11 h 140"/>
                <a:gd name="T6" fmla="*/ 21 w 32"/>
                <a:gd name="T7" fmla="*/ 8 h 140"/>
                <a:gd name="T8" fmla="*/ 0 w 32"/>
                <a:gd name="T9" fmla="*/ 8 h 140"/>
                <a:gd name="T10" fmla="*/ 0 w 32"/>
                <a:gd name="T11" fmla="*/ 0 h 140"/>
                <a:gd name="T12" fmla="*/ 21 w 32"/>
                <a:gd name="T13" fmla="*/ 0 h 140"/>
                <a:gd name="T14" fmla="*/ 32 w 32"/>
                <a:gd name="T15" fmla="*/ 11 h 140"/>
                <a:gd name="T16" fmla="*/ 32 w 32"/>
                <a:gd name="T1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40">
                  <a:moveTo>
                    <a:pt x="32" y="140"/>
                  </a:moveTo>
                  <a:cubicBezTo>
                    <a:pt x="24" y="140"/>
                    <a:pt x="24" y="140"/>
                    <a:pt x="24" y="140"/>
                  </a:cubicBezTo>
                  <a:cubicBezTo>
                    <a:pt x="24" y="11"/>
                    <a:pt x="24" y="11"/>
                    <a:pt x="24" y="11"/>
                  </a:cubicBezTo>
                  <a:cubicBezTo>
                    <a:pt x="24" y="9"/>
                    <a:pt x="23" y="8"/>
                    <a:pt x="21" y="8"/>
                  </a:cubicBezTo>
                  <a:cubicBezTo>
                    <a:pt x="0" y="8"/>
                    <a:pt x="0" y="8"/>
                    <a:pt x="0" y="8"/>
                  </a:cubicBezTo>
                  <a:cubicBezTo>
                    <a:pt x="0" y="0"/>
                    <a:pt x="0" y="0"/>
                    <a:pt x="0" y="0"/>
                  </a:cubicBezTo>
                  <a:cubicBezTo>
                    <a:pt x="21" y="0"/>
                    <a:pt x="21" y="0"/>
                    <a:pt x="21" y="0"/>
                  </a:cubicBezTo>
                  <a:cubicBezTo>
                    <a:pt x="27" y="0"/>
                    <a:pt x="32" y="5"/>
                    <a:pt x="32" y="11"/>
                  </a:cubicBezTo>
                  <a:lnTo>
                    <a:pt x="32"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80" name="Freeform 274"/>
            <p:cNvSpPr/>
            <p:nvPr>
              <p:custDataLst>
                <p:tags r:id="rId22"/>
              </p:custDataLst>
            </p:nvPr>
          </p:nvSpPr>
          <p:spPr bwMode="auto">
            <a:xfrm>
              <a:off x="4148138" y="3940176"/>
              <a:ext cx="150813" cy="295275"/>
            </a:xfrm>
            <a:custGeom>
              <a:avLst/>
              <a:gdLst>
                <a:gd name="T0" fmla="*/ 104 w 104"/>
                <a:gd name="T1" fmla="*/ 204 h 204"/>
                <a:gd name="T2" fmla="*/ 11 w 104"/>
                <a:gd name="T3" fmla="*/ 204 h 204"/>
                <a:gd name="T4" fmla="*/ 0 w 104"/>
                <a:gd name="T5" fmla="*/ 193 h 204"/>
                <a:gd name="T6" fmla="*/ 0 w 104"/>
                <a:gd name="T7" fmla="*/ 11 h 204"/>
                <a:gd name="T8" fmla="*/ 11 w 104"/>
                <a:gd name="T9" fmla="*/ 0 h 204"/>
                <a:gd name="T10" fmla="*/ 36 w 104"/>
                <a:gd name="T11" fmla="*/ 0 h 204"/>
                <a:gd name="T12" fmla="*/ 36 w 104"/>
                <a:gd name="T13" fmla="*/ 8 h 204"/>
                <a:gd name="T14" fmla="*/ 11 w 104"/>
                <a:gd name="T15" fmla="*/ 8 h 204"/>
                <a:gd name="T16" fmla="*/ 8 w 104"/>
                <a:gd name="T17" fmla="*/ 11 h 204"/>
                <a:gd name="T18" fmla="*/ 8 w 104"/>
                <a:gd name="T19" fmla="*/ 193 h 204"/>
                <a:gd name="T20" fmla="*/ 11 w 104"/>
                <a:gd name="T21" fmla="*/ 196 h 204"/>
                <a:gd name="T22" fmla="*/ 104 w 104"/>
                <a:gd name="T23" fmla="*/ 196 h 204"/>
                <a:gd name="T24" fmla="*/ 104 w 104"/>
                <a:gd name="T25" fmla="*/ 20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204">
                  <a:moveTo>
                    <a:pt x="104" y="204"/>
                  </a:moveTo>
                  <a:cubicBezTo>
                    <a:pt x="11" y="204"/>
                    <a:pt x="11" y="204"/>
                    <a:pt x="11" y="204"/>
                  </a:cubicBezTo>
                  <a:cubicBezTo>
                    <a:pt x="5" y="204"/>
                    <a:pt x="0" y="199"/>
                    <a:pt x="0" y="193"/>
                  </a:cubicBezTo>
                  <a:cubicBezTo>
                    <a:pt x="0" y="11"/>
                    <a:pt x="0" y="11"/>
                    <a:pt x="0" y="11"/>
                  </a:cubicBezTo>
                  <a:cubicBezTo>
                    <a:pt x="0" y="5"/>
                    <a:pt x="5" y="0"/>
                    <a:pt x="11" y="0"/>
                  </a:cubicBezTo>
                  <a:cubicBezTo>
                    <a:pt x="36" y="0"/>
                    <a:pt x="36" y="0"/>
                    <a:pt x="36" y="0"/>
                  </a:cubicBezTo>
                  <a:cubicBezTo>
                    <a:pt x="36" y="8"/>
                    <a:pt x="36" y="8"/>
                    <a:pt x="36" y="8"/>
                  </a:cubicBezTo>
                  <a:cubicBezTo>
                    <a:pt x="11" y="8"/>
                    <a:pt x="11" y="8"/>
                    <a:pt x="11" y="8"/>
                  </a:cubicBezTo>
                  <a:cubicBezTo>
                    <a:pt x="9" y="8"/>
                    <a:pt x="8" y="9"/>
                    <a:pt x="8" y="11"/>
                  </a:cubicBezTo>
                  <a:cubicBezTo>
                    <a:pt x="8" y="193"/>
                    <a:pt x="8" y="193"/>
                    <a:pt x="8" y="193"/>
                  </a:cubicBezTo>
                  <a:cubicBezTo>
                    <a:pt x="8" y="195"/>
                    <a:pt x="9" y="196"/>
                    <a:pt x="11" y="196"/>
                  </a:cubicBezTo>
                  <a:cubicBezTo>
                    <a:pt x="104" y="196"/>
                    <a:pt x="104" y="196"/>
                    <a:pt x="104" y="196"/>
                  </a:cubicBezTo>
                  <a:lnTo>
                    <a:pt x="104" y="2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grpSp>
      <p:grpSp>
        <p:nvGrpSpPr>
          <p:cNvPr id="81" name="Group 44"/>
          <p:cNvGrpSpPr/>
          <p:nvPr>
            <p:custDataLst>
              <p:tags r:id="rId23"/>
            </p:custDataLst>
          </p:nvPr>
        </p:nvGrpSpPr>
        <p:grpSpPr>
          <a:xfrm rot="0">
            <a:off x="1856740" y="3891280"/>
            <a:ext cx="334010" cy="391160"/>
            <a:chOff x="4669087" y="3192420"/>
            <a:chExt cx="379326" cy="563528"/>
          </a:xfrm>
          <a:solidFill>
            <a:schemeClr val="accent1"/>
          </a:solidFill>
        </p:grpSpPr>
        <p:sp>
          <p:nvSpPr>
            <p:cNvPr id="82" name="Freeform 34"/>
            <p:cNvSpPr>
              <a:spLocks noEditPoints="1"/>
            </p:cNvSpPr>
            <p:nvPr>
              <p:custDataLst>
                <p:tags r:id="rId24"/>
              </p:custDataLst>
            </p:nvPr>
          </p:nvSpPr>
          <p:spPr bwMode="auto">
            <a:xfrm>
              <a:off x="4669087" y="3192422"/>
              <a:ext cx="379326" cy="563526"/>
            </a:xfrm>
            <a:custGeom>
              <a:avLst/>
              <a:gdLst>
                <a:gd name="T0" fmla="*/ 121 w 243"/>
                <a:gd name="T1" fmla="*/ 0 h 361"/>
                <a:gd name="T2" fmla="*/ 10 w 243"/>
                <a:gd name="T3" fmla="*/ 184 h 361"/>
                <a:gd name="T4" fmla="*/ 121 w 243"/>
                <a:gd name="T5" fmla="*/ 249 h 361"/>
                <a:gd name="T6" fmla="*/ 233 w 243"/>
                <a:gd name="T7" fmla="*/ 184 h 361"/>
                <a:gd name="T8" fmla="*/ 121 w 243"/>
                <a:gd name="T9" fmla="*/ 0 h 361"/>
                <a:gd name="T10" fmla="*/ 0 w 243"/>
                <a:gd name="T11" fmla="*/ 201 h 361"/>
                <a:gd name="T12" fmla="*/ 121 w 243"/>
                <a:gd name="T13" fmla="*/ 361 h 361"/>
                <a:gd name="T14" fmla="*/ 243 w 243"/>
                <a:gd name="T15" fmla="*/ 201 h 361"/>
                <a:gd name="T16" fmla="*/ 121 w 243"/>
                <a:gd name="T17" fmla="*/ 273 h 361"/>
                <a:gd name="T18" fmla="*/ 0 w 243"/>
                <a:gd name="T19" fmla="*/ 20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361">
                  <a:moveTo>
                    <a:pt x="121" y="0"/>
                  </a:moveTo>
                  <a:lnTo>
                    <a:pt x="10" y="184"/>
                  </a:lnTo>
                  <a:lnTo>
                    <a:pt x="121" y="249"/>
                  </a:lnTo>
                  <a:lnTo>
                    <a:pt x="233" y="184"/>
                  </a:lnTo>
                  <a:lnTo>
                    <a:pt x="121" y="0"/>
                  </a:lnTo>
                  <a:close/>
                  <a:moveTo>
                    <a:pt x="0" y="201"/>
                  </a:moveTo>
                  <a:lnTo>
                    <a:pt x="121" y="361"/>
                  </a:lnTo>
                  <a:lnTo>
                    <a:pt x="243" y="201"/>
                  </a:lnTo>
                  <a:lnTo>
                    <a:pt x="121" y="273"/>
                  </a:lnTo>
                  <a:lnTo>
                    <a:pt x="0" y="201"/>
                  </a:lnTo>
                  <a:close/>
                </a:path>
              </a:pathLst>
            </a:custGeom>
            <a:grpFill/>
            <a:ln>
              <a:noFill/>
            </a:ln>
            <a:effectLst>
              <a:outerShdw blurRad="152400" sx="102000" sy="102000" algn="ctr" rotWithShape="0">
                <a:prstClr val="black">
                  <a:alpha val="3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sp>
          <p:nvSpPr>
            <p:cNvPr id="83" name="Freeform 35"/>
            <p:cNvSpPr>
              <a:spLocks noEditPoints="1"/>
            </p:cNvSpPr>
            <p:nvPr>
              <p:custDataLst>
                <p:tags r:id="rId25"/>
              </p:custDataLst>
            </p:nvPr>
          </p:nvSpPr>
          <p:spPr bwMode="auto">
            <a:xfrm>
              <a:off x="4857961" y="3192420"/>
              <a:ext cx="190442" cy="563527"/>
            </a:xfrm>
            <a:custGeom>
              <a:avLst/>
              <a:gdLst>
                <a:gd name="T0" fmla="*/ 0 w 122"/>
                <a:gd name="T1" fmla="*/ 361 h 361"/>
                <a:gd name="T2" fmla="*/ 122 w 122"/>
                <a:gd name="T3" fmla="*/ 201 h 361"/>
                <a:gd name="T4" fmla="*/ 0 w 122"/>
                <a:gd name="T5" fmla="*/ 273 h 361"/>
                <a:gd name="T6" fmla="*/ 0 w 122"/>
                <a:gd name="T7" fmla="*/ 361 h 361"/>
                <a:gd name="T8" fmla="*/ 112 w 122"/>
                <a:gd name="T9" fmla="*/ 184 h 361"/>
                <a:gd name="T10" fmla="*/ 0 w 122"/>
                <a:gd name="T11" fmla="*/ 0 h 361"/>
                <a:gd name="T12" fmla="*/ 0 w 122"/>
                <a:gd name="T13" fmla="*/ 249 h 361"/>
                <a:gd name="T14" fmla="*/ 112 w 122"/>
                <a:gd name="T15" fmla="*/ 184 h 3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361">
                  <a:moveTo>
                    <a:pt x="0" y="361"/>
                  </a:moveTo>
                  <a:lnTo>
                    <a:pt x="122" y="201"/>
                  </a:lnTo>
                  <a:lnTo>
                    <a:pt x="0" y="273"/>
                  </a:lnTo>
                  <a:lnTo>
                    <a:pt x="0" y="361"/>
                  </a:lnTo>
                  <a:close/>
                  <a:moveTo>
                    <a:pt x="112" y="184"/>
                  </a:moveTo>
                  <a:lnTo>
                    <a:pt x="0" y="0"/>
                  </a:lnTo>
                  <a:lnTo>
                    <a:pt x="0" y="249"/>
                  </a:lnTo>
                  <a:lnTo>
                    <a:pt x="112" y="1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微软雅黑 Light" panose="020B0502040204020203" charset="-122"/>
                <a:ea typeface="微软雅黑 Light" panose="020B0502040204020203"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635" y="2117090"/>
            <a:ext cx="12192000" cy="2193925"/>
          </a:xfrm>
          <a:prstGeom prst="rect">
            <a:avLst/>
          </a:prstGeom>
          <a:solidFill>
            <a:schemeClr val="accent1">
              <a:alpha val="29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p:cNvPicPr>
            <a:picLocks noChangeAspect="1"/>
          </p:cNvPicPr>
          <p:nvPr/>
        </p:nvPicPr>
        <p:blipFill>
          <a:blip r:embed="rId1" cstate="print"/>
          <a:stretch>
            <a:fillRect/>
          </a:stretch>
        </p:blipFill>
        <p:spPr>
          <a:xfrm>
            <a:off x="5448300" y="1196975"/>
            <a:ext cx="1123949" cy="352425"/>
          </a:xfrm>
          <a:prstGeom prst="rect">
            <a:avLst/>
          </a:prstGeom>
          <a:noFill/>
          <a:ln w="9525" cap="flat" cmpd="sng">
            <a:noFill/>
            <a:prstDash val="solid"/>
            <a:miter/>
          </a:ln>
        </p:spPr>
      </p:pic>
      <p:sp>
        <p:nvSpPr>
          <p:cNvPr id="2" name="矩形 1"/>
          <p:cNvSpPr/>
          <p:nvPr/>
        </p:nvSpPr>
        <p:spPr>
          <a:xfrm>
            <a:off x="635" y="2218690"/>
            <a:ext cx="12192000" cy="19926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p:cNvSpPr/>
          <p:nvPr/>
        </p:nvSpPr>
        <p:spPr>
          <a:xfrm>
            <a:off x="304800" y="2426970"/>
            <a:ext cx="11581765" cy="1100455"/>
          </a:xfrm>
          <a:prstGeom prst="rect">
            <a:avLst/>
          </a:prstGeom>
          <a:noFill/>
          <a:ln w="9525" cap="flat" cmpd="sng">
            <a:noFill/>
            <a:prstDash val="solid"/>
            <a:miter/>
          </a:ln>
        </p:spPr>
        <p:txBody>
          <a:bodyPr vert="horz" wrap="square" lIns="91440" tIns="45720" rIns="91440" bIns="45720" anchor="t" anchorCtr="0">
            <a:noAutofit/>
          </a:bodyPr>
          <a:lstStyle/>
          <a:p>
            <a:pPr marL="0" indent="0" algn="ctr">
              <a:lnSpc>
                <a:spcPct val="150000"/>
              </a:lnSpc>
              <a:spcBef>
                <a:spcPts val="0"/>
              </a:spcBef>
              <a:spcAft>
                <a:spcPts val="0"/>
              </a:spcAft>
              <a:buNone/>
            </a:pPr>
            <a:r>
              <a:rPr lang="zh-CN" altLang="en-US"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汇报完毕</a:t>
            </a:r>
            <a:r>
              <a:rPr lang="en-US" altLang="zh-CN"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 !  </a:t>
            </a:r>
            <a:r>
              <a:rPr lang="zh-CN" altLang="en-US"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请各位专家指正</a:t>
            </a:r>
            <a:endParaRPr lang="zh-CN" altLang="en-US" sz="5400" b="1" i="0"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p:cNvPicPr/>
          <p:nvPr/>
        </p:nvPicPr>
        <p:blipFill>
          <a:blip r:embed="rId2"/>
          <a:srcRect t="31267" b="33250"/>
          <a:stretch>
            <a:fillRect/>
          </a:stretch>
        </p:blipFill>
        <p:spPr>
          <a:xfrm>
            <a:off x="3670300" y="499745"/>
            <a:ext cx="4853305" cy="1242060"/>
          </a:xfrm>
          <a:prstGeom prst="rect">
            <a:avLst/>
          </a:prstGeom>
        </p:spPr>
      </p:pic>
      <p:sp>
        <p:nvSpPr>
          <p:cNvPr id="5" name="文本框 4"/>
          <p:cNvSpPr txBox="1"/>
          <p:nvPr/>
        </p:nvSpPr>
        <p:spPr>
          <a:xfrm>
            <a:off x="3800475" y="4637405"/>
            <a:ext cx="5497830" cy="1476375"/>
          </a:xfrm>
          <a:prstGeom prst="rect">
            <a:avLst/>
          </a:prstGeom>
          <a:noFill/>
        </p:spPr>
        <p:txBody>
          <a:bodyPr wrap="square" rtlCol="0">
            <a:spAutoFit/>
          </a:bodyPr>
          <a:p>
            <a:r>
              <a:rPr lang="zh-CN" altLang="en-US" b="1">
                <a:latin typeface="微软雅黑" panose="020B0503020204020204" charset="-122"/>
                <a:ea typeface="微软雅黑" panose="020B0503020204020204" charset="-122"/>
                <a:cs typeface="微软雅黑" panose="020B0503020204020204" charset="-122"/>
              </a:rPr>
              <a:t>团队名称：浅试</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队长：胡事成，负责模型训练与评测</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队员：王必雄，负责数据集</a:t>
            </a:r>
            <a:r>
              <a:rPr lang="zh-CN" altLang="en-US" b="1">
                <a:latin typeface="微软雅黑" panose="020B0503020204020204" charset="-122"/>
                <a:ea typeface="微软雅黑" panose="020B0503020204020204" charset="-122"/>
                <a:cs typeface="微软雅黑" panose="020B0503020204020204" charset="-122"/>
              </a:rPr>
              <a:t>处理</a:t>
            </a:r>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2.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3.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4.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5.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6.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7.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8.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9.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0.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1.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2.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3.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4.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5.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6.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7.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8.xml><?xml version="1.0" encoding="utf-8"?>
<p:tagLst xmlns:p="http://schemas.openxmlformats.org/presentationml/2006/main">
  <p:tag name="KSO_WM_DIAGRAM_VIRTUALLY_FRAME" val="{&quot;height&quot;:406.3807086614173,&quot;left&quot;:423.27700787401574,&quot;top&quot;:111.41929133858267,&quot;width&quot;:631.5229921259843}"/>
</p:tagLst>
</file>

<file path=ppt/tags/tag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2*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63.60039672851565,&quot;left&quot;:9.85,&quot;top&quot;:61.29960327148437,&quot;width&quot;:930.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6,6,6,6,6,6]}"/>
</p:tagLst>
</file>

<file path=ppt/tags/tag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8.46419407371866,&quot;left&quot;:17.5,&quot;top&quot;:54.935805926281276,&quot;width&quot;:889.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8.46419407371866,&quot;left&quot;:17.5,&quot;top&quot;:54.935805926281276,&quot;width&quot;:889.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8.46419407371866,&quot;left&quot;:17.5,&quot;top&quot;:54.935805926281276,&quot;width&quot;:889.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8.46419407371866,&quot;left&quot;:17.5,&quot;top&quot;:54.935805926281276,&quot;width&quot;:889.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2*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63.60039672851565,&quot;left&quot;:9.85,&quot;top&quot;:61.29960327148437,&quot;width&quot;:930.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6,6,6,6,6,6]}"/>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1_2"/>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1_2"/>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type&quot;:0},&quot;glow&quot;:{&quot;colorType&quot;:0},&quot;line&quot;:{&quot;solidLine&quot;:{&quot;brightness&quot;:0,&quot;colorType&quot;:2,&quot;rgb&quot;:&quot;#d9d9d9&quot;,&quot;transparency&quot;:0},&quot;type&quot;:1},&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4_2"/>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4_2"/>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type&quot;:0},&quot;glow&quot;:{&quot;colorType&quot;:0},&quot;line&quot;:{&quot;solidLine&quot;:{&quot;brightness&quot;:0,&quot;colorType&quot;:2,&quot;rgb&quot;:&quot;#d9d9d9&quot;,&quot;transparency&quot;:0},&quot;type&quot;:1},&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2_2"/>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2_2"/>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type&quot;:0},&quot;glow&quot;:{&quot;colorType&quot;:0},&quot;line&quot;:{&quot;solidLine&quot;:{&quot;brightness&quot;:0,&quot;colorType&quot;:2,&quot;rgb&quot;:&quot;#d9d9d9&quot;,&quot;transparency&quot;:0},&quot;type&quot;:1},&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4_3"/>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4_3"/>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type&quot;:0},&quot;glow&quot;:{&quot;colorType&quot;:0},&quot;line&quot;:{&quot;solidLine&quot;:{&quot;brightness&quot;:0,&quot;colorType&quot;:2,&quot;rgb&quot;:&quot;#d9d9d9&quot;,&quot;transparency&quot;:0},&quot;type&quot;:1},&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1_3"/>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1_3"/>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2_3"/>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2_3"/>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3_2"/>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3_2"/>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3_3"/>
  <p:tag name="KSO_WM_TEMPLATE_CATEGORY" val="diagram"/>
  <p:tag name="KSO_WM_TEMPLATE_INDEX" val="40492896"/>
  <p:tag name="KSO_WM_UNIT_LAYERLEVEL" val="1_1_1"/>
  <p:tag name="KSO_WM_TAG_VERSION" val="3.0"/>
  <p:tag name="KSO_WM_BEAUTIFY_FLAG" val="#wm#"/>
  <p:tag name="KSO_WM_DIAGRAM_GROUP_CODE" val="m1-1"/>
  <p:tag name="KSO_WM_UNIT_TYPE" val="m_h_i"/>
  <p:tag name="KSO_WM_UNIT_INDEX" val="1_3_3"/>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1"/>
  <p:tag name="KSO_WM_TEMPLATE_CATEGORY" val="diagram"/>
  <p:tag name="KSO_WM_TEMPLATE_INDEX" val="40492896"/>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solid&quot;:{&quot;brightness&quot;:0,&quot;colorType&quot;:2,&quot;rgb&quot;:&quot;#ffffff&quot;,&quot;transparency&quot;:0.800000011920929},&quot;type&quot;:1},&quot;glow&quot;:{&quot;colorType&quot;:0},&quot;line&quot;:{&quot;solidLine&quot;:{&quot;brightness&quot;:0,&quot;colorType&quot;:2,&quot;rgb&quot;:&quot;#d9d9d9&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6.xml><?xml version="1.0" encoding="utf-8"?>
<p:tagLst xmlns:p="http://schemas.openxmlformats.org/presentationml/2006/main">
  <p:tag name="KSO_WM_DIAGRAM_VIRTUALLY_FRAME" val="{&quot;height&quot;:381.6,&quot;left&quot;:16.05,&quot;top&quot;:126.55,&quot;width&quot;:916.05}"/>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2"/>
  <p:tag name="KSO_WM_TEMPLATE_CATEGORY" val="diagram"/>
  <p:tag name="KSO_WM_TEMPLATE_INDEX" val="40492896"/>
  <p:tag name="KSO_WM_UNIT_LAYERLEVEL" val="1_1"/>
  <p:tag name="KSO_WM_TAG_VERSION" val="3.0"/>
  <p:tag name="KSO_WM_BEAUTIFY_FLAG" val="#wm#"/>
  <p:tag name="KSO_WM_DIAGRAM_GROUP_CODE" val="m1-1"/>
  <p:tag name="KSO_WM_UNIT_TYPE" val="m_i"/>
  <p:tag name="KSO_WM_UNIT_INDEX" val="1_2"/>
  <p:tag name="KSO_WM_DIAGRAM_VERSION" val="3"/>
  <p:tag name="KSO_WM_DIAGRAM_COLOR_TRICK" val="1"/>
  <p:tag name="KSO_WM_DIAGRAM_COLOR_TEXT_CAN_REMOVE" val="n"/>
  <p:tag name="KSO_WM_DIAGRAM_VIRTUALLY_FRAME" val="{&quot;height&quot;:381.6,&quot;left&quot;:16.05,&quot;top&quot;:126.55,&quot;width&quot;:916.05}"/>
  <p:tag name="KSO_WM_UNIT_FILL_TYPE" val="1"/>
  <p:tag name="KSO_WM_UNIT_FILL_FORE_SCHEMECOLOR_INDEX" val="5"/>
  <p:tag name="KSO_WM_UNIT_FILL_FORE_SCHEMECOLOR_INDEX_BRIGHTNESS" val="0"/>
  <p:tag name="KSO_WM_UNIT_LINE_FORE_SCHEMECOLOR_INDEX" val="5"/>
  <p:tag name="KSO_WM_DIAGRAM_MAX_ITEMCNT" val="4"/>
  <p:tag name="KSO_WM_DIAGRAM_MIN_ITEMCNT" val="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3"/>
  <p:tag name="KSO_WM_TEMPLATE_CATEGORY" val="diagram"/>
  <p:tag name="KSO_WM_TEMPLATE_INDEX" val="40492896"/>
  <p:tag name="KSO_WM_UNIT_LAYERLEVEL" val="1_1"/>
  <p:tag name="KSO_WM_TAG_VERSION" val="3.0"/>
  <p:tag name="KSO_WM_BEAUTIFY_FLAG" val="#wm#"/>
  <p:tag name="KSO_WM_DIAGRAM_GROUP_CODE" val="m1-1"/>
  <p:tag name="KSO_WM_UNIT_TYPE" val="m_i"/>
  <p:tag name="KSO_WM_UNIT_INDEX" val="1_3"/>
  <p:tag name="KSO_WM_DIAGRAM_VERSION" val="3"/>
  <p:tag name="KSO_WM_DIAGRAM_COLOR_TRICK" val="1"/>
  <p:tag name="KSO_WM_DIAGRAM_COLOR_TEXT_CAN_REMOVE" val="n"/>
  <p:tag name="KSO_WM_DIAGRAM_VIRTUALLY_FRAME" val="{&quot;height&quot;:381.6,&quot;left&quot;:16.05,&quot;top&quot;:126.55,&quot;width&quot;:916.05}"/>
  <p:tag name="KSO_WM_DIAGRAM_MAX_ITEMCNT" val="4"/>
  <p:tag name="KSO_WM_DIAGRAM_MIN_ITEMCNT" val="3"/>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1_1"/>
  <p:tag name="KSO_WM_TEMPLATE_CATEGORY" val="diagram"/>
  <p:tag name="KSO_WM_TEMPLATE_INDEX" val="40492896"/>
  <p:tag name="KSO_WM_UNIT_LAYERLEVEL" val="1_1_1"/>
  <p:tag name="KSO_WM_TAG_VERSION" val="3.0"/>
  <p:tag name="KSO_WM_BEAUTIFY_FLAG" val="#wm#"/>
  <p:tag name="KSO_WM_DIAGRAM_GROUP_CODE" val="m1-1"/>
  <p:tag name="KSO_WM_UNIT_SUBTYPE" val="nb"/>
  <p:tag name="KSO_WM_UNIT_TYPE" val="m_h_i"/>
  <p:tag name="KSO_WM_UNIT_INDEX" val="1_1_1"/>
  <p:tag name="KSO_WM_DIAGRAM_VERSION" val="3"/>
  <p:tag name="KSO_WM_DIAGRAM_COLOR_TRICK" val="1"/>
  <p:tag name="KSO_WM_DIAGRAM_COLOR_TEXT_CAN_REMOVE" val="n"/>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f*1_1_1"/>
  <p:tag name="KSO_WM_TEMPLATE_CATEGORY" val="diagram"/>
  <p:tag name="KSO_WM_TEMPLATE_INDEX" val="40492896"/>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VALUE" val="63"/>
  <p:tag name="KSO_WM_UNIT_PRESET_TEXT" val="单击此处编辑添加正文，文字是您思想的提炼，为了最终演示发布的良好效果。根据需要可酌情增减文字，以便观者准确理解您所传达的信息。"/>
  <p:tag name="KSO_WM_UNIT_TEXT_TYPE" val="1"/>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2_1"/>
  <p:tag name="KSO_WM_TEMPLATE_CATEGORY" val="diagram"/>
  <p:tag name="KSO_WM_TEMPLATE_INDEX" val="40492896"/>
  <p:tag name="KSO_WM_UNIT_LAYERLEVEL" val="1_1_1"/>
  <p:tag name="KSO_WM_TAG_VERSION" val="3.0"/>
  <p:tag name="KSO_WM_BEAUTIFY_FLAG" val="#wm#"/>
  <p:tag name="KSO_WM_DIAGRAM_GROUP_CODE" val="m1-1"/>
  <p:tag name="KSO_WM_UNIT_SUBTYPE" val="nb"/>
  <p:tag name="KSO_WM_UNIT_TYPE" val="m_h_i"/>
  <p:tag name="KSO_WM_UNIT_INDEX" val="1_2_1"/>
  <p:tag name="KSO_WM_DIAGRAM_VERSION" val="3"/>
  <p:tag name="KSO_WM_DIAGRAM_COLOR_TRICK" val="1"/>
  <p:tag name="KSO_WM_DIAGRAM_COLOR_TEXT_CAN_REMOVE" val="n"/>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f*1_2_1"/>
  <p:tag name="KSO_WM_TEMPLATE_CATEGORY" val="diagram"/>
  <p:tag name="KSO_WM_TEMPLATE_INDEX" val="40492896"/>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m1-1"/>
  <p:tag name="KSO_WM_UNIT_TYPE" val="m_h_f"/>
  <p:tag name="KSO_WM_UNIT_INDEX" val="1_2_1"/>
  <p:tag name="KSO_WM_DIAGRAM_VERSION" val="3"/>
  <p:tag name="KSO_WM_DIAGRAM_COLOR_TRICK" val="1"/>
  <p:tag name="KSO_WM_DIAGRAM_COLOR_TEXT_CAN_REMOVE" val="n"/>
  <p:tag name="KSO_WM_UNIT_PRESET_TEXT" val="单击此处添加正文，文字是思想的提炼，为了最终演示发布的良好效果。根据需要可酌情增减文字，以便观者准确理解您所传达的信息。"/>
  <p:tag name="KSO_WM_UNIT_TEXT_TYPE" val="1"/>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3_1"/>
  <p:tag name="KSO_WM_TEMPLATE_CATEGORY" val="diagram"/>
  <p:tag name="KSO_WM_TEMPLATE_INDEX" val="40492896"/>
  <p:tag name="KSO_WM_UNIT_LAYERLEVEL" val="1_1_1"/>
  <p:tag name="KSO_WM_TAG_VERSION" val="3.0"/>
  <p:tag name="KSO_WM_BEAUTIFY_FLAG" val="#wm#"/>
  <p:tag name="KSO_WM_DIAGRAM_GROUP_CODE" val="m1-1"/>
  <p:tag name="KSO_WM_UNIT_SUBTYPE" val="nb"/>
  <p:tag name="KSO_WM_UNIT_TYPE" val="m_h_i"/>
  <p:tag name="KSO_WM_UNIT_INDEX" val="1_3_1"/>
  <p:tag name="KSO_WM_DIAGRAM_VERSION" val="3"/>
  <p:tag name="KSO_WM_DIAGRAM_COLOR_TRICK" val="1"/>
  <p:tag name="KSO_WM_DIAGRAM_COLOR_TEXT_CAN_REMOVE" val="n"/>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f*1_3_1"/>
  <p:tag name="KSO_WM_TEMPLATE_CATEGORY" val="diagram"/>
  <p:tag name="KSO_WM_TEMPLATE_INDEX" val="40492896"/>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m1-1"/>
  <p:tag name="KSO_WM_UNIT_TYPE" val="m_h_f"/>
  <p:tag name="KSO_WM_UNIT_INDEX" val="1_3_1"/>
  <p:tag name="KSO_WM_DIAGRAM_VERSION" val="3"/>
  <p:tag name="KSO_WM_DIAGRAM_COLOR_TRICK" val="1"/>
  <p:tag name="KSO_WM_DIAGRAM_COLOR_TEXT_CAN_REMOVE" val="n"/>
  <p:tag name="KSO_WM_UNIT_PRESET_TEXT" val="单击此处编辑添加正文，文字是您思想的提炼，为了最终演示发布的良好效果。根据需要可酌情增减文字，以便观者准确理解您所传达的信息。"/>
  <p:tag name="KSO_WM_UNIT_TEXT_TYPE" val="1"/>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i*1_4_1"/>
  <p:tag name="KSO_WM_TEMPLATE_CATEGORY" val="diagram"/>
  <p:tag name="KSO_WM_TEMPLATE_INDEX" val="40492896"/>
  <p:tag name="KSO_WM_UNIT_LAYERLEVEL" val="1_1_1"/>
  <p:tag name="KSO_WM_TAG_VERSION" val="3.0"/>
  <p:tag name="KSO_WM_BEAUTIFY_FLAG" val="#wm#"/>
  <p:tag name="KSO_WM_DIAGRAM_GROUP_CODE" val="m1-1"/>
  <p:tag name="KSO_WM_UNIT_SUBTYPE" val="nb"/>
  <p:tag name="KSO_WM_UNIT_TYPE" val="m_h_i"/>
  <p:tag name="KSO_WM_UNIT_INDEX" val="1_4_1"/>
  <p:tag name="KSO_WM_DIAGRAM_VERSION" val="3"/>
  <p:tag name="KSO_WM_DIAGRAM_COLOR_TRICK" val="1"/>
  <p:tag name="KSO_WM_DIAGRAM_COLOR_TEXT_CAN_REMOVE" val="n"/>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h_f*1_4_1"/>
  <p:tag name="KSO_WM_TEMPLATE_CATEGORY" val="diagram"/>
  <p:tag name="KSO_WM_TEMPLATE_INDEX" val="40492896"/>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m1-1"/>
  <p:tag name="KSO_WM_UNIT_TYPE" val="m_h_f"/>
  <p:tag name="KSO_WM_UNIT_INDEX" val="1_4_1"/>
  <p:tag name="KSO_WM_DIAGRAM_VERSION" val="3"/>
  <p:tag name="KSO_WM_DIAGRAM_COLOR_TRICK" val="1"/>
  <p:tag name="KSO_WM_DIAGRAM_COLOR_TEXT_CAN_REMOVE" val="n"/>
  <p:tag name="KSO_WM_UNIT_PRESET_TEXT" val="单击此处添加正文，文字是思想的提炼，为了最终演示发布的良好效果。根据需要可酌情增减文字，以便观者准确理解您所传达的信息。"/>
  <p:tag name="KSO_WM_UNIT_TEXT_TYPE" val="1"/>
  <p:tag name="KSO_WM_DIAGRAM_VIRTUALLY_FRAME" val="{&quot;height&quot;:381.6,&quot;left&quot;:16.05,&quot;top&quot;:126.55,&quot;width&quot;:916.05}"/>
  <p:tag name="KSO_WM_UNIT_TEXT_FILL_FORE_SCHEMECOLOR_INDEX" val="1"/>
  <p:tag name="KSO_WM_UNIT_TEXT_FILL_TYPE" val="1"/>
  <p:tag name="KSO_WM_DIAGRAM_MAX_ITEMCNT" val="4"/>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2"/>
  <p:tag name="KSO_WM_TEMPLATE_CATEGORY" val="diagram"/>
  <p:tag name="KSO_WM_TEMPLATE_INDEX" val="40492896"/>
  <p:tag name="KSO_WM_UNIT_LAYERLEVEL" val="1_1"/>
  <p:tag name="KSO_WM_TAG_VERSION" val="3.0"/>
  <p:tag name="KSO_WM_DIAGRAM_GROUP_CODE" val="m1-1"/>
  <p:tag name="KSO_WM_UNIT_TYPE" val="m_i"/>
  <p:tag name="KSO_WM_UNIT_INDEX" val="1_2"/>
  <p:tag name="KSO_WM_DIAGRAM_VERSION" val="3"/>
  <p:tag name="KSO_WM_DIAGRAM_COLOR_TRICK" val="1"/>
  <p:tag name="KSO_WM_DIAGRAM_COLOR_TEXT_CAN_REMOVE" val="n"/>
  <p:tag name="KSO_WM_DIAGRAM_VIRTUALLY_FRAME" val="{&quot;height&quot;:326.65,&quot;left&quot;:16.05,&quot;top&quot;:126.55,&quot;width&quot;:912.05}"/>
  <p:tag name="KSO_WM_UNIT_FILL_TYPE" val="1"/>
  <p:tag name="KSO_WM_UNIT_FILL_FORE_SCHEMECOLOR_INDEX" val="5"/>
  <p:tag name="KSO_WM_UNIT_FILL_FORE_SCHEMECOLOR_INDEX_BRIGHTNESS" val="0"/>
  <p:tag name="KSO_WM_UNIT_LINE_FORE_SCHEMECOLOR_INDEX" val="5"/>
  <p:tag name="KSO_WM_DIAGRAM_MAX_ITEMCNT" val="4"/>
  <p:tag name="KSO_WM_DIAGRAM_MIN_ITEMCNT" val="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3"/>
  <p:tag name="KSO_WM_TEMPLATE_CATEGORY" val="diagram"/>
  <p:tag name="KSO_WM_TEMPLATE_INDEX" val="40492896"/>
  <p:tag name="KSO_WM_UNIT_LAYERLEVEL" val="1_1"/>
  <p:tag name="KSO_WM_TAG_VERSION" val="3.0"/>
  <p:tag name="KSO_WM_DIAGRAM_GROUP_CODE" val="m1-1"/>
  <p:tag name="KSO_WM_UNIT_TYPE" val="m_i"/>
  <p:tag name="KSO_WM_UNIT_INDEX" val="1_3"/>
  <p:tag name="KSO_WM_DIAGRAM_VERSION" val="3"/>
  <p:tag name="KSO_WM_DIAGRAM_COLOR_TRICK" val="1"/>
  <p:tag name="KSO_WM_DIAGRAM_COLOR_TEXT_CAN_REMOVE" val="n"/>
  <p:tag name="KSO_WM_DIAGRAM_VIRTUALLY_FRAME" val="{&quot;height&quot;:326.65,&quot;left&quot;:16.05,&quot;top&quot;:126.55,&quot;width&quot;:912.05}"/>
  <p:tag name="KSO_WM_DIAGRAM_MAX_ITEMCNT" val="4"/>
  <p:tag name="KSO_WM_DIAGRAM_MIN_ITEMCNT" val="3"/>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2"/>
  <p:tag name="KSO_WM_TEMPLATE_CATEGORY" val="diagram"/>
  <p:tag name="KSO_WM_TEMPLATE_INDEX" val="40492896"/>
  <p:tag name="KSO_WM_UNIT_LAYERLEVEL" val="1_1"/>
  <p:tag name="KSO_WM_TAG_VERSION" val="3.0"/>
  <p:tag name="KSO_WM_DIAGRAM_GROUP_CODE" val="m1-1"/>
  <p:tag name="KSO_WM_UNIT_TYPE" val="m_i"/>
  <p:tag name="KSO_WM_UNIT_INDEX" val="1_2"/>
  <p:tag name="KSO_WM_DIAGRAM_VERSION" val="3"/>
  <p:tag name="KSO_WM_DIAGRAM_COLOR_TRICK" val="1"/>
  <p:tag name="KSO_WM_DIAGRAM_COLOR_TEXT_CAN_REMOVE" val="n"/>
  <p:tag name="KSO_WM_DIAGRAM_VIRTUALLY_FRAME" val="{&quot;height&quot;:326.65,&quot;left&quot;:16.05,&quot;top&quot;:126.55,&quot;width&quot;:912.05}"/>
  <p:tag name="KSO_WM_UNIT_FILL_TYPE" val="1"/>
  <p:tag name="KSO_WM_UNIT_FILL_FORE_SCHEMECOLOR_INDEX" val="5"/>
  <p:tag name="KSO_WM_UNIT_FILL_FORE_SCHEMECOLOR_INDEX_BRIGHTNESS" val="0"/>
  <p:tag name="KSO_WM_UNIT_LINE_FORE_SCHEMECOLOR_INDEX" val="5"/>
  <p:tag name="KSO_WM_DIAGRAM_MAX_ITEMCNT" val="4"/>
  <p:tag name="KSO_WM_DIAGRAM_MIN_ITEMCNT" val="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96_2*m_i*1_3"/>
  <p:tag name="KSO_WM_TEMPLATE_CATEGORY" val="diagram"/>
  <p:tag name="KSO_WM_TEMPLATE_INDEX" val="40492896"/>
  <p:tag name="KSO_WM_UNIT_LAYERLEVEL" val="1_1"/>
  <p:tag name="KSO_WM_TAG_VERSION" val="3.0"/>
  <p:tag name="KSO_WM_DIAGRAM_GROUP_CODE" val="m1-1"/>
  <p:tag name="KSO_WM_UNIT_TYPE" val="m_i"/>
  <p:tag name="KSO_WM_UNIT_INDEX" val="1_3"/>
  <p:tag name="KSO_WM_DIAGRAM_VERSION" val="3"/>
  <p:tag name="KSO_WM_DIAGRAM_COLOR_TRICK" val="1"/>
  <p:tag name="KSO_WM_DIAGRAM_COLOR_TEXT_CAN_REMOVE" val="n"/>
  <p:tag name="KSO_WM_DIAGRAM_VIRTUALLY_FRAME" val="{&quot;height&quot;:326.65,&quot;left&quot;:16.05,&quot;top&quot;:126.55,&quot;width&quot;:912.05}"/>
  <p:tag name="KSO_WM_DIAGRAM_MAX_ITEMCNT" val="4"/>
  <p:tag name="KSO_WM_DIAGRAM_MIN_ITEMCNT" val="3"/>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51.xml><?xml version="1.0" encoding="utf-8"?>
<p:tagLst xmlns:p="http://schemas.openxmlformats.org/presentationml/2006/main">
  <p:tag name="KSO_WM_DIAGRAM_VIRTUALLY_FRAME" val="{&quot;height&quot;:241.5,&quot;left&quot;:81.8,&quot;top&quot;:245.25,&quot;width&quot;:800.55}"/>
</p:tagLst>
</file>

<file path=ppt/tags/tag52.xml><?xml version="1.0" encoding="utf-8"?>
<p:tagLst xmlns:p="http://schemas.openxmlformats.org/presentationml/2006/main">
  <p:tag name="KSO_WM_DIAGRAM_VIRTUALLY_FRAME" val="{&quot;height&quot;:241.5,&quot;left&quot;:81.8,&quot;top&quot;:245.25,&quot;width&quot;:800.55}"/>
</p:tagLst>
</file>

<file path=ppt/tags/tag53.xml><?xml version="1.0" encoding="utf-8"?>
<p:tagLst xmlns:p="http://schemas.openxmlformats.org/presentationml/2006/main">
  <p:tag name="KSO_WM_DIAGRAM_VIRTUALLY_FRAME" val="{&quot;height&quot;:241.5,&quot;left&quot;:81.8,&quot;top&quot;:245.25,&quot;width&quot;:800.55}"/>
</p:tagLst>
</file>

<file path=ppt/tags/tag54.xml><?xml version="1.0" encoding="utf-8"?>
<p:tagLst xmlns:p="http://schemas.openxmlformats.org/presentationml/2006/main">
  <p:tag name="KSO_WM_DIAGRAM_VIRTUALLY_FRAME" val="{&quot;height&quot;:241.5,&quot;left&quot;:81.8,&quot;top&quot;:245.25,&quot;width&quot;:800.55}"/>
</p:tagLst>
</file>

<file path=ppt/tags/tag55.xml><?xml version="1.0" encoding="utf-8"?>
<p:tagLst xmlns:p="http://schemas.openxmlformats.org/presentationml/2006/main">
  <p:tag name="KSO_WM_DIAGRAM_VIRTUALLY_FRAME" val="{&quot;height&quot;:241.5,&quot;left&quot;:81.8,&quot;top&quot;:245.25,&quot;width&quot;:800.55}"/>
</p:tagLst>
</file>

<file path=ppt/tags/tag56.xml><?xml version="1.0" encoding="utf-8"?>
<p:tagLst xmlns:p="http://schemas.openxmlformats.org/presentationml/2006/main">
  <p:tag name="KSO_WM_DIAGRAM_VIRTUALLY_FRAME" val="{&quot;height&quot;:241.5,&quot;left&quot;:81.8,&quot;top&quot;:245.25,&quot;width&quot;:800.55}"/>
</p:tagLst>
</file>

<file path=ppt/tags/tag57.xml><?xml version="1.0" encoding="utf-8"?>
<p:tagLst xmlns:p="http://schemas.openxmlformats.org/presentationml/2006/main">
  <p:tag name="KSO_WM_DIAGRAM_VIRTUALLY_FRAME" val="{&quot;height&quot;:241.5,&quot;left&quot;:81.8,&quot;top&quot;:245.25,&quot;width&quot;:800.55}"/>
</p:tagLst>
</file>

<file path=ppt/tags/tag58.xml><?xml version="1.0" encoding="utf-8"?>
<p:tagLst xmlns:p="http://schemas.openxmlformats.org/presentationml/2006/main">
  <p:tag name="KSO_WM_DIAGRAM_VIRTUALLY_FRAME" val="{&quot;height&quot;:241.5,&quot;left&quot;:81.8,&quot;top&quot;:245.25,&quot;width&quot;:800.55}"/>
</p:tagLst>
</file>

<file path=ppt/tags/tag59.xml><?xml version="1.0" encoding="utf-8"?>
<p:tagLst xmlns:p="http://schemas.openxmlformats.org/presentationml/2006/main">
  <p:tag name="KSO_WM_DIAGRAM_VIRTUALLY_FRAME" val="{&quot;height&quot;:241.5,&quot;left&quot;:81.8,&quot;top&quot;:245.25,&quot;width&quot;:800.55}"/>
</p:tagLst>
</file>

<file path=ppt/tags/tag60.xml><?xml version="1.0" encoding="utf-8"?>
<p:tagLst xmlns:p="http://schemas.openxmlformats.org/presentationml/2006/main">
  <p:tag name="KSO_WM_DIAGRAM_VIRTUALLY_FRAME" val="{&quot;height&quot;:241.5,&quot;left&quot;:81.8,&quot;top&quot;:245.25,&quot;width&quot;:800.55}"/>
</p:tagLst>
</file>

<file path=ppt/tags/tag61.xml><?xml version="1.0" encoding="utf-8"?>
<p:tagLst xmlns:p="http://schemas.openxmlformats.org/presentationml/2006/main">
  <p:tag name="KSO_WM_DIAGRAM_VIRTUALLY_FRAME" val="{&quot;height&quot;:241.5,&quot;left&quot;:81.8,&quot;top&quot;:245.25,&quot;width&quot;:800.55}"/>
</p:tagLst>
</file>

<file path=ppt/tags/tag62.xml><?xml version="1.0" encoding="utf-8"?>
<p:tagLst xmlns:p="http://schemas.openxmlformats.org/presentationml/2006/main">
  <p:tag name="KSO_WM_DIAGRAM_VIRTUALLY_FRAME" val="{&quot;height&quot;:241.5,&quot;left&quot;:81.8,&quot;top&quot;:245.25,&quot;width&quot;:800.55}"/>
</p:tagLst>
</file>

<file path=ppt/tags/tag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6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2*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63.60039672851565,&quot;left&quot;:9.85,&quot;top&quot;:61.29960327148437,&quot;width&quot;:930.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6,6,6,6,6,6]}"/>
</p:tagLst>
</file>

<file path=ppt/tags/tag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1*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8,8,8,8,8,8]}"/>
</p:tagLst>
</file>

<file path=ppt/tags/tag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2*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63.60039672851565,&quot;left&quot;:9.85,&quot;top&quot;:61.29960327148437,&quot;width&quot;:930.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6,6,6,6,6,6]}"/>
</p:tagLst>
</file>

<file path=ppt/tags/tag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69.xml><?xml version="1.0" encoding="utf-8"?>
<p:tagLst xmlns:p="http://schemas.openxmlformats.org/presentationml/2006/main">
  <p:tag name="TABLE_ENDDRAG_ORIGIN_RECT" val="509*302"/>
  <p:tag name="TABLE_ENDDRAG_RECT" val="390*188*509*302"/>
  <p:tag name="TABLE_AUTOADJUST_FLAG" val="1"/>
</p:tagLst>
</file>

<file path=ppt/tags/tag7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71.xml><?xml version="1.0" encoding="utf-8"?>
<p:tagLst xmlns:p="http://schemas.openxmlformats.org/presentationml/2006/main">
  <p:tag name="TABLE_ENDDRAG_ORIGIN_RECT" val="829*305"/>
  <p:tag name="TABLE_ENDDRAG_RECT" val="67*163*829*305"/>
  <p:tag name="TABLE_AUTOADJUST_FLAG" val="1"/>
</p:tagLst>
</file>

<file path=ppt/tags/tag72.xml><?xml version="1.0" encoding="utf-8"?>
<p:tagLst xmlns:p="http://schemas.openxmlformats.org/presentationml/2006/main">
  <p:tag name="TABLE_ENDDRAG_ORIGIN_RECT" val="870*181"/>
  <p:tag name="TABLE_ENDDRAG_RECT" val="44*191*870*181"/>
  <p:tag name="TABLE_AUTOADJUST_FLAG" val="1"/>
</p:tagLst>
</file>

<file path=ppt/tags/tag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74.xml><?xml version="1.0" encoding="utf-8"?>
<p:tagLst xmlns:p="http://schemas.openxmlformats.org/presentationml/2006/main">
  <p:tag name="KSO_WM_DIAGRAM_VIRTUALLY_FRAME" val="{&quot;height&quot;:139.65,&quot;left&quot;:47.3,&quot;top&quot;:363.2,&quot;width&quot;:869.9986114215468}"/>
</p:tagLst>
</file>

<file path=ppt/tags/tag7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4*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7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4*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TEXT_LAYER_COUNT" val="1"/>
  <p:tag name="KSO_WM_UNIT_PRESET_TEXT" val="单击此处添加文本具体内容，简明扼要地阐述您的观点。根据需要您可酌情增减文字内容"/>
  <p:tag name="KSO_WM_UNIT_TEXT_FILL_FORE_SCHEMECOLOR_INDEX" val="1"/>
  <p:tag name="KSO_WM_UNIT_TEXT_FILL_TYPE" val="1"/>
  <p:tag name="KSO_WM_DIAGRAM_USE_COLOR_VALUE" val="{&quot;color_scheme&quot;:1,&quot;color_type&quot;:1,&quot;theme_color_indexes&quot;:[5,6,5,6,5,6]}"/>
</p:tagLst>
</file>

<file path=ppt/tags/tag7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4*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7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4*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7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4*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TEXT_LAYER_COUNT" val="1"/>
  <p:tag name="KSO_WM_UNIT_PRESET_TEXT" val="单击此处添加文本具体内容，简明扼要地阐述您的观点。根据需要您可酌情增减文字内容"/>
  <p:tag name="KSO_WM_UNIT_TEXT_FILL_FORE_SCHEMECOLOR_INDEX" val="1"/>
  <p:tag name="KSO_WM_UNIT_TEXT_FILL_TYPE" val="1"/>
  <p:tag name="KSO_WM_DIAGRAM_USE_COLOR_VALUE" val="{&quot;color_scheme&quot;:1,&quot;color_type&quot;:1,&quot;theme_color_indexes&quot;:[5,6,5,6,5,6]}"/>
</p:tagLst>
</file>

<file path=ppt/tags/tag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4*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973_4*l_h_i*1_3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73_4*l_h_f*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TEXT_LAYER_COUNT" val="1"/>
  <p:tag name="KSO_WM_UNIT_PRESET_TEXT" val="单击此处添加文本具体内容，简明扼要地阐述您的观点。根据需要您可酌情增减文字内容"/>
  <p:tag name="KSO_WM_UNIT_TEXT_FILL_FORE_SCHEMECOLOR_INDEX" val="1"/>
  <p:tag name="KSO_WM_UNIT_TEXT_FILL_TYPE" val="1"/>
  <p:tag name="KSO_WM_DIAGRAM_USE_COLOR_VALUE" val="{&quot;color_scheme&quot;:1,&quot;color_type&quot;:1,&quot;theme_color_indexes&quot;:[5,6,5,6,5,6]}"/>
</p:tagLst>
</file>

<file path=ppt/tags/tag8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73_4*l_h_i*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3"/>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1973_4*l_h_i*1_4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8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73_4*l_h_f*1_4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TEXT_LAYER_COUNT" val="1"/>
  <p:tag name="KSO_WM_UNIT_PRESET_TEXT" val="单击此处添加文本具体内容，简明扼要地阐述您的观点。根据需要您可酌情增减文字内容"/>
  <p:tag name="KSO_WM_UNIT_TEXT_FILL_FORE_SCHEMECOLOR_INDEX" val="1"/>
  <p:tag name="KSO_WM_UNIT_TEXT_FILL_TYPE" val="1"/>
  <p:tag name="KSO_WM_DIAGRAM_USE_COLOR_VALUE" val="{&quot;color_scheme&quot;:1,&quot;color_type&quot;:1,&quot;theme_color_indexes&quot;:[5,6,5,6,5,6]}"/>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1973_4*l_h_i*1_4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4"/>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20231973_4*l_h_i*1_5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8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1973_4*l_h_f*1_5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TEXT_LAYER_COUNT" val="1"/>
  <p:tag name="KSO_WM_UNIT_PRESET_TEXT" val="单击此处添加文本具体内容，简明扼要地阐述您的观点。根据需要您可酌情增减文字内容"/>
  <p:tag name="KSO_WM_UNIT_TEXT_FILL_FORE_SCHEMECOLOR_INDEX" val="1"/>
  <p:tag name="KSO_WM_UNIT_TEXT_FILL_TYPE" val="1"/>
  <p:tag name="KSO_WM_DIAGRAM_USE_COLOR_VALUE" val="{&quot;color_scheme&quot;:1,&quot;color_type&quot;:1,&quot;theme_color_indexes&quot;:[5,6,5,6,5,6]}"/>
</p:tagLst>
</file>

<file path=ppt/tags/tag8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1973_4*l_h_i*1_5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139.65,&quot;left&quot;:47.3,&quot;top&quot;:363.2,&quot;width&quot;:869.99861142154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5"/>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2*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9.5,&quot;left&quot;:43.5,&quot;top&quot;:92.75,&quot;width&quot;:876.6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6,6,6,6,6,6]}"/>
</p:tagLst>
</file>

<file path=ppt/tags/tag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2*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9.5,&quot;left&quot;:43.5,&quot;top&quot;:92.75,&quot;width&quot;:876.6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6,6,6,6,6,6]}"/>
</p:tagLst>
</file>

<file path=ppt/tags/tag9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2*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9.5,&quot;left&quot;:43.5,&quot;top&quot;:92.75,&quot;width&quot;:876.6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6,6,6,6,6,6]}"/>
</p:tagLst>
</file>

<file path=ppt/tags/tag93.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0.6499999761581421,&quot;transparency&quot;:0.5199999809265137},{&quot;brightness&quot;:0.800000011920929,&quot;colorType&quot;:1,&quot;foreColorIndex&quot;:5,&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653_4*l_h_i*1_1_2"/>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94.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653_4*l_h_a*1_1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DIAGRAM_USE_COLOR_VALUE" val="{&quot;color_scheme&quot;:1,&quot;color_type&quot;:1,&quot;theme_color_indexes&quot;:[5,6,5,6,5,6]}"/>
</p:tagLst>
</file>

<file path=ppt/tags/tag95.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653_4*l_h_f*1_1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还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96.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0,&quot;rgb&quot;:&quot;#ffffff&quot;,&quot;transparency&quot;:0},{&quot;brightness&quot;:0,&quot;colorType&quot;:2,&quot;pos&quot;:0.5299999713897705,&quot;rgb&quot;:&quot;#ffffff&quot;,&quot;transparency&quot;:1}],&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53_4*l_h_i*1_1_1"/>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97.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800000011920929,&quot;colorType&quot;:1,&quot;foreColorIndex&quot;:8,&quot;pos&quot;:0,&quot;transparency&quot;:1},{&quot;brightness&quot;:0.800000011920929,&quot;colorType&quot;:1,&quot;foreColorIndex&quot;:8,&quot;pos&quot;:0.6499999761581421,&quot;transparency&quot;:0.5199999809265137},{&quot;brightness&quot;:0.800000011920929,&quot;colorType&quot;:1,&quot;foreColorIndex&quot;:8,&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653_4*l_h_i*1_2_2"/>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98.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8,&quot;pos&quot;:0,&quot;transparency&quot;:0},{&quot;brightness&quot;:0,&quot;colorType&quot;:1,&quot;foreColorIndex&quot;:8,&quot;pos&quot;:0.69999998807907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653_4*l_h_a*1_2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DIAGRAM_USE_COLOR_VALUE" val="{&quot;color_scheme&quot;:1,&quot;color_type&quot;:1,&quot;theme_color_indexes&quot;:[5,6,5,6,5,6]}"/>
</p:tagLst>
</file>

<file path=ppt/tags/tag99.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653_4*l_h_f*1_2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还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00.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8,&quot;pos&quot;:0,&quot;transparency&quot;:0},{&quot;brightness&quot;:0,&quot;colorType&quot;:1,&quot;foreColorIndex&quot;:8,&quot;pos&quot;:0.69999998807907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53_4*l_h_i*1_2_1"/>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01.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0.6499999761581421,&quot;transparency&quot;:0.5199999809265137},{&quot;brightness&quot;:0.800000011920929,&quot;colorType&quot;:1,&quot;foreColorIndex&quot;:5,&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653_4*l_h_i*1_3_2"/>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02.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653_4*l_h_a*1_3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DIAGRAM_USE_COLOR_VALUE" val="{&quot;color_scheme&quot;:1,&quot;color_type&quot;:1,&quot;theme_color_indexes&quot;:[5,6,5,6,5,6]}"/>
</p:tagLst>
</file>

<file path=ppt/tags/tag103.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653_4*l_h_f*1_3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还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04.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0,&quot;rgb&quot;:&quot;#ffffff&quot;,&quot;transparency&quot;:0},{&quot;brightness&quot;:0,&quot;colorType&quot;:2,&quot;pos&quot;:0.5299999713897705,&quot;rgb&quot;:&quot;#ffffff&quot;,&quot;transparency&quot;:1}],&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653_4*l_h_i*1_3_1"/>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05.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800000011920929,&quot;colorType&quot;:1,&quot;foreColorIndex&quot;:8,&quot;pos&quot;:0,&quot;transparency&quot;:1},{&quot;brightness&quot;:0.800000011920929,&quot;colorType&quot;:1,&quot;foreColorIndex&quot;:8,&quot;pos&quot;:0.6499999761581421,&quot;transparency&quot;:0.5199999809265137},{&quot;brightness&quot;:0.800000011920929,&quot;colorType&quot;:1,&quot;foreColorIndex&quot;:8,&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653_4*l_h_i*1_4_2"/>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06.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8,&quot;pos&quot;:0,&quot;transparency&quot;:0},{&quot;brightness&quot;:0,&quot;colorType&quot;:1,&quot;foreColorIndex&quot;:8,&quot;pos&quot;:0.69999998807907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653_4*l_h_a*1_4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DIAGRAM_USE_COLOR_VALUE" val="{&quot;color_scheme&quot;:1,&quot;color_type&quot;:1,&quot;theme_color_indexes&quot;:[5,6,5,6,5,6]}"/>
</p:tagLst>
</file>

<file path=ppt/tags/tag107.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653_4*l_h_f*1_4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还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08.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8,&quot;pos&quot;:0,&quot;transparency&quot;:0},{&quot;brightness&quot;:0,&quot;colorType&quot;:1,&quot;foreColorIndex&quot;:8,&quot;pos&quot;:0.69999998807907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653_4*l_h_i*1_4_1"/>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09.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0.6499999761581421,&quot;transparency&quot;:0.5199999809265137},{&quot;brightness&quot;:0.800000011920929,&quot;colorType&quot;:1,&quot;foreColorIndex&quot;:5,&quot;pos&quot;:1,&quot;transparency&quot;:0.129999995231628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31653_4*l_h_i*1_5_2"/>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10.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2"/>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1653_4*l_h_a*1_5_1"/>
  <p:tag name="KSO_WM_TEMPLATE_CATEGORY" val="diagram"/>
  <p:tag name="KSO_WM_TEMPLATE_INDEX" val="20231653"/>
  <p:tag name="KSO_WM_UNIT_LAYERLEVEL" val="1_1_1"/>
  <p:tag name="KSO_WM_TAG_VERSION" val="3.0"/>
  <p:tag name="KSO_WM_BEAUTIFY_FLAG" val="#wm#"/>
  <p:tag name="KSO_WM_UNIT_PRESET_TEXT" val="添加&#10;标题"/>
  <p:tag name="KSO_WM_UNIT_FILL_TYPE" val="3"/>
  <p:tag name="KSO_WM_UNIT_TEXT_TYPE" val="1"/>
  <p:tag name="KSO_WM_DIAGRAM_USE_COLOR_VALUE" val="{&quot;color_scheme&quot;:1,&quot;color_type&quot;:1,&quot;theme_color_indexes&quot;:[5,6,5,6,5,6]}"/>
</p:tagLst>
</file>

<file path=ppt/tags/tag111.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1653_4*l_h_f*1_5_1"/>
  <p:tag name="KSO_WM_TEMPLATE_CATEGORY" val="diagram"/>
  <p:tag name="KSO_WM_TEMPLATE_INDEX" val="20231653"/>
  <p:tag name="KSO_WM_UNIT_LAYERLEVEL" val="1_1_1"/>
  <p:tag name="KSO_WM_TAG_VERSION" val="3.0"/>
  <p:tag name="KSO_WM_BEAUTIFY_FLAG" val="#wm#"/>
  <p:tag name="KSO_WM_UNIT_PRESET_TEXT" val="单击此处添加文本具体内容，简明扼要地阐述您的观点。根据需要还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2.xml><?xml version="1.0" encoding="utf-8"?>
<p:tagLst xmlns:p="http://schemas.openxmlformats.org/presentationml/2006/main">
  <p:tag name="KSO_WM_DIAGRAM_MAX_ITEMCNT" val="6"/>
  <p:tag name="KSO_WM_DIAGRAM_MIN_ITEMCNT" val="2"/>
  <p:tag name="KSO_WM_DIAGRAM_VIRTUALLY_FRAME" val="{&quot;height&quot;:372.79998779296875,&quot;left&quot;:65.04999389648438,&quot;top&quot;:139.75000610351563,&quot;width&quot;:851.2000122070312}"/>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0,&quot;rgb&quot;:&quot;#ffffff&quot;,&quot;transparency&quot;:0},{&quot;brightness&quot;:0,&quot;colorType&quot;:2,&quot;pos&quot;:0.5299999713897705,&quot;rgb&quot;:&quot;#ffffff&quot;,&quot;transparency&quot;:1}],&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31653_4*l_h_i*1_5_1"/>
  <p:tag name="KSO_WM_TEMPLATE_CATEGORY" val="diagram"/>
  <p:tag name="KSO_WM_TEMPLATE_INDEX" val="20231653"/>
  <p:tag name="KSO_WM_UNIT_LAYERLEVEL" val="1_1_1"/>
  <p:tag name="KSO_WM_TAG_VERSION" val="3.0"/>
  <p:tag name="KSO_WM_BEAUTIFY_FLAG" val="#wm#"/>
  <p:tag name="KSO_WM_UNIT_FILL_TYPE" val="3"/>
  <p:tag name="KSO_WM_DIAGRAM_USE_COLOR_VALUE" val="{&quot;color_scheme&quot;:1,&quot;color_type&quot;:1,&quot;theme_color_indexes&quot;:[5,6,5,6,5,6]}"/>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11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45_1*n_h_h_a*1_2_2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45_1*n_h_h_a*1_2_1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1*n_h_h_f*1_2_1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1*n_h_h_f*1_2_2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18.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4"/>
  <p:tag name="KSO_WM_UNIT_LINE_FORE_SCHEMECOLOR_INDEX_2_TRANS" val="0"/>
  <p:tag name="KSO_WM_UNIT_LINE_FORE_SCHEMECOLOR_INDEX_3_BRIGHTNESS" val="0.8"/>
  <p:tag name="KSO_WM_UNIT_LINE_FORE_SCHEMECOLOR_INDEX_3" val="15"/>
  <p:tag name="KSO_WM_UNIT_LINE_FORE_SCHEMECOLOR_INDEX_3_POS" val="0.9"/>
  <p:tag name="KSO_WM_UNIT_LINE_FORE_SCHEMECOLOR_INDEX_3_TRANS" val="0.53"/>
  <p:tag name="KSO_WM_UNIT_LINE_FORE_SCHEMECOLOR_INDEX_4_BRIGHTNESS" val="0.8"/>
  <p:tag name="KSO_WM_UNIT_LINE_FORE_SCHEMECOLOR_INDEX_4" val="15"/>
  <p:tag name="KSO_WM_UNIT_LINE_FORE_SCHEMECOLOR_INDEX_4_POS" val="0.95"/>
  <p:tag name="KSO_WM_UNIT_LINE_FORE_SCHEMECOLOR_INDEX_4_TRANS" val="0"/>
  <p:tag name="KSO_WM_UNIT_LINE_FORE_SCHEMECOLOR_INDEX_5_BRIGHTNESS" val="0.8"/>
  <p:tag name="KSO_WM_UNIT_LINE_FORE_SCHEMECOLOR_INDEX_5" val="15"/>
  <p:tag name="KSO_WM_UNIT_LINE_FORE_SCHEMECOLOR_INDEX_5_POS" val="1"/>
  <p:tag name="KSO_WM_UNIT_LINE_FORE_SCHEMECOLOR_INDEX_5_TRANS" val="0.9"/>
  <p:tag name="KSO_WM_UNIT_LINE_GRADIENT_TYPE" val="0"/>
  <p:tag name="KSO_WM_UNIT_LINE_GRADIENT_ANGLE" val="0"/>
  <p:tag name="KSO_WM_UNIT_LINE_GRADIENT_DIRECTION" val="3"/>
  <p:tag name="KSO_WM_UNIT_LINE_FILL_TYPE" val="5"/>
  <p:tag name="KSO_WM_BEAUTIFY_FLAG" val="#wm#"/>
  <p:tag name="KSO_WM_UNIT_HIGHLIGHT" val="0"/>
  <p:tag name="KSO_WM_UNIT_COMPATIBLE" val="0"/>
  <p:tag name="KSO_WM_UNIT_DIAGRAM_ISNUMVISUAL" val="0"/>
  <p:tag name="KSO_WM_UNIT_DIAGRAM_ISREFERUNIT" val="0"/>
  <p:tag name="KSO_WM_UNIT_ID" val="diagram20230945_1*n_h_i*1_2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2_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type&quot;:0},&quot;glow&quot;:{&quot;colorType&quot;:0},&quot;line&quot;:{&quot;gradient&quot;:[{&quot;brightness&quot;:0.5,&quot;colorType&quot;:1,&quot;foreColorIndex&quot;:13,&quot;pos&quot;:1,&quot;transparency&quot;:0.699999988079071},{&quot;brightness&quot;:0.800000011920929,&quot;colorType&quot;:2,&quot;pos&quot;:0.15000000596046448,&quot;rgb&quot;:&quot;#ffffff&quot;,&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a*1_1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单击添加&#10;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2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2_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solid&quot;:{&quot;brightness&quot;:0,&quot;colorType&quot;:1,&quot;foreColorIndex&quot;:6,&quot;transparency&quot;:0},&quot;type&quot;:1},&quot;glow&quot;:{&quot;colorType&quot;:0},&quot;line&quot;:{&quot;gradient&quot;:[{&quot;brightness&quot;:0,&quot;colorType&quot;:2,&quot;pos&quot;:0.3700000047683716,&quot;rgb&quot;:&quot;#ffffff&quot;,&quot;transparency&quot;:0},{&quot;brightness&quot;:0.800000011920929,&quot;colorType&quot;:1,&quot;foreColorIndex&quot;:6,&quot;pos&quot;:0,&quot;transparency&quot;:0},{&quot;brightness&quot;:0,&quot;colorType&quot;:2,&quot;pos&quot;:1,&quot;rgb&quot;:&quot;#ffffff&quot;,&quot;transparency&quot;:0},{&quot;brightness&quot;:0.800000011920929,&quot;colorType&quot;:1,&quot;foreColorIndex&quot;:6,&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12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1_1"/>
  <p:tag name="KSO_WM_DIAGRAM_MAX_ITEMCNT" val="4"/>
  <p:tag name="KSO_WM_DIAGRAM_MIN_ITEMCNT" val="2"/>
  <p:tag name="KSO_WM_DIAGRAM_VIRTUALLY_FRAME" val="{&quot;height&quot;:242.79260311096687,&quot;left&quot;:62.5,&quot;top&quot;:287.62676696777345,&quot;width&quot;:855.6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1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1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15.26419407371867,&quot;left&quot;:17.5,&quot;top&quot;:54.935805926281276,&quot;width&quot;:687.500000000000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8,8,8,8,8,8]}"/>
</p:tagLst>
</file>

<file path=ppt/tags/tag125.xml><?xml version="1.0" encoding="utf-8"?>
<p:tagLst xmlns:p="http://schemas.openxmlformats.org/presentationml/2006/main">
  <p:tag name="KSO_WM_DIAGRAM_VIRTUALLY_FRAME" val="{&quot;height&quot;:359.6,&quot;left&quot;:142.9,&quot;top&quot;:134.05,&quot;width&quot;:745.35}"/>
</p:tagLst>
</file>

<file path=ppt/tags/tag126.xml><?xml version="1.0" encoding="utf-8"?>
<p:tagLst xmlns:p="http://schemas.openxmlformats.org/presentationml/2006/main">
  <p:tag name="KSO_WM_DIAGRAM_VIRTUALLY_FRAME" val="{&quot;height&quot;:359.6,&quot;left&quot;:142.9,&quot;top&quot;:134.05,&quot;width&quot;:745.35}"/>
</p:tagLst>
</file>

<file path=ppt/tags/tag127.xml><?xml version="1.0" encoding="utf-8"?>
<p:tagLst xmlns:p="http://schemas.openxmlformats.org/presentationml/2006/main">
  <p:tag name="KSO_WM_DIAGRAM_VIRTUALLY_FRAME" val="{&quot;height&quot;:359.6,&quot;left&quot;:142.9,&quot;top&quot;:134.05,&quot;width&quot;:745.35}"/>
</p:tagLst>
</file>

<file path=ppt/tags/tag128.xml><?xml version="1.0" encoding="utf-8"?>
<p:tagLst xmlns:p="http://schemas.openxmlformats.org/presentationml/2006/main">
  <p:tag name="KSO_WM_DIAGRAM_VIRTUALLY_FRAME" val="{&quot;height&quot;:359.6,&quot;left&quot;:142.9,&quot;top&quot;:134.05,&quot;width&quot;:745.35}"/>
</p:tagLst>
</file>

<file path=ppt/tags/tag129.xml><?xml version="1.0" encoding="utf-8"?>
<p:tagLst xmlns:p="http://schemas.openxmlformats.org/presentationml/2006/main">
  <p:tag name="KSO_WM_DIAGRAM_VIRTUALLY_FRAME" val="{&quot;height&quot;:359.6,&quot;left&quot;:142.9,&quot;top&quot;:134.05,&quot;width&quot;:745.35}"/>
</p:tagLst>
</file>

<file path=ppt/tags/tag130.xml><?xml version="1.0" encoding="utf-8"?>
<p:tagLst xmlns:p="http://schemas.openxmlformats.org/presentationml/2006/main">
  <p:tag name="KSO_WM_DIAGRAM_VIRTUALLY_FRAME" val="{&quot;height&quot;:359.6,&quot;left&quot;:142.9,&quot;top&quot;:134.05,&quot;width&quot;:745.35}"/>
</p:tagLst>
</file>

<file path=ppt/tags/tag131.xml><?xml version="1.0" encoding="utf-8"?>
<p:tagLst xmlns:p="http://schemas.openxmlformats.org/presentationml/2006/main">
  <p:tag name="KSO_WM_DIAGRAM_VIRTUALLY_FRAME" val="{&quot;height&quot;:359.6,&quot;left&quot;:142.9,&quot;top&quot;:134.05,&quot;width&quot;:745.35}"/>
</p:tagLst>
</file>

<file path=ppt/tags/tag132.xml><?xml version="1.0" encoding="utf-8"?>
<p:tagLst xmlns:p="http://schemas.openxmlformats.org/presentationml/2006/main">
  <p:tag name="KSO_WM_DIAGRAM_VIRTUALLY_FRAME" val="{&quot;height&quot;:359.6,&quot;left&quot;:142.9,&quot;top&quot;:134.05,&quot;width&quot;:745.35}"/>
</p:tagLst>
</file>

<file path=ppt/tags/tag133.xml><?xml version="1.0" encoding="utf-8"?>
<p:tagLst xmlns:p="http://schemas.openxmlformats.org/presentationml/2006/main">
  <p:tag name="KSO_WM_DIAGRAM_VIRTUALLY_FRAME" val="{&quot;height&quot;:359.6,&quot;left&quot;:142.9,&quot;top&quot;:134.05,&quot;width&quot;:745.35}"/>
</p:tagLst>
</file>

<file path=ppt/tags/tag134.xml><?xml version="1.0" encoding="utf-8"?>
<p:tagLst xmlns:p="http://schemas.openxmlformats.org/presentationml/2006/main">
  <p:tag name="KSO_WM_DIAGRAM_VIRTUALLY_FRAME" val="{&quot;height&quot;:359.6,&quot;left&quot;:142.9,&quot;top&quot;:134.05,&quot;width&quot;:745.35}"/>
</p:tagLst>
</file>

<file path=ppt/tags/tag135.xml><?xml version="1.0" encoding="utf-8"?>
<p:tagLst xmlns:p="http://schemas.openxmlformats.org/presentationml/2006/main">
  <p:tag name="KSO_WM_DIAGRAM_VIRTUALLY_FRAME" val="{&quot;height&quot;:359.6,&quot;left&quot;:142.9,&quot;top&quot;:134.05,&quot;width&quot;:745.35}"/>
</p:tagLst>
</file>

<file path=ppt/tags/tag136.xml><?xml version="1.0" encoding="utf-8"?>
<p:tagLst xmlns:p="http://schemas.openxmlformats.org/presentationml/2006/main">
  <p:tag name="KSO_WM_DIAGRAM_VIRTUALLY_FRAME" val="{&quot;height&quot;:359.6,&quot;left&quot;:142.9,&quot;top&quot;:134.05,&quot;width&quot;:745.35}"/>
</p:tagLst>
</file>

<file path=ppt/tags/tag137.xml><?xml version="1.0" encoding="utf-8"?>
<p:tagLst xmlns:p="http://schemas.openxmlformats.org/presentationml/2006/main">
  <p:tag name="KSO_WM_DIAGRAM_VIRTUALLY_FRAME" val="{&quot;height&quot;:359.6,&quot;left&quot;:142.9,&quot;top&quot;:134.05,&quot;width&quot;:745.35}"/>
</p:tagLst>
</file>

<file path=ppt/tags/tag138.xml><?xml version="1.0" encoding="utf-8"?>
<p:tagLst xmlns:p="http://schemas.openxmlformats.org/presentationml/2006/main">
  <p:tag name="KSO_WM_DIAGRAM_VIRTUALLY_FRAME" val="{&quot;height&quot;:359.6,&quot;left&quot;:142.9,&quot;top&quot;:134.05,&quot;width&quot;:745.35}"/>
</p:tagLst>
</file>

<file path=ppt/tags/tag139.xml><?xml version="1.0" encoding="utf-8"?>
<p:tagLst xmlns:p="http://schemas.openxmlformats.org/presentationml/2006/main">
  <p:tag name="KSO_WM_DIAGRAM_VIRTUALLY_FRAME" val="{&quot;height&quot;:359.6,&quot;left&quot;:142.9,&quot;top&quot;:134.05,&quot;width&quot;:745.35}"/>
</p:tagLst>
</file>

<file path=ppt/tags/tag140.xml><?xml version="1.0" encoding="utf-8"?>
<p:tagLst xmlns:p="http://schemas.openxmlformats.org/presentationml/2006/main">
  <p:tag name="KSO_WM_DIAGRAM_VIRTUALLY_FRAME" val="{&quot;height&quot;:359.6,&quot;left&quot;:142.9,&quot;top&quot;:134.05,&quot;width&quot;:745.35}"/>
</p:tagLst>
</file>

<file path=ppt/tags/tag141.xml><?xml version="1.0" encoding="utf-8"?>
<p:tagLst xmlns:p="http://schemas.openxmlformats.org/presentationml/2006/main">
  <p:tag name="KSO_WM_DIAGRAM_VIRTUALLY_FRAME" val="{&quot;height&quot;:359.6,&quot;left&quot;:142.9,&quot;top&quot;:134.05,&quot;width&quot;:745.35}"/>
</p:tagLst>
</file>

<file path=ppt/tags/tag142.xml><?xml version="1.0" encoding="utf-8"?>
<p:tagLst xmlns:p="http://schemas.openxmlformats.org/presentationml/2006/main">
  <p:tag name="KSO_WM_DIAGRAM_VIRTUALLY_FRAME" val="{&quot;height&quot;:359.6,&quot;left&quot;:142.9,&quot;top&quot;:134.05,&quot;width&quot;:745.35}"/>
</p:tagLst>
</file>

<file path=ppt/tags/tag143.xml><?xml version="1.0" encoding="utf-8"?>
<p:tagLst xmlns:p="http://schemas.openxmlformats.org/presentationml/2006/main">
  <p:tag name="KSO_WM_DIAGRAM_VIRTUALLY_FRAME" val="{&quot;height&quot;:359.6,&quot;left&quot;:142.9,&quot;top&quot;:134.05,&quot;width&quot;:745.35}"/>
</p:tagLst>
</file>

<file path=ppt/tags/tag144.xml><?xml version="1.0" encoding="utf-8"?>
<p:tagLst xmlns:p="http://schemas.openxmlformats.org/presentationml/2006/main">
  <p:tag name="KSO_WM_DIAGRAM_VIRTUALLY_FRAME" val="{&quot;height&quot;:359.6,&quot;left&quot;:142.9,&quot;top&quot;:134.05,&quot;width&quot;:745.35}"/>
</p:tagLst>
</file>

<file path=ppt/tags/tag145.xml><?xml version="1.0" encoding="utf-8"?>
<p:tagLst xmlns:p="http://schemas.openxmlformats.org/presentationml/2006/main">
  <p:tag name="KSO_WM_DIAGRAM_VIRTUALLY_FRAME" val="{&quot;height&quot;:359.6,&quot;left&quot;:142.9,&quot;top&quot;:134.05,&quot;width&quot;:745.35}"/>
</p:tagLst>
</file>

<file path=ppt/tags/tag146.xml><?xml version="1.0" encoding="utf-8"?>
<p:tagLst xmlns:p="http://schemas.openxmlformats.org/presentationml/2006/main">
  <p:tag name="KSO_WM_DIAGRAM_VIRTUALLY_FRAME" val="{&quot;height&quot;:359.6,&quot;left&quot;:142.9,&quot;top&quot;:134.05,&quot;width&quot;:745.35}"/>
</p:tagLst>
</file>

<file path=ppt/tags/tag147.xml><?xml version="1.0" encoding="utf-8"?>
<p:tagLst xmlns:p="http://schemas.openxmlformats.org/presentationml/2006/main">
  <p:tag name="KSO_WM_DIAGRAM_VIRTUALLY_FRAME" val="{&quot;height&quot;:359.6,&quot;left&quot;:142.9,&quot;top&quot;:134.05,&quot;width&quot;:745.35}"/>
</p:tagLst>
</file>

<file path=ppt/tags/tag148.xml><?xml version="1.0" encoding="utf-8"?>
<p:tagLst xmlns:p="http://schemas.openxmlformats.org/presentationml/2006/main">
  <p:tag name="KSO_WM_DIAGRAM_VIRTUALLY_FRAME" val="{&quot;height&quot;:359.6,&quot;left&quot;:142.9,&quot;top&quot;:134.05,&quot;width&quot;:745.35}"/>
</p:tagLst>
</file>

<file path=ppt/tags/tag149.xml><?xml version="1.0" encoding="utf-8"?>
<p:tagLst xmlns:p="http://schemas.openxmlformats.org/presentationml/2006/main">
  <p:tag name="resource_record_key" val="{&quot;29&quot;:[50000086,50053044],&quot;70&quot;:[3325112,3314267,3322133,3429185,3322471,3319356,3332794,3323815,3312415,3428049,3321484]}"/>
</p:tagLst>
</file>

<file path=ppt/theme/theme1.xml><?xml version="1.0" encoding="utf-8"?>
<a:theme xmlns:a="http://schemas.openxmlformats.org/drawingml/2006/main" name="主题5">
  <a:themeElements>
    <a:clrScheme name="主题5">
      <a:dk1>
        <a:srgbClr val="000000"/>
      </a:dk1>
      <a:lt1>
        <a:srgbClr val="FFFFFF"/>
      </a:lt1>
      <a:dk2>
        <a:srgbClr val="768395"/>
      </a:dk2>
      <a:lt2>
        <a:srgbClr val="F0F0F0"/>
      </a:lt2>
      <a:accent1>
        <a:srgbClr val="4E2C7E"/>
      </a:accent1>
      <a:accent2>
        <a:srgbClr val="894590"/>
      </a:accent2>
      <a:accent3>
        <a:srgbClr val="E12C35"/>
      </a:accent3>
      <a:accent4>
        <a:srgbClr val="F2AD48"/>
      </a:accent4>
      <a:accent5>
        <a:srgbClr val="9A9A9A"/>
      </a:accent5>
      <a:accent6>
        <a:srgbClr val="C5C5C5"/>
      </a:accent6>
      <a:hlink>
        <a:srgbClr val="4472C4"/>
      </a:hlink>
      <a:folHlink>
        <a:srgbClr val="BFBFBF"/>
      </a:folHlink>
    </a:clrScheme>
    <a:fontScheme name="主题5">
      <a:majorFont>
        <a:latin typeface=""/>
        <a:ea typeface=""/>
        <a:cs typeface=""/>
      </a:majorFont>
      <a:minorFont>
        <a:latin typeface=""/>
        <a:ea typeface=""/>
        <a:cs typeface=""/>
      </a:minorFont>
    </a:fontScheme>
    <a:fmtScheme name="主题5">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5">
  <a:themeElements>
    <a:clrScheme name="">
      <a:dk1>
        <a:srgbClr val="000000"/>
      </a:dk1>
      <a:lt1>
        <a:srgbClr val="FFFFFF"/>
      </a:lt1>
      <a:dk2>
        <a:srgbClr val="051F41"/>
      </a:dk2>
      <a:lt2>
        <a:srgbClr val="F3F8FE"/>
      </a:lt2>
      <a:accent1>
        <a:srgbClr val="0C4DA2"/>
      </a:accent1>
      <a:accent2>
        <a:srgbClr val="2965B3"/>
      </a:accent2>
      <a:accent3>
        <a:srgbClr val="477DC4"/>
      </a:accent3>
      <a:accent4>
        <a:srgbClr val="6495D5"/>
      </a:accent4>
      <a:accent5>
        <a:srgbClr val="82ADE6"/>
      </a:accent5>
      <a:accent6>
        <a:srgbClr val="A0C6F8"/>
      </a:accent6>
      <a:hlink>
        <a:srgbClr val="0026E5"/>
      </a:hlink>
      <a:folHlink>
        <a:srgbClr val="7E1FAD"/>
      </a:folHlink>
    </a:clrScheme>
    <a:fontScheme name="主题5">
      <a:majorFont>
        <a:latin typeface=""/>
        <a:ea typeface=""/>
        <a:cs typeface=""/>
      </a:majorFont>
      <a:minorFont>
        <a:latin typeface=""/>
        <a:ea typeface=""/>
        <a:cs typeface=""/>
      </a:minorFont>
    </a:fontScheme>
    <a:fmtScheme name="主题5">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6938</Words>
  <Application>WPS 演示</Application>
  <PresentationFormat/>
  <Paragraphs>1286</Paragraphs>
  <Slides>21</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21</vt:i4>
      </vt:variant>
    </vt:vector>
  </HeadingPairs>
  <TitlesOfParts>
    <vt:vector size="41" baseType="lpstr">
      <vt:lpstr>Arial</vt:lpstr>
      <vt:lpstr>宋体</vt:lpstr>
      <vt:lpstr>Wingdings</vt:lpstr>
      <vt:lpstr>Droid Sans</vt:lpstr>
      <vt:lpstr>InSightSymbols</vt:lpstr>
      <vt:lpstr>微软雅黑</vt:lpstr>
      <vt:lpstr>Calibri</vt:lpstr>
      <vt:lpstr>Kozuka Gothic Pro M</vt:lpstr>
      <vt:lpstr>Yu Gothic UI Semibold</vt:lpstr>
      <vt:lpstr>Lucida Sans</vt:lpstr>
      <vt:lpstr>微软雅黑 Light</vt:lpstr>
      <vt:lpstr>Segoe UI Light</vt:lpstr>
      <vt:lpstr>Wingdings</vt:lpstr>
      <vt:lpstr>Alibaba PuHuiTi</vt:lpstr>
      <vt:lpstr>Arial Unicode MS</vt:lpstr>
      <vt:lpstr>+中文标题</vt:lpstr>
      <vt:lpstr>Arial</vt:lpstr>
      <vt:lpstr>-apple-system</vt:lpstr>
      <vt:lpstr>主题5</vt:lpstr>
      <vt:lpstr>1_主题5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1</cp:lastModifiedBy>
  <cp:revision>275</cp:revision>
  <cp:lastPrinted>2025-11-16T07:16:00Z</cp:lastPrinted>
  <dcterms:created xsi:type="dcterms:W3CDTF">2025-11-16T07:16:00Z</dcterms:created>
  <dcterms:modified xsi:type="dcterms:W3CDTF">2025-11-16T16:04:57Z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2052-12.1.0.23542</vt:lpwstr>
  </property>
  <property fmtid="{D5CDD505-2E9C-101B-9397-08002B2CF9AE}" pid="4" name="ICV">
    <vt:lpwstr>223C8599A898499EB157431E6AE42112_13</vt:lpwstr>
  </property>
</Properties>
</file>